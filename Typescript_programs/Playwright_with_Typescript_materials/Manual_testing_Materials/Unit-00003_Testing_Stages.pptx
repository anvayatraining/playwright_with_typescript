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9" d="100"/>
          <a:sy n="89" d="100"/>
        </p:scale>
        <p:origin x="437" y="-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9450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0B7A7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457200"/>
            <a:ext cx="2834640" cy="2834640"/>
          </a:xfrm>
          <a:prstGeom prst="ellipse">
            <a:avLst/>
          </a:prstGeom>
          <a:solidFill>
            <a:srgbClr val="35C48F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572000"/>
            <a:ext cx="3657600" cy="3657600"/>
          </a:xfrm>
          <a:prstGeom prst="ellipse">
            <a:avLst/>
          </a:prstGeom>
          <a:solidFill>
            <a:srgbClr val="0B7A75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1732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0B7A7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— UNIT III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Stages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35C4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(or) Phases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21792" y="38862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testing flows across every stage of Agile Scrum &amp; DevOps development — from the first document to production release and beyond.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" y="5074920"/>
            <a:ext cx="1473490" cy="777240"/>
          </a:xfrm>
          <a:prstGeom prst="roundRect">
            <a:avLst>
              <a:gd name="adj" fmla="val 7059"/>
            </a:avLst>
          </a:prstGeom>
          <a:solidFill>
            <a:srgbClr val="1F2E4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5129784"/>
            <a:ext cx="147349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5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" y="5385816"/>
            <a:ext cx="138205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05010" y="5074920"/>
            <a:ext cx="1473490" cy="777240"/>
          </a:xfrm>
          <a:prstGeom prst="roundRect">
            <a:avLst>
              <a:gd name="adj" fmla="val 7059"/>
            </a:avLst>
          </a:prstGeom>
          <a:solidFill>
            <a:srgbClr val="1F2E4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05010" y="5129784"/>
            <a:ext cx="147349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5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50730" y="5385816"/>
            <a:ext cx="138205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88229" y="5074920"/>
            <a:ext cx="1473490" cy="777240"/>
          </a:xfrm>
          <a:prstGeom prst="roundRect">
            <a:avLst>
              <a:gd name="adj" fmla="val 7059"/>
            </a:avLst>
          </a:prstGeom>
          <a:solidFill>
            <a:srgbClr val="1F2E4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88229" y="5129784"/>
            <a:ext cx="147349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5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33949" y="5385816"/>
            <a:ext cx="138205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71447" y="5074920"/>
            <a:ext cx="1473490" cy="777240"/>
          </a:xfrm>
          <a:prstGeom prst="roundRect">
            <a:avLst>
              <a:gd name="adj" fmla="val 7059"/>
            </a:avLst>
          </a:prstGeom>
          <a:solidFill>
            <a:srgbClr val="1F2E4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1447" y="5129784"/>
            <a:ext cx="147349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5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17167" y="5385816"/>
            <a:ext cx="138205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Sprint/S⁄W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54665" y="5074920"/>
            <a:ext cx="1473490" cy="777240"/>
          </a:xfrm>
          <a:prstGeom prst="roundRect">
            <a:avLst>
              <a:gd name="adj" fmla="val 7059"/>
            </a:avLst>
          </a:prstGeom>
          <a:solidFill>
            <a:srgbClr val="1F2E4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54665" y="5129784"/>
            <a:ext cx="147349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5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00385" y="5385816"/>
            <a:ext cx="138205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37883" y="5074920"/>
            <a:ext cx="1473490" cy="777240"/>
          </a:xfrm>
          <a:prstGeom prst="roundRect">
            <a:avLst>
              <a:gd name="adj" fmla="val 7059"/>
            </a:avLst>
          </a:prstGeom>
          <a:solidFill>
            <a:srgbClr val="1F2E4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37883" y="5129784"/>
            <a:ext cx="147349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5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83603" y="5385816"/>
            <a:ext cx="138205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121102" y="5074920"/>
            <a:ext cx="1473490" cy="777240"/>
          </a:xfrm>
          <a:prstGeom prst="roundRect">
            <a:avLst>
              <a:gd name="adj" fmla="val 7059"/>
            </a:avLst>
          </a:prstGeom>
          <a:solidFill>
            <a:srgbClr val="1F2E4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21102" y="5129784"/>
            <a:ext cx="147349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5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166822" y="5385816"/>
            <a:ext cx="138205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Across the SDLC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DD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r>
              <a:rPr lang="en-US" sz="14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Scrum &amp; DevOps </a:t>
            </a: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models, testing does not happen once at the end — it comes in </a:t>
            </a: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stages</a:t>
            </a: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development.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69494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" y="2112264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2112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039112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Testing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303520" y="2130552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21305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(static)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69494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" y="2679192"/>
            <a:ext cx="365760" cy="365760"/>
          </a:xfrm>
          <a:prstGeom prst="ellipse">
            <a:avLst/>
          </a:prstGeom>
          <a:solidFill>
            <a:srgbClr val="0B7A75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" y="2679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2606040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303520" y="269748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E8F6F0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269748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(dynamic)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191256"/>
            <a:ext cx="69494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" y="3246120"/>
            <a:ext cx="365760" cy="365760"/>
          </a:xfrm>
          <a:prstGeom prst="ellipse">
            <a:avLst/>
          </a:prstGeom>
          <a:solidFill>
            <a:srgbClr val="0B7A75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3172968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303520" y="3264408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E8F6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326440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(dynamic)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758184"/>
            <a:ext cx="69494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" y="3813048"/>
            <a:ext cx="365760" cy="365760"/>
          </a:xfrm>
          <a:prstGeom prst="ellipse">
            <a:avLst/>
          </a:prstGeom>
          <a:solidFill>
            <a:srgbClr val="0B7A75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" y="3813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97280" y="3739896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/ Software Testing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303520" y="3831336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E8F6F0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0" y="383133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(dynamic)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4325112"/>
            <a:ext cx="69494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" y="4379976"/>
            <a:ext cx="365760" cy="365760"/>
          </a:xfrm>
          <a:prstGeom prst="ellipse">
            <a:avLst/>
          </a:prstGeom>
          <a:solidFill>
            <a:srgbClr val="0B7A75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" y="43799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97280" y="4306824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Testing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303520" y="4398264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E8F6F0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0" y="439826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(dynamic)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2920" y="4892040"/>
            <a:ext cx="69494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" y="4946904"/>
            <a:ext cx="365760" cy="365760"/>
          </a:xfrm>
          <a:prstGeom prst="ellipse">
            <a:avLst/>
          </a:prstGeom>
          <a:solidFill>
            <a:srgbClr val="0B7A75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" y="4946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97280" y="4873752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/ Port Testing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5303520" y="4965192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E8F6F0"/>
          </a:solidFill>
          <a:ln/>
        </p:spPr>
      </p:sp>
      <p:sp>
        <p:nvSpPr>
          <p:cNvPr id="41" name="Text 39"/>
          <p:cNvSpPr/>
          <p:nvPr/>
        </p:nvSpPr>
        <p:spPr>
          <a:xfrm>
            <a:off x="5303520" y="496519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(dynamic)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" y="5458968"/>
            <a:ext cx="69494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2648" y="5513832"/>
            <a:ext cx="365760" cy="365760"/>
          </a:xfrm>
          <a:prstGeom prst="ellipse">
            <a:avLst/>
          </a:prstGeom>
          <a:solidFill>
            <a:srgbClr val="0B7A75"/>
          </a:solidFill>
          <a:ln/>
        </p:spPr>
      </p:sp>
      <p:sp>
        <p:nvSpPr>
          <p:cNvPr id="44" name="Text 42"/>
          <p:cNvSpPr/>
          <p:nvPr/>
        </p:nvSpPr>
        <p:spPr>
          <a:xfrm>
            <a:off x="612648" y="5513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097280" y="5440680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 Maintenance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5303520" y="55321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E8F6F0"/>
          </a:solidFill>
          <a:ln/>
        </p:spPr>
      </p:sp>
      <p:sp>
        <p:nvSpPr>
          <p:cNvPr id="47" name="Text 45"/>
          <p:cNvSpPr/>
          <p:nvPr/>
        </p:nvSpPr>
        <p:spPr>
          <a:xfrm>
            <a:off x="5303520" y="55321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(dynamic)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772400" y="2057400"/>
            <a:ext cx="3931920" cy="3749040"/>
          </a:xfrm>
          <a:prstGeom prst="roundRect">
            <a:avLst>
              <a:gd name="adj" fmla="val 1951"/>
            </a:avLst>
          </a:prstGeom>
          <a:solidFill>
            <a:srgbClr val="16233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046720" y="2240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5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Loop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046720" y="25786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2–7 repeat every sprint: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046720" y="2999232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1F2E4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83880" y="2999232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046720" y="35661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5C48F"/>
                </a:solidFill>
              </a:rPr>
              <a:t>↓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046720" y="3767328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1F2E4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83880" y="376732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Testing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046720" y="433425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5C48F"/>
                </a:solidFill>
              </a:rPr>
              <a:t>↓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8046720" y="4535424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1F2E4D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83880" y="4535424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Delivery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046720" y="5349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 + CT + CD)  →  leads into the next sprint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vs.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DD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5448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5448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0B7A7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544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Documents Testing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Static Testing 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documents / artefacts — without executing any program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Checks: “Are we building the product, right?”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PBL, SBL, HLD, LLD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using Walkthrough, Inspection, Peer Review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55448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16233F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5544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2–7 — Unit to Maintenance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63640" y="233172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63640" y="2743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Dynamic Testing 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75120" y="32461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Actually, executing the program / sprint build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Checks: “Are we building the right product?”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code, integrated modules, the running sprint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Unit → Integration → Sprint → Acceptance → Release → Maintenance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VERIFICATION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DD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any SDLC process, the first testing stage is documents testing.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0B7A7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20848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(PBL)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prepares the PBL with ALL user stories (requirements &amp; expectations)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 reviews the PBL for completeness and correctness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87452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2103120"/>
            <a:ext cx="457200" cy="457200"/>
          </a:xfrm>
          <a:prstGeom prst="ellipse">
            <a:avLst/>
          </a:prstGeom>
          <a:solidFill>
            <a:srgbClr val="35C48F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0" y="20848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Backlog (SBL)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26060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sprint cycle, PO selects SOME user stories from PBL into the SBL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 reviews the SBL for completeness and correctness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89320" y="2926080"/>
            <a:ext cx="182880" cy="0"/>
          </a:xfrm>
          <a:prstGeom prst="line">
            <a:avLst/>
          </a:prstGeom>
          <a:noFill/>
          <a:ln w="25400">
            <a:solidFill>
              <a:srgbClr val="0B7A7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2920" y="4297680"/>
            <a:ext cx="11155680" cy="1554480"/>
          </a:xfrm>
          <a:prstGeom prst="roundRect">
            <a:avLst>
              <a:gd name="adj" fmla="val 4706"/>
            </a:avLst>
          </a:prstGeom>
          <a:solidFill>
            <a:srgbClr val="16233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developers in ST prepare HLD &amp; LLD for the corresponding sprint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250" dirty="0">
                <a:solidFill>
                  <a:srgbClr val="CB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HLD (High-Level Design) — overall notification / architecture of the sprint      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LLD (Low-Level Design) — module-level detailed logic for the corresponding module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DOCUMENTS TESTING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HLD &amp; LLD — Worked Example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DD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0876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373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B7A7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HLD OF SPRINT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overall notification architecture of the sprint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278892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16233F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2788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0" y="3291840"/>
            <a:ext cx="0" cy="320040"/>
          </a:xfrm>
          <a:prstGeom prst="line">
            <a:avLst/>
          </a:prstGeom>
          <a:noFill/>
          <a:ln w="25400">
            <a:solidFill>
              <a:srgbClr val="0B7A7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011680" y="36118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35C48F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3611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transfer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0" y="4114800"/>
            <a:ext cx="0" cy="320040"/>
          </a:xfrm>
          <a:prstGeom prst="line">
            <a:avLst/>
          </a:prstGeom>
          <a:noFill/>
          <a:ln w="25400">
            <a:solidFill>
              <a:srgbClr val="0B7A7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011680" y="443484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16233F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4434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52578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sprint design has ONE HLD and MULTIPLE LLDs.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50876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173736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35C48F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7373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LLD OF LOGIN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46520" y="2148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Module-level detail logic for the corresponding module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95360" y="2697480"/>
            <a:ext cx="502920" cy="50292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23" name="Text 21"/>
          <p:cNvSpPr/>
          <p:nvPr/>
        </p:nvSpPr>
        <p:spPr>
          <a:xfrm>
            <a:off x="859536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842248" y="3200400"/>
            <a:ext cx="0" cy="32004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9052560" y="32461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custid &amp; pwd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18120" y="3566160"/>
            <a:ext cx="2103120" cy="502920"/>
          </a:xfrm>
          <a:prstGeom prst="roundRect">
            <a:avLst>
              <a:gd name="adj" fmla="val 50909"/>
            </a:avLst>
          </a:prstGeom>
          <a:solidFill>
            <a:srgbClr val="0B7A75"/>
          </a:solidFill>
          <a:ln/>
        </p:spPr>
      </p:sp>
      <p:sp>
        <p:nvSpPr>
          <p:cNvPr id="27" name="Text 25"/>
          <p:cNvSpPr/>
          <p:nvPr/>
        </p:nvSpPr>
        <p:spPr>
          <a:xfrm>
            <a:off x="7818120" y="35661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921240" y="3813048"/>
            <a:ext cx="502920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469880" y="3584448"/>
            <a:ext cx="822960" cy="457200"/>
          </a:xfrm>
          <a:prstGeom prst="rect">
            <a:avLst/>
          </a:prstGeom>
          <a:solidFill>
            <a:srgbClr val="E8F6F0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69880" y="35844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869680" y="4069080"/>
            <a:ext cx="0" cy="365760"/>
          </a:xfrm>
          <a:prstGeom prst="line">
            <a:avLst/>
          </a:prstGeom>
          <a:noFill/>
          <a:ln w="19050">
            <a:solidFill>
              <a:srgbClr val="35C48F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9144000" y="4160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5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18120" y="448056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E8F6F0"/>
          </a:solidFill>
          <a:ln w="12700">
            <a:solidFill>
              <a:srgbClr val="35C4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4480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page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772400" y="3813048"/>
            <a:ext cx="0" cy="0"/>
          </a:xfrm>
          <a:prstGeom prst="line">
            <a:avLst/>
          </a:prstGeom>
          <a:noFill/>
          <a:ln w="1905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6903720" y="354787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46520" y="3794760"/>
            <a:ext cx="1325880" cy="777240"/>
          </a:xfrm>
          <a:prstGeom prst="roundRect">
            <a:avLst>
              <a:gd name="adj" fmla="val 7059"/>
            </a:avLst>
          </a:prstGeom>
          <a:solidFill>
            <a:srgbClr val="FDECEA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379476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msg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msg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DOCUMENTS TESTING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Who Prepares, Who Reviews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DDE5E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171907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Prepared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Reviewed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Techniques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Walkthrough, Inspection, Peer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Walkthrough, Inspection, Peer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HLDs &amp; LLDs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Developers in 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Developers in 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Walkthrough, Inspection, Peer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383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Techniques  /  Verification Techniques  /  Static Testing Techniques</a:t>
            </a:r>
            <a:endParaRPr lang="en-US" sz="1400" dirty="0"/>
          </a:p>
        </p:txBody>
      </p:sp>
      <p:sp>
        <p:nvSpPr>
          <p:cNvPr id="5" name="Shape 4"/>
          <p:cNvSpPr/>
          <p:nvPr/>
        </p:nvSpPr>
        <p:spPr>
          <a:xfrm>
            <a:off x="502920" y="3886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920240" y="4114800"/>
            <a:ext cx="731520" cy="731520"/>
          </a:xfrm>
          <a:prstGeom prst="ellipse">
            <a:avLst/>
          </a:prstGeom>
          <a:solidFill>
            <a:srgbClr val="0B7A75"/>
          </a:solidFill>
          <a:ln/>
        </p:spPr>
      </p:sp>
      <p:sp>
        <p:nvSpPr>
          <p:cNvPr id="9" name="Text 6"/>
          <p:cNvSpPr/>
          <p:nvPr/>
        </p:nvSpPr>
        <p:spPr>
          <a:xfrm>
            <a:off x="1920240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85800" y="4983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5349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 document from first to last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97680" y="3886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15000" y="4114800"/>
            <a:ext cx="731520" cy="731520"/>
          </a:xfrm>
          <a:prstGeom prst="ellipse">
            <a:avLst/>
          </a:prstGeom>
          <a:solidFill>
            <a:srgbClr val="35C48F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0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480560" y="4983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572000" y="5349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specific topics in the document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092440" y="3886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509760" y="411480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6"/>
          <p:cNvSpPr/>
          <p:nvPr/>
        </p:nvSpPr>
        <p:spPr>
          <a:xfrm>
            <a:off x="9509760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275320" y="4983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366760" y="5349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similar documents, point to point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 (Component Testing)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DD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documents are </a:t>
            </a: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baselined</a:t>
            </a: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scrum team developers start coding. The same developers test their programs using </a:t>
            </a:r>
            <a:r>
              <a:rPr lang="en-US" sz="14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White-Box Testing Techniques.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0B7A7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103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White-box / Glass-box / Open-box / Clean-box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843784"/>
            <a:ext cx="548640" cy="548640"/>
          </a:xfrm>
          <a:prstGeom prst="ellipse">
            <a:avLst/>
          </a:prstGeom>
          <a:solidFill>
            <a:srgbClr val="0B7A7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437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2770632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Paths Coverage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770632"/>
            <a:ext cx="6537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the program runs without run-time errors, using flow graphs &amp; cyclomatic complexity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685032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831336"/>
            <a:ext cx="548640" cy="548640"/>
          </a:xfrm>
          <a:prstGeom prst="ellipse">
            <a:avLst/>
          </a:prstGeom>
          <a:solidFill>
            <a:srgbClr val="35C48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31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08760" y="3758184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Structure Coverage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758184"/>
            <a:ext cx="6537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program in terms of inputs &amp; outputs — also called debugging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672584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818888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818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08760" y="4745736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Technique Coverage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4745736"/>
            <a:ext cx="6537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execution speed; optimise without disturbing functionality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5660136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580644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806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508760" y="5733288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Coverage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5733288"/>
            <a:ext cx="6537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completeness of test coverage on the program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2(A) · UNIT TESTING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Paths Coverage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DD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developers use this technique to ensure the program runs without any run-time error.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→ Flow Graph → Cyclomatic Complexity (no. of paths) → Run N times to cover all regions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3611880" cy="38862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4231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(single condition)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308860" y="3383280"/>
            <a:ext cx="0" cy="548640"/>
          </a:xfrm>
          <a:prstGeom prst="line">
            <a:avLst/>
          </a:prstGeom>
          <a:noFill/>
          <a:ln w="19050">
            <a:solidFill>
              <a:srgbClr val="1623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08860" y="3383280"/>
            <a:ext cx="502920" cy="548640"/>
          </a:xfrm>
          <a:prstGeom prst="line">
            <a:avLst/>
          </a:prstGeom>
          <a:noFill/>
          <a:ln w="19050">
            <a:solidFill>
              <a:srgbClr val="1623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05940" y="3931920"/>
            <a:ext cx="1005840" cy="0"/>
          </a:xfrm>
          <a:prstGeom prst="line">
            <a:avLst/>
          </a:prstGeom>
          <a:noFill/>
          <a:ln w="19050">
            <a:solidFill>
              <a:srgbClr val="16233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08860" y="3108960"/>
            <a:ext cx="0" cy="274320"/>
          </a:xfrm>
          <a:prstGeom prst="line">
            <a:avLst/>
          </a:prstGeom>
          <a:noFill/>
          <a:ln w="19050">
            <a:solidFill>
              <a:srgbClr val="1623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08860" y="3931920"/>
            <a:ext cx="0" cy="274320"/>
          </a:xfrm>
          <a:prstGeom prst="line">
            <a:avLst/>
          </a:prstGeom>
          <a:noFill/>
          <a:ln w="19050">
            <a:solidFill>
              <a:srgbClr val="16233F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623060" y="32461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5C48F"/>
                </a:solidFill>
              </a:rPr>
              <a:t>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66060" y="32461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4572E"/>
                </a:solidFill>
              </a:rPr>
              <a:t>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85900" y="443484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16233F"/>
          </a:solidFill>
          <a:ln/>
        </p:spPr>
      </p:sp>
      <p:sp>
        <p:nvSpPr>
          <p:cNvPr id="18" name="Text 16"/>
          <p:cNvSpPr/>
          <p:nvPr/>
        </p:nvSpPr>
        <p:spPr>
          <a:xfrm>
            <a:off x="1485900" y="44348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=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50292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program 2 times to cover all regions.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2286000"/>
            <a:ext cx="3611880" cy="38862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80560" y="24231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26974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(nested condition)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03620" y="3383280"/>
            <a:ext cx="0" cy="548640"/>
          </a:xfrm>
          <a:prstGeom prst="line">
            <a:avLst/>
          </a:prstGeom>
          <a:noFill/>
          <a:ln w="19050">
            <a:solidFill>
              <a:srgbClr val="16233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03620" y="3383280"/>
            <a:ext cx="502920" cy="548640"/>
          </a:xfrm>
          <a:prstGeom prst="line">
            <a:avLst/>
          </a:prstGeom>
          <a:noFill/>
          <a:ln w="19050">
            <a:solidFill>
              <a:srgbClr val="16233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00700" y="3931920"/>
            <a:ext cx="1005840" cy="0"/>
          </a:xfrm>
          <a:prstGeom prst="line">
            <a:avLst/>
          </a:prstGeom>
          <a:noFill/>
          <a:ln w="19050">
            <a:solidFill>
              <a:srgbClr val="16233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03620" y="3108960"/>
            <a:ext cx="0" cy="274320"/>
          </a:xfrm>
          <a:prstGeom prst="line">
            <a:avLst/>
          </a:prstGeom>
          <a:noFill/>
          <a:ln w="19050">
            <a:solidFill>
              <a:srgbClr val="16233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03620" y="3931920"/>
            <a:ext cx="0" cy="274320"/>
          </a:xfrm>
          <a:prstGeom prst="line">
            <a:avLst/>
          </a:prstGeom>
          <a:noFill/>
          <a:ln w="19050">
            <a:solidFill>
              <a:srgbClr val="16233F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417820" y="32461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5C48F"/>
                </a:solidFill>
              </a:rPr>
              <a:t>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60820" y="32461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4572E"/>
                </a:solidFill>
              </a:rPr>
              <a:t>F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80660" y="443484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16233F"/>
          </a:solidFill>
          <a:ln/>
        </p:spPr>
      </p:sp>
      <p:sp>
        <p:nvSpPr>
          <p:cNvPr id="31" name="Text 29"/>
          <p:cNvSpPr/>
          <p:nvPr/>
        </p:nvSpPr>
        <p:spPr>
          <a:xfrm>
            <a:off x="5280660" y="44348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= 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26280" y="50292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program 2 times to cover all regions.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092440" y="2286000"/>
            <a:ext cx="3611880" cy="38862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75320" y="24231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75320" y="26974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(if–else + nested if–else)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898380" y="3383280"/>
            <a:ext cx="0" cy="548640"/>
          </a:xfrm>
          <a:prstGeom prst="line">
            <a:avLst/>
          </a:prstGeom>
          <a:noFill/>
          <a:ln w="19050">
            <a:solidFill>
              <a:srgbClr val="16233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98380" y="3383280"/>
            <a:ext cx="502920" cy="548640"/>
          </a:xfrm>
          <a:prstGeom prst="line">
            <a:avLst/>
          </a:prstGeom>
          <a:noFill/>
          <a:ln w="19050">
            <a:solidFill>
              <a:srgbClr val="16233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95460" y="3931920"/>
            <a:ext cx="1005840" cy="0"/>
          </a:xfrm>
          <a:prstGeom prst="line">
            <a:avLst/>
          </a:prstGeom>
          <a:noFill/>
          <a:ln w="19050">
            <a:solidFill>
              <a:srgbClr val="16233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98380" y="3108960"/>
            <a:ext cx="0" cy="274320"/>
          </a:xfrm>
          <a:prstGeom prst="line">
            <a:avLst/>
          </a:prstGeom>
          <a:noFill/>
          <a:ln w="19050">
            <a:solidFill>
              <a:srgbClr val="16233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98380" y="3931920"/>
            <a:ext cx="0" cy="274320"/>
          </a:xfrm>
          <a:prstGeom prst="line">
            <a:avLst/>
          </a:prstGeom>
          <a:noFill/>
          <a:ln w="19050">
            <a:solidFill>
              <a:srgbClr val="16233F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9212580" y="32461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5C48F"/>
                </a:solidFill>
              </a:rPr>
              <a:t>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355580" y="32461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4572E"/>
                </a:solidFill>
              </a:rPr>
              <a:t>F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075420" y="443484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16233F"/>
          </a:solidFill>
          <a:ln/>
        </p:spPr>
      </p:sp>
      <p:sp>
        <p:nvSpPr>
          <p:cNvPr id="44" name="Text 42"/>
          <p:cNvSpPr/>
          <p:nvPr/>
        </p:nvSpPr>
        <p:spPr>
          <a:xfrm>
            <a:off x="9075420" y="44348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= 3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321040" y="50292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program 3 times to cover all regions.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2(B)(C) · UNIT TESTING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Structure &amp; Program Technique Coverage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DD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6304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9164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35C48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CONTROL STRUCTURE COVERAGE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program runs without run-time errors, developers check it in terms of inputs &amp; outputs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Debugging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program statement-by-statement and watch the correctness of output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4297680"/>
            <a:ext cx="1828800" cy="320040"/>
          </a:xfrm>
          <a:prstGeom prst="roundRect">
            <a:avLst>
              <a:gd name="adj" fmla="val 50000"/>
            </a:avLst>
          </a:prstGeom>
          <a:solidFill>
            <a:srgbClr val="DDE5E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Statement coverage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0" y="4297680"/>
            <a:ext cx="1828800" cy="320040"/>
          </a:xfrm>
          <a:prstGeom prst="roundRect">
            <a:avLst>
              <a:gd name="adj" fmla="val 50000"/>
            </a:avLst>
          </a:prstGeom>
          <a:solidFill>
            <a:srgbClr val="DDE5E8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Branch coverage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146304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1691640"/>
            <a:ext cx="3200400" cy="347472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6916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PROGRAM TECHNIQUE COVERAGE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219456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program works correctly, developers calculate its execution speed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execution is slow, performs changes without disturbing functionality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33375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Swapping two numbers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46520" y="3611880"/>
            <a:ext cx="2377440" cy="1965960"/>
          </a:xfrm>
          <a:prstGeom prst="roundRect">
            <a:avLst>
              <a:gd name="adj" fmla="val 2791"/>
            </a:avLst>
          </a:prstGeom>
          <a:solidFill>
            <a:srgbClr val="F0F5F6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685032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20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z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→ 20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→ 10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06840" y="3611880"/>
            <a:ext cx="2377440" cy="1965960"/>
          </a:xfrm>
          <a:prstGeom prst="roundRect">
            <a:avLst>
              <a:gd name="adj" fmla="val 2791"/>
            </a:avLst>
          </a:prstGeom>
          <a:solidFill>
            <a:srgbClr val="F0F5F6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3685032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20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 + 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x - 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 - y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→ 20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→ 10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46520" y="5669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less time,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extra memory (z)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006840" y="5669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more time,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memory needed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2(D) · UNIT TESTING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Mutation Coverage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DD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developers use this technique to check the completeness of test coverage on the program.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057400"/>
            <a:ext cx="3246120" cy="320040"/>
          </a:xfrm>
          <a:prstGeom prst="roundRect">
            <a:avLst>
              <a:gd name="adj" fmla="val 50000"/>
            </a:avLst>
          </a:prstGeom>
          <a:solidFill>
            <a:srgbClr val="16233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574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Tests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05940" y="2514600"/>
            <a:ext cx="1005840" cy="594360"/>
          </a:xfrm>
          <a:prstGeom prst="rect">
            <a:avLst/>
          </a:prstGeom>
          <a:solidFill>
            <a:srgbClr val="F0F5F6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5940" y="251460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8"/>
                </a:solidFill>
              </a:rPr>
              <a:t>≡≡≡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program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623060" y="35661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8F6F0"/>
          </a:solidFill>
          <a:ln/>
        </p:spPr>
      </p:sp>
      <p:sp>
        <p:nvSpPr>
          <p:cNvPr id="13" name="Text 11"/>
          <p:cNvSpPr/>
          <p:nvPr/>
        </p:nvSpPr>
        <p:spPr>
          <a:xfrm>
            <a:off x="162306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5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0233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192024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0" y="2057400"/>
            <a:ext cx="3246120" cy="320040"/>
          </a:xfrm>
          <a:prstGeom prst="roundRect">
            <a:avLst>
              <a:gd name="adj" fmla="val 50000"/>
            </a:avLst>
          </a:prstGeom>
          <a:solidFill>
            <a:srgbClr val="16233F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20574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00700" y="2514600"/>
            <a:ext cx="1005840" cy="594360"/>
          </a:xfrm>
          <a:prstGeom prst="rect">
            <a:avLst/>
          </a:prstGeom>
          <a:solidFill>
            <a:srgbClr val="F0F5F6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00700" y="251460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8"/>
                </a:solidFill>
              </a:rPr>
              <a:t>≡≡≡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80560" y="32004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changes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17820" y="35661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8F6F0"/>
          </a:solidFill>
          <a:ln/>
        </p:spPr>
      </p:sp>
      <p:sp>
        <p:nvSpPr>
          <p:cNvPr id="22" name="Text 20"/>
          <p:cNvSpPr/>
          <p:nvPr/>
        </p:nvSpPr>
        <p:spPr>
          <a:xfrm>
            <a:off x="541782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5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0" y="40233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(incomplete testing — tests are not covering changed areas)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92440" y="192024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75320" y="2057400"/>
            <a:ext cx="3246120" cy="320040"/>
          </a:xfrm>
          <a:prstGeom prst="roundRect">
            <a:avLst>
              <a:gd name="adj" fmla="val 50000"/>
            </a:avLst>
          </a:prstGeom>
          <a:solidFill>
            <a:srgbClr val="16233F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20574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395460" y="2514600"/>
            <a:ext cx="1005840" cy="594360"/>
          </a:xfrm>
          <a:prstGeom prst="rect">
            <a:avLst/>
          </a:prstGeom>
          <a:solidFill>
            <a:srgbClr val="F0F5F6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95460" y="251460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8"/>
                </a:solidFill>
              </a:rPr>
              <a:t>≡≡≡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75320" y="32004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changes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212580" y="35661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</p:sp>
      <p:sp>
        <p:nvSpPr>
          <p:cNvPr id="31" name="Text 29"/>
          <p:cNvSpPr/>
          <p:nvPr/>
        </p:nvSpPr>
        <p:spPr>
          <a:xfrm>
            <a:off x="921258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75320" y="40233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(due to change — complete testing)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5029200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16233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7240" y="5166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coverage is also called Debugging: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5577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≡≡≡  →  error  →  add changes  →  Debugging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Testing (Interface Testing)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DD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ST developers finish related programs' development and unit testing, corresponding scrum team developers connect those programs to build the S/W.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2377440" cy="1097280"/>
          </a:xfrm>
          <a:prstGeom prst="rect">
            <a:avLst/>
          </a:prstGeom>
          <a:solidFill>
            <a:srgbClr val="F0F5F6"/>
          </a:solidFill>
          <a:ln w="15875">
            <a:solidFill>
              <a:srgbClr val="1623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92040" y="228600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0B7A75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22860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869680" y="2286000"/>
            <a:ext cx="2377440" cy="1097280"/>
          </a:xfrm>
          <a:prstGeom prst="rect">
            <a:avLst/>
          </a:prstGeom>
          <a:solidFill>
            <a:srgbClr val="F0F5F6"/>
          </a:solidFill>
          <a:ln w="15875">
            <a:solidFill>
              <a:srgbClr val="1623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22860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29000" y="2834640"/>
            <a:ext cx="1325880" cy="0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headEnd type="triangl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06640" y="2834640"/>
            <a:ext cx="1325880" cy="0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headEnd type="triangl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14400" y="3520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(white-box)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92040" y="3520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testing (white-box)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869680" y="3520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(white-box)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Approaches to Integration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572000"/>
            <a:ext cx="272491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709160"/>
            <a:ext cx="2450592" cy="365760"/>
          </a:xfrm>
          <a:prstGeom prst="roundRect">
            <a:avLst>
              <a:gd name="adj" fmla="val 50000"/>
            </a:avLst>
          </a:prstGeom>
          <a:solidFill>
            <a:srgbClr val="0B7A7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70916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7512" y="5166360"/>
            <a:ext cx="23957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main + some sub modules; use stubs for pending modules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64992" y="4572000"/>
            <a:ext cx="272491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502152" y="4709160"/>
            <a:ext cx="2450592" cy="365760"/>
          </a:xfrm>
          <a:prstGeom prst="roundRect">
            <a:avLst>
              <a:gd name="adj" fmla="val 50000"/>
            </a:avLst>
          </a:prstGeom>
          <a:solidFill>
            <a:srgbClr val="35C48F"/>
          </a:solidFill>
          <a:ln/>
        </p:spPr>
      </p:sp>
      <p:sp>
        <p:nvSpPr>
          <p:cNvPr id="24" name="Text 22"/>
          <p:cNvSpPr/>
          <p:nvPr/>
        </p:nvSpPr>
        <p:spPr>
          <a:xfrm>
            <a:off x="3502152" y="470916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529584" y="5166360"/>
            <a:ext cx="23957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sub programs first; use drivers in place of the main program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27064" y="4572000"/>
            <a:ext cx="272491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64224" y="4709160"/>
            <a:ext cx="2450592" cy="36576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28" name="Text 26"/>
          <p:cNvSpPr/>
          <p:nvPr/>
        </p:nvSpPr>
        <p:spPr>
          <a:xfrm>
            <a:off x="6364224" y="470916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Sandwich / Hybrid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91656" y="5166360"/>
            <a:ext cx="23957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 of Top-Down and Bottom-Up approaches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89136" y="4572000"/>
            <a:ext cx="272491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226296" y="4709160"/>
            <a:ext cx="2450592" cy="36576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2" name="Text 30"/>
          <p:cNvSpPr/>
          <p:nvPr/>
        </p:nvSpPr>
        <p:spPr>
          <a:xfrm>
            <a:off x="9226296" y="470916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Big-Bang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253728" y="5166360"/>
            <a:ext cx="23957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integration only after 100% coding is complete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3(A)(B) · INTEGRATION TESTING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Top-Down vs. Bottom-Up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DD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6304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4592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B7A7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TOP-DOWN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main module and some sub modules. In place of remaining under-construction sub modules, use temporary “stub” programs (called programs).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3063240"/>
            <a:ext cx="1188720" cy="50292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30632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0175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</a:t>
            </a:r>
            <a:endParaRPr lang="en-US" sz="950" dirty="0"/>
          </a:p>
          <a:p>
            <a:pPr marL="0" indent="0" algn="r">
              <a:buNone/>
            </a:pPr>
            <a:r>
              <a:rPr lang="en-US" sz="950" i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97480" y="3566160"/>
            <a:ext cx="0" cy="50292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03320" y="3566160"/>
            <a:ext cx="777240" cy="50292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691640" y="4114800"/>
            <a:ext cx="1188720" cy="502920"/>
          </a:xfrm>
          <a:prstGeom prst="ellipse">
            <a:avLst/>
          </a:prstGeom>
          <a:solidFill>
            <a:srgbClr val="35C48F"/>
          </a:solidFill>
          <a:ln/>
        </p:spPr>
      </p:sp>
      <p:sp>
        <p:nvSpPr>
          <p:cNvPr id="15" name="Text 13"/>
          <p:cNvSpPr/>
          <p:nvPr/>
        </p:nvSpPr>
        <p:spPr>
          <a:xfrm>
            <a:off x="1691640" y="41148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20440" y="41148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DDE5E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41148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2 (under construction)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7240" y="5623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programs used: STUB (called program)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146304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164592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35C48F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16459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BOTTOM-UP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21031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sub programs without involving the under-construction main program. In its place, use temporary “driver” programs (calling programs).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21040" y="3063240"/>
            <a:ext cx="1188720" cy="502920"/>
          </a:xfrm>
          <a:prstGeom prst="ellipse">
            <a:avLst/>
          </a:prstGeom>
          <a:solidFill>
            <a:srgbClr val="DDE5E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30632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0" y="31272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(under construction)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915400" y="3566160"/>
            <a:ext cx="0" cy="36576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393192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DE5E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39319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15400" y="4389120"/>
            <a:ext cx="0" cy="27432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321040" y="4663440"/>
            <a:ext cx="1188720" cy="457200"/>
          </a:xfrm>
          <a:prstGeom prst="ellipse">
            <a:avLst/>
          </a:prstGeom>
          <a:solidFill>
            <a:srgbClr val="35C48F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4663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1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915400" y="5120640"/>
            <a:ext cx="0" cy="22860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321040" y="5349240"/>
            <a:ext cx="1188720" cy="457200"/>
          </a:xfrm>
          <a:prstGeom prst="ellipse">
            <a:avLst/>
          </a:prstGeom>
          <a:solidFill>
            <a:srgbClr val="35C48F"/>
          </a:solidFill>
          <a:ln/>
        </p:spPr>
      </p:sp>
      <p:sp>
        <p:nvSpPr>
          <p:cNvPr id="35" name="Text 33"/>
          <p:cNvSpPr/>
          <p:nvPr/>
        </p:nvSpPr>
        <p:spPr>
          <a:xfrm>
            <a:off x="8321040" y="5349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2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692640" y="4754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46520" y="6035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programs used: DRIVER (calling program)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3(C)(D) · INTEGRATION TESTING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Sandwich &amp; System (Big-Bang)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DD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63040"/>
            <a:ext cx="67665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45920"/>
            <a:ext cx="3291840" cy="347472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SANDWICH / HYBRID APPROACH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combination of Top-Down and Bottom-Up approaches is called the Sandwich approach.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91840" y="2697480"/>
            <a:ext cx="1188720" cy="502920"/>
          </a:xfrm>
          <a:prstGeom prst="ellipse">
            <a:avLst/>
          </a:prstGeom>
          <a:solidFill>
            <a:srgbClr val="DDE5E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6974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(under construction)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86200" y="3200400"/>
            <a:ext cx="0" cy="32004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352044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DE5E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3520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86200" y="3977640"/>
            <a:ext cx="0" cy="27432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91840" y="4251960"/>
            <a:ext cx="1188720" cy="457200"/>
          </a:xfrm>
          <a:prstGeom prst="ellipse">
            <a:avLst/>
          </a:prstGeom>
          <a:solidFill>
            <a:srgbClr val="35C48F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42519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417320" y="4160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</a:t>
            </a:r>
            <a:endParaRPr lang="en-US" sz="950" dirty="0"/>
          </a:p>
          <a:p>
            <a:pPr marL="0" indent="0" algn="r">
              <a:buNone/>
            </a:pPr>
            <a:r>
              <a:rPr lang="en-US" sz="950" i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37560" y="4480560"/>
            <a:ext cx="0" cy="32004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34840" y="4480560"/>
            <a:ext cx="685800" cy="32004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057400" y="4846320"/>
            <a:ext cx="1188720" cy="457200"/>
          </a:xfrm>
          <a:prstGeom prst="ellipse">
            <a:avLst/>
          </a:prstGeom>
          <a:solidFill>
            <a:srgbClr val="35C48F"/>
          </a:solidFill>
          <a:ln/>
        </p:spPr>
      </p:sp>
      <p:sp>
        <p:nvSpPr>
          <p:cNvPr id="22" name="Text 20"/>
          <p:cNvSpPr/>
          <p:nvPr/>
        </p:nvSpPr>
        <p:spPr>
          <a:xfrm>
            <a:off x="2057400" y="4846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2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26280" y="484632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DE5E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4846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206240" y="5349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3 (under construction)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06640" y="1463040"/>
            <a:ext cx="4251960" cy="484632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0" y="1645920"/>
            <a:ext cx="3474720" cy="347472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0" y="16459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SYSTEM / BIG-BANG APPROACH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80960" y="21945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developers start integration only after the completion of 100% coding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stubs, no drivers — everything is integrated at once, at the end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680960" y="4206240"/>
            <a:ext cx="640080" cy="64008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58200" y="4251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/ Software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DD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integration &amp; integration testing of corresponding programs, ST developers release the sprint/S⁄W to testers.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828800"/>
            <a:ext cx="5440680" cy="594360"/>
          </a:xfrm>
          <a:prstGeom prst="roundRect">
            <a:avLst>
              <a:gd name="adj" fmla="val 12308"/>
            </a:avLst>
          </a:prstGeom>
          <a:solidFill>
            <a:srgbClr val="0B7A7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828800"/>
            <a:ext cx="5440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 (Requirements Testing)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testing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I/P domain testing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Error-handling testing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(I/O or manipulations) testing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testing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 testing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testing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Intersystem testing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828800"/>
            <a:ext cx="5440680" cy="594360"/>
          </a:xfrm>
          <a:prstGeom prst="roundRect">
            <a:avLst>
              <a:gd name="adj" fmla="val 12308"/>
            </a:avLst>
          </a:prstGeom>
          <a:solidFill>
            <a:srgbClr val="16233F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828800"/>
            <a:ext cx="5440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Testing (Expectations / System)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37960" y="256032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Testing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testing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H/W configurations testing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testing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testing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testing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10819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The above testings are not compulsory in every project.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FUNCTIONAL TESTING (1/2)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GUI, Input Domain, Error-Handling, Output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DD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63040"/>
            <a:ext cx="111556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82496"/>
            <a:ext cx="566928" cy="566928"/>
          </a:xfrm>
          <a:prstGeom prst="ellipse">
            <a:avLst/>
          </a:prstGeom>
          <a:solidFill>
            <a:srgbClr val="0B7A7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824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1554480"/>
            <a:ext cx="30175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Testing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3440" y="1554480"/>
            <a:ext cx="68122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Control-flow / Behaviour testing. ST testers operate every element on every screen (textbox, button, drop-down, checkbox, radio button, link …). If any element fails to respond, GUI testing fails and a defect is raised to developers.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743200"/>
            <a:ext cx="111556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962656"/>
            <a:ext cx="566928" cy="566928"/>
          </a:xfrm>
          <a:prstGeom prst="ellipse">
            <a:avLst/>
          </a:prstGeom>
          <a:solidFill>
            <a:srgbClr val="35C48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626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2834640"/>
            <a:ext cx="30175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I/P Domain Testing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3440" y="2834640"/>
            <a:ext cx="68122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Fuzzy Logic testing. ST testers validate the size &amp; type of every input element on the sprint/S⁄W. e.g. Age field — only numbers 0–9 valid, A–Z / a–z or special characters are not valid.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023360"/>
            <a:ext cx="111556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242816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114800"/>
            <a:ext cx="30175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Error-Handling Testing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63440" y="4114800"/>
            <a:ext cx="68122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testers operate the sprint/S⁄W by giving invalid data and observe the correctness of error messages or prompt messages.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5303520"/>
            <a:ext cx="111556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5522976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522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54480" y="5394960"/>
            <a:ext cx="30175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Manipulations Testing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663440" y="5394960"/>
            <a:ext cx="68122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testers operate the S⁄W by giving valid data, to observe the correctness of output / outcome.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FUNCTIONAL TESTING (2/2)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DB, Data Volume, Recovery, Intersystem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DD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63040"/>
            <a:ext cx="57607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27632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B7A7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2763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DB TESTING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front-end screens and observe the impact on the database — data validation &amp; data integrity.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606040"/>
            <a:ext cx="1828800" cy="1371600"/>
          </a:xfrm>
          <a:prstGeom prst="rect">
            <a:avLst/>
          </a:prstGeom>
          <a:solidFill>
            <a:srgbClr val="F0F5F6"/>
          </a:solidFill>
          <a:ln w="12700">
            <a:solidFill>
              <a:srgbClr val="1623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97480"/>
            <a:ext cx="1645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empid: 101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kalam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no: 10 ✓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2926080"/>
            <a:ext cx="1280160" cy="0"/>
          </a:xfrm>
          <a:prstGeom prst="line">
            <a:avLst/>
          </a:prstGeom>
          <a:noFill/>
          <a:ln w="19050">
            <a:solidFill>
              <a:srgbClr val="0B7A75"/>
            </a:solidFill>
            <a:prstDash val="solid"/>
            <a:headEnd type="triangl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697480" y="29718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31920" y="2606040"/>
            <a:ext cx="1965960" cy="1371600"/>
          </a:xfrm>
          <a:prstGeom prst="rect">
            <a:avLst/>
          </a:prstGeom>
          <a:solidFill>
            <a:srgbClr val="F0F5F6"/>
          </a:solidFill>
          <a:ln w="12700">
            <a:solidFill>
              <a:srgbClr val="1623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2697480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emp(101, kalam, 10)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dept(10, Sales, 21)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" y="4023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5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integrity: correctness of changes in existing data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0" y="1463040"/>
            <a:ext cx="52578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162763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35C48F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162763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 DATA VOLUME TESTING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205740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Storage / Memory testing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 enter model data into the DB to find its capacity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testing = GUI, I/P domain, error-handling, output testing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testing = DB testing, Data volume testing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434840"/>
            <a:ext cx="5760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57200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5720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g) RECOVERY TESTING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98348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Reliability testing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the sprint/S⁄W in a WRONG environment and observe recovery from abnormal to normal state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net connection issues, H/W issues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0" y="443484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0" y="4572000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457200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h) INTERSYSTEM TESTING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49834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Interoperability / End-to-End testing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testers observe that the sprint/S⁄W co-exists with other S⁄W to share resources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NON-FUNCTIONAL TESTING (1/4)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Usability, Compatibility, H/W Configuration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DD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08760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0B7A7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Accessibility testing. Validates user-friendliness of the sprint/S⁄W: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use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&amp; feel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navigations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1508760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737360"/>
            <a:ext cx="502920" cy="502920"/>
          </a:xfrm>
          <a:prstGeom prst="ellipse">
            <a:avLst/>
          </a:prstGeom>
          <a:solidFill>
            <a:srgbClr val="35C48F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6636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Testing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24231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cross-platform testing. Run the sprint/S⁄W in client-expected platforms — O/S, browser &amp; other system software.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26280" y="329184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games across Windows/consoles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2440" y="1508760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1040" y="173736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6112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Config. Testing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24231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H/W compatibility testing. Run the sprint/S⁄W using various H/W configurations.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21040" y="329184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processors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RAM sizes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networks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Printers, scanners, etc.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If compatibility &amp; H/W configuration testing are not possible on a physical setup, conduct those tests in a virtual environment / cloud.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4(D) · NON-FUNCTIONAL TESTING (2/4)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Testing — “Speed in Process”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DD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54480"/>
            <a:ext cx="2724912" cy="393192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54480"/>
            <a:ext cx="2724912" cy="502920"/>
          </a:xfrm>
          <a:prstGeom prst="roundRect">
            <a:avLst>
              <a:gd name="adj" fmla="val 14545"/>
            </a:avLst>
          </a:prstGeom>
          <a:solidFill>
            <a:srgbClr val="0B7A7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5448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7512" y="2240280"/>
            <a:ext cx="23957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Client-expected config + client-expected load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67512" y="3703320"/>
            <a:ext cx="2395728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384048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b="1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“speed in process” under normal expected load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364992" y="1554480"/>
            <a:ext cx="2724912" cy="393192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64992" y="1554480"/>
            <a:ext cx="2724912" cy="502920"/>
          </a:xfrm>
          <a:prstGeom prst="roundRect">
            <a:avLst>
              <a:gd name="adj" fmla="val 14545"/>
            </a:avLst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155448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29584" y="2240280"/>
            <a:ext cx="23957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Client-expected config + MORE than expected load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3529584" y="3703320"/>
            <a:ext cx="2395728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9584" y="384048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b="1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peak load / load capacity / threshold point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27064" y="1554480"/>
            <a:ext cx="2724912" cy="393192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27064" y="1554480"/>
            <a:ext cx="2724912" cy="502920"/>
          </a:xfrm>
          <a:prstGeom prst="roundRect">
            <a:avLst>
              <a:gd name="adj" fmla="val 14545"/>
            </a:avLst>
          </a:prstGeom>
          <a:solidFill>
            <a:srgbClr val="E4572E"/>
          </a:solidFill>
          <a:ln/>
        </p:spPr>
      </p:sp>
      <p:sp>
        <p:nvSpPr>
          <p:cNvPr id="19" name="Text 17"/>
          <p:cNvSpPr/>
          <p:nvPr/>
        </p:nvSpPr>
        <p:spPr>
          <a:xfrm>
            <a:off x="6227064" y="155448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Testing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91656" y="2240280"/>
            <a:ext cx="23957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Client-expected config + HUGE load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(also: Vulnerable testing)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391656" y="3703320"/>
            <a:ext cx="2395728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1656" y="384048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b="1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server's crashing point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9089136" y="1554480"/>
            <a:ext cx="2724912" cy="393192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89136" y="1554480"/>
            <a:ext cx="2724912" cy="502920"/>
          </a:xfrm>
          <a:prstGeom prst="roundRect">
            <a:avLst>
              <a:gd name="adj" fmla="val 14545"/>
            </a:avLst>
          </a:prstGeom>
          <a:solidFill>
            <a:srgbClr val="35C48F"/>
          </a:solidFill>
          <a:ln/>
        </p:spPr>
      </p:sp>
      <p:sp>
        <p:nvSpPr>
          <p:cNvPr id="25" name="Text 23"/>
          <p:cNvSpPr/>
          <p:nvPr/>
        </p:nvSpPr>
        <p:spPr>
          <a:xfrm>
            <a:off x="9089136" y="155448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 Testing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253728" y="2240280"/>
            <a:ext cx="23957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Client-expected config + client-expected load for a LONG time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(Longevity / Durability)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9253728" y="3703320"/>
            <a:ext cx="2395728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53728" y="384048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b="1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memory leakages, e.g. sudden session expiry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502920" y="566928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16233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" y="56692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users are created using performance-testing tools:  JMeter (open source)   •   LoadRunner (licensed)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4(E)(F) · NON-FUNCTIONAL TESTING (3/4)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Multi-Language &amp; Security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DD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0876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91640"/>
            <a:ext cx="3383280" cy="347472"/>
          </a:xfrm>
          <a:prstGeom prst="roundRect">
            <a:avLst>
              <a:gd name="adj" fmla="val 50000"/>
            </a:avLst>
          </a:prstGeom>
          <a:solidFill>
            <a:srgbClr val="0B7A7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MULTI-LANGUAGE TESTING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S⁄W developed using Unicode technologies can take input in various people-languages.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Globalization / Internationalization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(English) ↔ Language Translator ↔ SUT (Japanese, Spanish, French, Arabic, Hindi…)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3611880"/>
            <a:ext cx="493776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794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40690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(Japanese / French / Spanish / Arabic / Hindi) ↔ SUT directly — no translator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50876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1691640"/>
            <a:ext cx="3931920" cy="347472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6916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 SECURITY / PENETRATION TESTING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21488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/ Authentication testing — does the S⁄W allow valid users &amp; prevent invalid users?</a:t>
            </a:r>
            <a:endParaRPr lang="en-US" sz="11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testing — do valid users have permissions/privileges for specific functionality?</a:t>
            </a:r>
            <a:endParaRPr lang="en-US" sz="11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/ Decryption testing — is the encryption process strong?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37960" y="37947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F0F5F6"/>
          </a:solidFill>
          <a:ln w="12700">
            <a:solidFill>
              <a:srgbClr val="1623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794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104120" y="37947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F0F5F6"/>
          </a:solidFill>
          <a:ln w="12700">
            <a:solidFill>
              <a:srgbClr val="1623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04120" y="3794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18120" y="4023360"/>
            <a:ext cx="2286000" cy="0"/>
          </a:xfrm>
          <a:prstGeom prst="line">
            <a:avLst/>
          </a:prstGeom>
          <a:noFill/>
          <a:ln w="19050">
            <a:solidFill>
              <a:srgbClr val="E4572E"/>
            </a:solidFill>
            <a:prstDash val="solid"/>
            <a:headEnd type="triangl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818120" y="4069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text (encrypted)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37960" y="45262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tester behaves like a Hacker and tries to hack the S⁄W/sprint via the cipher text.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37960" y="507492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50749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Hackable → Report defect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15400" y="5074920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E8F6F0"/>
          </a:solidFill>
          <a:ln/>
        </p:spPr>
      </p:sp>
      <p:sp>
        <p:nvSpPr>
          <p:cNvPr id="28" name="Text 26"/>
          <p:cNvSpPr/>
          <p:nvPr/>
        </p:nvSpPr>
        <p:spPr>
          <a:xfrm>
            <a:off x="8915400" y="50749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5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hackable → good security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37960" y="5532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Encryption/Decryption testing is conducted by a trusted team, since those members focus on hacking.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4(G)(H) · NON-FUNCTIONAL TESTING (4/4)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&amp; Compliance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DD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2024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g) PARALLEL TESTING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Comparison testing or Competitive testing.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testers compare the corresponding sprint/S⁄W with previous versions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with other competitive products in the market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to know the strengths and weaknesses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192024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h) COMPLIANCE TESTING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2423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Standards testing.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288036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and Scrum Master use measurements and metrics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…to estimate the effort of testers during testing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·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DD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sprint/S⁄W testing is completed, PO conducts a sprint review to collect feedback from the client. Two approaches are possible: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103120"/>
            <a:ext cx="5440680" cy="640080"/>
          </a:xfrm>
          <a:prstGeom prst="roundRect">
            <a:avLst>
              <a:gd name="adj" fmla="val 11429"/>
            </a:avLst>
          </a:prstGeom>
          <a:solidFill>
            <a:srgbClr val="0B7A7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0312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— Alpha Test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4709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the client to the company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demo on the sprint/S⁄W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feedback directly, on-site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2103120"/>
            <a:ext cx="5440680" cy="640080"/>
          </a:xfrm>
          <a:prstGeom prst="roundRect">
            <a:avLst>
              <a:gd name="adj" fmla="val 11429"/>
            </a:avLst>
          </a:prstGeom>
          <a:solidFill>
            <a:srgbClr val="35C48F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10312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— Beta Test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83680" y="2971800"/>
            <a:ext cx="4709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a trial version (β-version) of the sprint/S⁄W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the client's site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feedback via emails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562356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16233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known as: Yellow-box Testing / Acceptance Testing Techniques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·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/ Port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DD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getting good feedback from the client, PO plans sprint/S⁄W delivery / release / deployment. A selected team of ST members uploads and installs the sprint/S⁄W on the client-site network, and observes: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3566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2295144"/>
            <a:ext cx="457200" cy="457200"/>
          </a:xfrm>
          <a:prstGeom prst="ellipse">
            <a:avLst/>
          </a:prstGeom>
          <a:solidFill>
            <a:srgbClr val="0B7A75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2295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14884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installation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2148840"/>
            <a:ext cx="3566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98264" y="2295144"/>
            <a:ext cx="457200" cy="457200"/>
          </a:xfrm>
          <a:prstGeom prst="ellipse">
            <a:avLst/>
          </a:prstGeom>
          <a:solidFill>
            <a:srgbClr val="35C48F"/>
          </a:solidFill>
          <a:ln/>
        </p:spPr>
      </p:sp>
      <p:sp>
        <p:nvSpPr>
          <p:cNvPr id="12" name="Text 10"/>
          <p:cNvSpPr/>
          <p:nvPr/>
        </p:nvSpPr>
        <p:spPr>
          <a:xfrm>
            <a:off x="4398264" y="2295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214884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functionality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01000" y="2148840"/>
            <a:ext cx="3566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47304" y="2295144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147304" y="2295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32520" y="214884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I/P devices support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044952"/>
            <a:ext cx="3566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" y="319125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" y="3191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044952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O/P devices support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51960" y="3044952"/>
            <a:ext cx="3566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98264" y="3191256"/>
            <a:ext cx="457200" cy="457200"/>
          </a:xfrm>
          <a:prstGeom prst="ellipse">
            <a:avLst/>
          </a:prstGeom>
          <a:solidFill>
            <a:srgbClr val="0B7A75"/>
          </a:solidFill>
          <a:ln/>
        </p:spPr>
      </p:sp>
      <p:sp>
        <p:nvSpPr>
          <p:cNvPr id="24" name="Text 22"/>
          <p:cNvSpPr/>
          <p:nvPr/>
        </p:nvSpPr>
        <p:spPr>
          <a:xfrm>
            <a:off x="4398264" y="3191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83480" y="3044952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storage support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01000" y="3044952"/>
            <a:ext cx="3566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47304" y="3191256"/>
            <a:ext cx="457200" cy="457200"/>
          </a:xfrm>
          <a:prstGeom prst="ellipse">
            <a:avLst/>
          </a:prstGeom>
          <a:solidFill>
            <a:srgbClr val="35C48F"/>
          </a:solidFill>
          <a:ln/>
        </p:spPr>
      </p:sp>
      <p:sp>
        <p:nvSpPr>
          <p:cNvPr id="28" name="Text 26"/>
          <p:cNvSpPr/>
          <p:nvPr/>
        </p:nvSpPr>
        <p:spPr>
          <a:xfrm>
            <a:off x="8147304" y="3191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732520" y="3044952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support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" y="3941064"/>
            <a:ext cx="3566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9224" y="408736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34440" y="3941064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Coexistence with other S⁄W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48463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I/P devices: keyboard, mouse, joystick…   O/P devices: monitor, printer…   storage: external HDD, CD-ROM, floppy drive, pen drive, USB…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525780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16233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77240" y="52578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5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known as: Green-box Testing / Release Testing / Port Testing Techniques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 ·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During Maintenance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DD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completion of the release process, corresponding people train end-users on the sprint/S⁄W. From here, all future work starts from a Change Request.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87452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16233F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REQUEST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0" y="2240280"/>
            <a:ext cx="0" cy="365760"/>
          </a:xfrm>
          <a:prstGeom prst="line">
            <a:avLst/>
          </a:prstGeom>
          <a:noFill/>
          <a:ln w="19050">
            <a:solidFill>
              <a:srgbClr val="0B7A7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" y="265176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83464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B7A7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34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337560"/>
            <a:ext cx="4892040" cy="457200"/>
          </a:xfrm>
          <a:prstGeom prst="roundRect">
            <a:avLst>
              <a:gd name="adj" fmla="val 12000"/>
            </a:avLst>
          </a:prstGeom>
          <a:solidFill>
            <a:srgbClr val="E8F6F0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375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Impact Analysis to identify areas to be enhanced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794760"/>
            <a:ext cx="4892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7A75"/>
                </a:solidFill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959352"/>
            <a:ext cx="4892040" cy="457200"/>
          </a:xfrm>
          <a:prstGeom prst="roundRect">
            <a:avLst>
              <a:gd name="adj" fmla="val 12000"/>
            </a:avLst>
          </a:prstGeom>
          <a:solidFill>
            <a:srgbClr val="E8F6F0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5935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changes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416552"/>
            <a:ext cx="4892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7A75"/>
                </a:solidFill>
              </a:rPr>
              <a:t>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581144"/>
            <a:ext cx="4892040" cy="457200"/>
          </a:xfrm>
          <a:prstGeom prst="roundRect">
            <a:avLst>
              <a:gd name="adj" fmla="val 12000"/>
            </a:avLst>
          </a:prstGeom>
          <a:solidFill>
            <a:srgbClr val="E8F6F0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58114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changes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5038344"/>
            <a:ext cx="4892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7A75"/>
                </a:solidFill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5202936"/>
            <a:ext cx="4892040" cy="457200"/>
          </a:xfrm>
          <a:prstGeom prst="roundRect">
            <a:avLst>
              <a:gd name="adj" fmla="val 12000"/>
            </a:avLst>
          </a:prstGeom>
          <a:solidFill>
            <a:srgbClr val="E8F6F0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20293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patch file to client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5806440"/>
            <a:ext cx="4892040" cy="320040"/>
          </a:xfrm>
          <a:prstGeom prst="roundRect">
            <a:avLst>
              <a:gd name="adj" fmla="val 50000"/>
            </a:avLst>
          </a:prstGeom>
          <a:solidFill>
            <a:srgbClr val="E8F6F0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8064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Enhancive Maintenance  (CCB — Freshers)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240280"/>
            <a:ext cx="2011680" cy="365760"/>
          </a:xfrm>
          <a:prstGeom prst="line">
            <a:avLst/>
          </a:prstGeom>
          <a:noFill/>
          <a:ln w="1905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17920" y="265176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92240" y="283464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28346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BUG / FAILURE (latent bug)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92240" y="3337560"/>
            <a:ext cx="4892040" cy="45720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33375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Root-Cause Analysis to identify the bug in sprint/S⁄W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3794760"/>
            <a:ext cx="4892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572E"/>
                </a:solidFill>
              </a:rPr>
              <a:t>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92240" y="3959352"/>
            <a:ext cx="4892040" cy="45720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395935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sprint/S⁄W &amp; conduct testing on the change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4416552"/>
            <a:ext cx="4892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572E"/>
                </a:solidFill>
              </a:rPr>
              <a:t>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92240" y="4581144"/>
            <a:ext cx="4892040" cy="45720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458114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patch file to client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5038344"/>
            <a:ext cx="4892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572E"/>
                </a:solidFill>
              </a:rPr>
              <a:t>↓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92240" y="5202936"/>
            <a:ext cx="4892040" cy="45720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9400" y="520293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skills of testers &amp; developers (by PO)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5806440"/>
            <a:ext cx="4892040" cy="320040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</p:sp>
      <p:sp>
        <p:nvSpPr>
          <p:cNvPr id="41" name="Text 39"/>
          <p:cNvSpPr/>
          <p:nvPr/>
        </p:nvSpPr>
        <p:spPr>
          <a:xfrm>
            <a:off x="6492240" y="58064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Maintenance  (CCB — Seniors)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35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METRICS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Removal Efficiency (DRE)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2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general, management people (PO, SM) calculate the effectiveness of testers in a released sprint/S⁄W using the equation below.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566160" y="210312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0" y="26060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  =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217920" y="2880360"/>
            <a:ext cx="1828800" cy="0"/>
          </a:xfrm>
          <a:prstGeom prst="line">
            <a:avLst/>
          </a:prstGeom>
          <a:noFill/>
          <a:ln w="25400">
            <a:solidFill>
              <a:srgbClr val="1623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+ B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02920" y="41148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1F2E4D"/>
          </a:solidFill>
          <a:ln w="12700">
            <a:solidFill>
              <a:srgbClr val="0B7A75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4315968"/>
            <a:ext cx="502920" cy="502920"/>
          </a:xfrm>
          <a:prstGeom prst="ellipse">
            <a:avLst/>
          </a:prstGeom>
          <a:solidFill>
            <a:srgbClr val="0B7A7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15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4251960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No. of bugs FOUND during testing, by the testing team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41148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1F2E4D"/>
          </a:solidFill>
          <a:ln w="12700">
            <a:solidFill>
              <a:srgbClr val="E4572E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4315968"/>
            <a:ext cx="502920" cy="5029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315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78040" y="4251960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No. of failures AFTER release, faced by client-site people (end users)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6080760"/>
            <a:ext cx="5440680" cy="457200"/>
          </a:xfrm>
          <a:prstGeom prst="roundRect">
            <a:avLst>
              <a:gd name="adj" fmla="val 50000"/>
            </a:avLst>
          </a:prstGeom>
          <a:solidFill>
            <a:srgbClr val="35C48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608076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testing team: DRE between 0.75 and 0.95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6080760"/>
            <a:ext cx="5440680" cy="4572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608076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bug-free software is NOT possible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Testing Stages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DDE5E8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43891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Stage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Tested 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Techniques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testing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PBL, SBL, HLD, LLDs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of documents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Techniques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(Walkthrough, Inspection, Peer review)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testing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 Developers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White-box testing techniques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testing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Sprint/S⁄W interconnection of programs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 testers / Developers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White-box testing techniques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Sprint/S⁄W testing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Sprint/S⁄W (functional + non-functional)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 testers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Black-box testing techniques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 testing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Sprint/S⁄W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Client-site people (SM, PO, STHs, ST)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Yellow-box testing techniques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Release/Port testing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Sprint/S⁄W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team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Green-box testing techniques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during maintenance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Sprint/S⁄W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CCB (Change Control Board)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Grey-box (white-box + black-box) techniques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4, IN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STLC — Sprint </a:t>
            </a:r>
            <a:r>
              <a:rPr lang="en-US" sz="3000" b="1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 S ⁄ W </a:t>
            </a: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Life 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0"/>
          </a:xfrm>
          <a:prstGeom prst="line">
            <a:avLst/>
          </a:prstGeom>
          <a:noFill/>
          <a:ln w="15875">
            <a:solidFill>
              <a:srgbClr val="DD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general, organizations follow the Agile Scrum process for new S⁄W development. Testing comes in every stage. In the Sprint/S⁄W testing stage, ST testers follow the STLC process to conduct functional &amp; non-functional tests using Black-box techniques.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2002536" cy="1371600"/>
          </a:xfrm>
          <a:prstGeom prst="roundRect">
            <a:avLst>
              <a:gd name="adj" fmla="val 5333"/>
            </a:avLst>
          </a:prstGeom>
          <a:solidFill>
            <a:srgbClr val="0B7A7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96312"/>
            <a:ext cx="1911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Initiation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081528"/>
            <a:ext cx="1362456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3172968"/>
            <a:ext cx="1856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— Test strategy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05456" y="3017520"/>
            <a:ext cx="219456" cy="0"/>
          </a:xfrm>
          <a:prstGeom prst="line">
            <a:avLst/>
          </a:prstGeom>
          <a:noFill/>
          <a:ln w="25400">
            <a:solidFill>
              <a:srgbClr val="16233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24912" y="2331720"/>
            <a:ext cx="2002536" cy="1371600"/>
          </a:xfrm>
          <a:prstGeom prst="roundRect">
            <a:avLst>
              <a:gd name="adj" fmla="val 5333"/>
            </a:avLst>
          </a:prstGeom>
          <a:solidFill>
            <a:srgbClr val="35C48F"/>
          </a:solidFill>
          <a:ln/>
        </p:spPr>
      </p:sp>
      <p:sp>
        <p:nvSpPr>
          <p:cNvPr id="12" name="Text 10"/>
          <p:cNvSpPr/>
          <p:nvPr/>
        </p:nvSpPr>
        <p:spPr>
          <a:xfrm>
            <a:off x="2770632" y="2496312"/>
            <a:ext cx="1911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Planning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044952" y="3081528"/>
            <a:ext cx="1362456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98064" y="3172968"/>
            <a:ext cx="1856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— Test plan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27448" y="3017520"/>
            <a:ext cx="219456" cy="0"/>
          </a:xfrm>
          <a:prstGeom prst="line">
            <a:avLst/>
          </a:prstGeom>
          <a:noFill/>
          <a:ln w="25400">
            <a:solidFill>
              <a:srgbClr val="16233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946904" y="2331720"/>
            <a:ext cx="2002536" cy="1371600"/>
          </a:xfrm>
          <a:prstGeom prst="roundRect">
            <a:avLst>
              <a:gd name="adj" fmla="val 5333"/>
            </a:avLst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4992624" y="2496312"/>
            <a:ext cx="1911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Design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266944" y="3081528"/>
            <a:ext cx="1362456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3172968"/>
            <a:ext cx="1856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 — Test cases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3017520"/>
            <a:ext cx="219456" cy="0"/>
          </a:xfrm>
          <a:prstGeom prst="line">
            <a:avLst/>
          </a:prstGeom>
          <a:noFill/>
          <a:ln w="25400">
            <a:solidFill>
              <a:srgbClr val="16233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168896" y="2331720"/>
            <a:ext cx="2002536" cy="1371600"/>
          </a:xfrm>
          <a:prstGeom prst="roundRect">
            <a:avLst>
              <a:gd name="adj" fmla="val 5333"/>
            </a:avLst>
          </a:prstGeom>
          <a:solidFill>
            <a:srgbClr val="E4572E"/>
          </a:solidFill>
          <a:ln/>
        </p:spPr>
      </p:sp>
      <p:sp>
        <p:nvSpPr>
          <p:cNvPr id="22" name="Text 20"/>
          <p:cNvSpPr/>
          <p:nvPr/>
        </p:nvSpPr>
        <p:spPr>
          <a:xfrm>
            <a:off x="7214616" y="2496312"/>
            <a:ext cx="1911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488936" y="3081528"/>
            <a:ext cx="1362456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2048" y="3172968"/>
            <a:ext cx="1856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 on sprint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71432" y="3017520"/>
            <a:ext cx="219456" cy="0"/>
          </a:xfrm>
          <a:prstGeom prst="line">
            <a:avLst/>
          </a:prstGeom>
          <a:noFill/>
          <a:ln w="25400">
            <a:solidFill>
              <a:srgbClr val="16233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390888" y="2331720"/>
            <a:ext cx="2002536" cy="1371600"/>
          </a:xfrm>
          <a:prstGeom prst="roundRect">
            <a:avLst>
              <a:gd name="adj" fmla="val 5333"/>
            </a:avLst>
          </a:prstGeom>
          <a:solidFill>
            <a:srgbClr val="1F2E4D"/>
          </a:solidFill>
          <a:ln/>
        </p:spPr>
      </p:sp>
      <p:sp>
        <p:nvSpPr>
          <p:cNvPr id="27" name="Text 25"/>
          <p:cNvSpPr/>
          <p:nvPr/>
        </p:nvSpPr>
        <p:spPr>
          <a:xfrm>
            <a:off x="9436608" y="2496312"/>
            <a:ext cx="1911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Closure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710928" y="3081528"/>
            <a:ext cx="1362456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64040" y="3172968"/>
            <a:ext cx="1856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&amp; summary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67244" y="3703320"/>
            <a:ext cx="0" cy="502920"/>
          </a:xfrm>
          <a:prstGeom prst="line">
            <a:avLst/>
          </a:prstGeom>
          <a:noFill/>
          <a:ln w="19050">
            <a:solidFill>
              <a:srgbClr val="16233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44284" y="420624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16233F"/>
          </a:solidFill>
          <a:ln/>
        </p:spPr>
      </p:sp>
      <p:sp>
        <p:nvSpPr>
          <p:cNvPr id="32" name="Text 30"/>
          <p:cNvSpPr/>
          <p:nvPr/>
        </p:nvSpPr>
        <p:spPr>
          <a:xfrm>
            <a:off x="6844284" y="4206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Reporting to Developers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673084" y="4206240"/>
            <a:ext cx="0" cy="0"/>
          </a:xfrm>
          <a:prstGeom prst="line">
            <a:avLst/>
          </a:prstGeom>
          <a:noFill/>
          <a:ln w="19050">
            <a:solidFill>
              <a:srgbClr val="0B7A75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9724644" y="409651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 &amp; Regression test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 the modified sprint)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4617720"/>
            <a:ext cx="11155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22960" y="480060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Initiation: PO defines the Test Strategy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Planning: Scrum Master (SM) prepares the Test Plan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Design: Testers write Test Cases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Execution: run tests, report defects to developers, then Retest &amp; Regression-test until the sprint passes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 |  Unit III  –  Testing Stages / Phases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B7A75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35C48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2011680" cy="0"/>
          </a:xfrm>
          <a:prstGeom prst="line">
            <a:avLst/>
          </a:prstGeom>
          <a:noFill/>
          <a:ln w="38100">
            <a:solidFill>
              <a:srgbClr val="35C4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28800"/>
            <a:ext cx="10789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runs through all 7 stages of Agile Scrum/DevOps — not just at the end.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(Documents) is Verification / static; Stages 2–7 are Validation / dynamic.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 testing use White-box techniques; Sprint/S⁄W testing uses Black-box.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Sprint/S⁄W testing splits into Functional (requirements) &amp; Non-functional (expectations) testing.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= Yellow-box (α/β test); Release = Green-box; Maintenance = Grey-box.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= A / (A+B) measures a testing team's effectiveness — a good team scores 0.75–0.95.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85800" y="5852160"/>
            <a:ext cx="10789920" cy="594360"/>
          </a:xfrm>
          <a:prstGeom prst="roundRect">
            <a:avLst>
              <a:gd name="adj" fmla="val 12308"/>
            </a:avLst>
          </a:prstGeom>
          <a:solidFill>
            <a:srgbClr val="1F2E4D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8521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5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STLC deep-dive with test-case design techniques (Black-box) — Unit IV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3487</Words>
  <Application>Microsoft Office PowerPoint</Application>
  <PresentationFormat>Widescreen</PresentationFormat>
  <Paragraphs>613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 APARNA</cp:lastModifiedBy>
  <cp:revision>3</cp:revision>
  <dcterms:created xsi:type="dcterms:W3CDTF">2026-09-04T12:22:04Z</dcterms:created>
  <dcterms:modified xsi:type="dcterms:W3CDTF">2026-09-04T12:37:28Z</dcterms:modified>
</cp:coreProperties>
</file>