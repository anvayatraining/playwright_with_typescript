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9" d="100"/>
          <a:sy n="89" d="100"/>
        </p:scale>
        <p:origin x="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191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2743200"/>
            <a:ext cx="5669280" cy="566928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474720"/>
            <a:ext cx="4206240" cy="42062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206240"/>
            <a:ext cx="2743200" cy="2743200"/>
          </a:xfrm>
          <a:prstGeom prst="ellipse">
            <a:avLst/>
          </a:prstGeom>
          <a:solidFill>
            <a:srgbClr val="F2A007">
              <a:alpha val="3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·  UNIT 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SDLC Models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80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Life Cycle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58368" y="3520440"/>
            <a:ext cx="2011680" cy="0"/>
          </a:xfrm>
          <a:prstGeom prst="line">
            <a:avLst/>
          </a:prstGeom>
          <a:noFill/>
          <a:ln w="38100">
            <a:solidFill>
              <a:srgbClr val="F2A00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7490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Waterfall to DevOps — models, roles, and the process that turns a client requirement into released software.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 Notes  ·  Compiled from classroom handwritten notes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28800"/>
            <a:ext cx="502920" cy="50292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465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&amp; Quality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1031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software “quality” — technical and non-technical reasons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828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7465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SDLC &amp; Project vs Product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1031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lifecycle, and the difference between building for one client vs. the market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246120"/>
            <a:ext cx="502920" cy="50292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1638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Roles &amp; Flow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5204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bidding to maintenance — who does what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0175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3246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1638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1st Gen Models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5204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Waterfall, Prototype, Spiral, Incremental, RAD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" y="4663440"/>
            <a:ext cx="502920" cy="50292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45811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2nd Gen Models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49377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Model and V-Model — testing built into every stage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72200" y="44348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46634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086600" y="45811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3rd Gen: Agile &amp; DevOps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086600" y="49377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Sprints, continuous delivery, and modern practice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MODELS  |  UNIT 1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&amp; Quality Software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0B2E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executable programs is called software.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23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software is called “Quality Software”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54864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88036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154680"/>
            <a:ext cx="548640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8803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REASONS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657600"/>
            <a:ext cx="411480" cy="41148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301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customer requirements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5020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Functionalities and features the client asked for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4800600"/>
            <a:ext cx="411480" cy="41148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7731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customer expectations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09320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user-friendliness, security, compatibility, etc.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2880360"/>
            <a:ext cx="54864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288036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F2A007"/>
          </a:solidFill>
          <a:ln/>
        </p:spPr>
      </p:sp>
      <p:sp>
        <p:nvSpPr>
          <p:cNvPr id="21" name="Shape 19"/>
          <p:cNvSpPr/>
          <p:nvPr/>
        </p:nvSpPr>
        <p:spPr>
          <a:xfrm>
            <a:off x="6263640" y="3154680"/>
            <a:ext cx="5486400" cy="274320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46520" y="28803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REASONS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92240" y="36576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9224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36301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get license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395020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 the customer to license the software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48006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9224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47731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release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040880" y="509320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quickly the software reaches the market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MODELS  |  UNIT 1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SDLC · Project vs Product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0B2E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to develop a new software.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9DB6C9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6517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651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044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Application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520440"/>
            <a:ext cx="4846320" cy="0"/>
          </a:xfrm>
          <a:prstGeom prst="line">
            <a:avLst/>
          </a:prstGeom>
          <a:noFill/>
          <a:ln w="12700">
            <a:solidFill>
              <a:srgbClr val="CFE3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7033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developed with respect to a specific client requirement.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6177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Company develops the software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client is the owner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33172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9050">
            <a:solidFill>
              <a:srgbClr val="F2A007"/>
            </a:solidFill>
            <a:prstDash val="solid"/>
          </a:ln>
          <a:effectLst>
            <a:outerShdw blurRad="76200" dist="25400" dir="5400000" algn="bl" rotWithShape="0">
              <a:srgbClr val="9DB6C9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29400" y="2651760"/>
            <a:ext cx="640080" cy="64008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452360" y="2651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3044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market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3520440"/>
            <a:ext cx="4846320" cy="0"/>
          </a:xfrm>
          <a:prstGeom prst="line">
            <a:avLst/>
          </a:prstGeom>
          <a:noFill/>
          <a:ln w="12700">
            <a:solidFill>
              <a:srgbClr val="CFE3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37033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developed with respect to overall requirements in the market.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46177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Company develops the software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Company behaves like the owner, selling licenses to the public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MODELS  |  UNIT 1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Bidding to Maintenance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involved at every stage of a project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96012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20624" y="1901952"/>
            <a:ext cx="103327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S/W Bidding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53212" y="2816352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F2A00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281635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1417320" y="2286000"/>
            <a:ext cx="123444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540764" y="1828800"/>
            <a:ext cx="960120" cy="914400"/>
          </a:xfrm>
          <a:prstGeom prst="roundRect">
            <a:avLst>
              <a:gd name="adj" fmla="val 6000"/>
            </a:avLst>
          </a:prstGeom>
          <a:solidFill>
            <a:srgbClr val="0E3B6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04188" y="1901952"/>
            <a:ext cx="103327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Meeting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36776" y="2816352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F2A00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449324" y="281635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2500884" y="2286000"/>
            <a:ext cx="123444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624328" y="1828800"/>
            <a:ext cx="96012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587752" y="1901952"/>
            <a:ext cx="103327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&amp; Overall Plan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20340" y="2816352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F2A00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532888" y="281635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3584448" y="2286000"/>
            <a:ext cx="123444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07892" y="1828800"/>
            <a:ext cx="960120" cy="914400"/>
          </a:xfrm>
          <a:prstGeom prst="roundRect">
            <a:avLst>
              <a:gd name="adj" fmla="val 6000"/>
            </a:avLst>
          </a:prstGeom>
          <a:solidFill>
            <a:srgbClr val="0E3B6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71316" y="1901952"/>
            <a:ext cx="103327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803904" y="2816352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F2A00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16452" y="281635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4668012" y="2286000"/>
            <a:ext cx="123444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791456" y="1828800"/>
            <a:ext cx="96012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54880" y="1901952"/>
            <a:ext cx="103327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87468" y="2816352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F2A00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700016" y="281635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5751576" y="2286000"/>
            <a:ext cx="123444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875020" y="1828800"/>
            <a:ext cx="960120" cy="914400"/>
          </a:xfrm>
          <a:prstGeom prst="roundRect">
            <a:avLst>
              <a:gd name="adj" fmla="val 6000"/>
            </a:avLst>
          </a:prstGeom>
          <a:solidFill>
            <a:srgbClr val="0E3B6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838444" y="1901952"/>
            <a:ext cx="103327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971032" y="2816352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F2A00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783580" y="281635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730" dirty="0"/>
          </a:p>
        </p:txBody>
      </p:sp>
      <p:sp>
        <p:nvSpPr>
          <p:cNvPr id="34" name="Shape 32"/>
          <p:cNvSpPr/>
          <p:nvPr/>
        </p:nvSpPr>
        <p:spPr>
          <a:xfrm>
            <a:off x="6835140" y="2286000"/>
            <a:ext cx="123444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958584" y="1828800"/>
            <a:ext cx="96012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922008" y="1901952"/>
            <a:ext cx="103327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054596" y="2816352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F2A00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867144" y="281635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7918704" y="2286000"/>
            <a:ext cx="123444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042148" y="1828800"/>
            <a:ext cx="960120" cy="914400"/>
          </a:xfrm>
          <a:prstGeom prst="roundRect">
            <a:avLst>
              <a:gd name="adj" fmla="val 6000"/>
            </a:avLst>
          </a:prstGeom>
          <a:solidFill>
            <a:srgbClr val="0E3B6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005572" y="1901952"/>
            <a:ext cx="103327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138160" y="2816352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F2A007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950708" y="281635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730" dirty="0"/>
          </a:p>
        </p:txBody>
      </p:sp>
      <p:sp>
        <p:nvSpPr>
          <p:cNvPr id="44" name="Shape 42"/>
          <p:cNvSpPr/>
          <p:nvPr/>
        </p:nvSpPr>
        <p:spPr>
          <a:xfrm>
            <a:off x="9002268" y="2286000"/>
            <a:ext cx="123444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125712" y="1828800"/>
            <a:ext cx="96012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089136" y="1901952"/>
            <a:ext cx="103327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9221724" y="2816352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F2A007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034272" y="281635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Devs</a:t>
            </a:r>
            <a:endParaRPr lang="en-US" sz="730" dirty="0"/>
          </a:p>
        </p:txBody>
      </p:sp>
      <p:sp>
        <p:nvSpPr>
          <p:cNvPr id="49" name="Shape 47"/>
          <p:cNvSpPr/>
          <p:nvPr/>
        </p:nvSpPr>
        <p:spPr>
          <a:xfrm>
            <a:off x="10085832" y="2286000"/>
            <a:ext cx="123444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0209276" y="1828800"/>
            <a:ext cx="960120" cy="914400"/>
          </a:xfrm>
          <a:prstGeom prst="roundRect">
            <a:avLst>
              <a:gd name="adj" fmla="val 6000"/>
            </a:avLst>
          </a:prstGeom>
          <a:solidFill>
            <a:srgbClr val="0E3B63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0172700" y="1901952"/>
            <a:ext cx="103327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0305288" y="2816352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F2A007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0117836" y="281635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Freshers (CCB)</a:t>
            </a:r>
            <a:endParaRPr lang="en-US" sz="730" dirty="0"/>
          </a:p>
        </p:txBody>
      </p:sp>
      <p:sp>
        <p:nvSpPr>
          <p:cNvPr id="54" name="Shape 52"/>
          <p:cNvSpPr/>
          <p:nvPr/>
        </p:nvSpPr>
        <p:spPr>
          <a:xfrm>
            <a:off x="457200" y="3703320"/>
            <a:ext cx="112471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0000"/>
              </a:srgbClr>
            </a:outerShdw>
          </a:effectLst>
        </p:spPr>
      </p:sp>
      <p:sp>
        <p:nvSpPr>
          <p:cNvPr id="55" name="Text 53"/>
          <p:cNvSpPr txBox="1"/>
          <p:nvPr/>
        </p:nvSpPr>
        <p:spPr>
          <a:xfrm>
            <a:off x="68580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Key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85800" y="4251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8580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CEO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1280160" y="4297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Executive Officer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4343400" y="4251960"/>
            <a:ext cx="457200" cy="45720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34340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4937760" y="4297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8001000" y="4251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800100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8595360" y="4297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685800" y="5029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68580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128016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Analyst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4343400" y="5029200"/>
            <a:ext cx="457200" cy="45720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434340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493776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8001000" y="5029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800100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CCB</a:t>
            </a:r>
            <a:endParaRPr lang="en-US" sz="1100" dirty="0"/>
          </a:p>
        </p:txBody>
      </p:sp>
      <p:sp>
        <p:nvSpPr>
          <p:cNvPr id="73" name="Text 71"/>
          <p:cNvSpPr txBox="1"/>
          <p:nvPr/>
        </p:nvSpPr>
        <p:spPr>
          <a:xfrm>
            <a:off x="859536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 Board</a:t>
            </a:r>
            <a:endParaRPr lang="en-US" sz="1150" dirty="0"/>
          </a:p>
        </p:txBody>
      </p:sp>
      <p:sp>
        <p:nvSpPr>
          <p:cNvPr id="74" name="Text 72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MODELS  |  UNIT 1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Generations of SDLC Models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3566160" cy="685800"/>
          </a:xfrm>
          <a:prstGeom prst="roundRect">
            <a:avLst>
              <a:gd name="adj" fmla="val 13333"/>
            </a:avLst>
          </a:prstGeom>
          <a:solidFill>
            <a:srgbClr val="0E3B6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901952"/>
            <a:ext cx="3566160" cy="338328"/>
          </a:xfrm>
          <a:prstGeom prst="rect">
            <a:avLst/>
          </a:prstGeom>
          <a:solidFill>
            <a:srgbClr val="0E3B6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5544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1st Generation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365760" cy="36576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4505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Model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2953512"/>
            <a:ext cx="365760" cy="36576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9352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Model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3438144"/>
            <a:ext cx="365760" cy="36576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4198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 Model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3922776"/>
            <a:ext cx="365760" cy="36576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922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9044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Model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4407408"/>
            <a:ext cx="365760" cy="36576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407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389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 Model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4983480"/>
            <a:ext cx="3108960" cy="822960"/>
          </a:xfrm>
          <a:prstGeom prst="roundRect">
            <a:avLst>
              <a:gd name="adj" fmla="val 6667"/>
            </a:avLst>
          </a:prstGeom>
          <a:solidFill>
            <a:srgbClr val="F5F9FC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9834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comes after coding only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51960" y="155448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51960" y="1554480"/>
            <a:ext cx="3566160" cy="68580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4251960" y="1901952"/>
            <a:ext cx="3566160" cy="3383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251960" y="15544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2nd Generation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526280" y="24688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2628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0" y="24505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Model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526280" y="295351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2628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0" y="29352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V-Model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480560" y="4983480"/>
            <a:ext cx="3108960" cy="822960"/>
          </a:xfrm>
          <a:prstGeom prst="roundRect">
            <a:avLst>
              <a:gd name="adj" fmla="val 6667"/>
            </a:avLst>
          </a:prstGeom>
          <a:solidFill>
            <a:srgbClr val="F5F9FC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617720" y="49834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comes in every stage of development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046720" y="155448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046720" y="1554480"/>
            <a:ext cx="3566160" cy="685800"/>
          </a:xfrm>
          <a:prstGeom prst="roundRect">
            <a:avLst>
              <a:gd name="adj" fmla="val 13333"/>
            </a:avLst>
          </a:prstGeom>
          <a:solidFill>
            <a:srgbClr val="F2A007"/>
          </a:solidFill>
          <a:ln/>
        </p:spPr>
      </p:sp>
      <p:sp>
        <p:nvSpPr>
          <p:cNvPr id="39" name="Shape 37"/>
          <p:cNvSpPr/>
          <p:nvPr/>
        </p:nvSpPr>
        <p:spPr>
          <a:xfrm>
            <a:off x="8046720" y="1901952"/>
            <a:ext cx="3566160" cy="338328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046720" y="15544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3rd Generation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8321040" y="2468880"/>
            <a:ext cx="365760" cy="36576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32104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823960" y="24505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(Scrum)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321040" y="2953512"/>
            <a:ext cx="365760" cy="36576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32104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8823960" y="29352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8275320" y="4983480"/>
            <a:ext cx="3108960" cy="822960"/>
          </a:xfrm>
          <a:prstGeom prst="roundRect">
            <a:avLst>
              <a:gd name="adj" fmla="val 6667"/>
            </a:avLst>
          </a:prstGeom>
          <a:solidFill>
            <a:srgbClr val="F5F9FC"/>
          </a:solidFill>
          <a:ln w="9525">
            <a:solidFill>
              <a:srgbClr val="CFE3E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412480" y="49834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comes in every stage of development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MODELS  |  UNIT 1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GENERATION · LINEAR SEQUENTIAL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Waterfall Model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Followable when requirements are clear.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0E3B63"/>
          </a:solidFill>
          <a:ln/>
          <a:effectLst>
            <a:outerShdw blurRad="508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1554480"/>
            <a:ext cx="1417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965960" y="1943100"/>
            <a:ext cx="155448" cy="384048"/>
          </a:xfrm>
          <a:prstGeom prst="line">
            <a:avLst/>
          </a:prstGeom>
          <a:noFill/>
          <a:ln w="15875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03120" y="1938528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  <a:effectLst>
            <a:outerShdw blurRad="508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103120" y="1938528"/>
            <a:ext cx="1417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20440" y="2327148"/>
            <a:ext cx="155448" cy="384048"/>
          </a:xfrm>
          <a:prstGeom prst="line">
            <a:avLst/>
          </a:prstGeom>
          <a:noFill/>
          <a:ln w="15875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57600" y="2322576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0E3B63"/>
          </a:solidFill>
          <a:ln/>
          <a:effectLst>
            <a:outerShdw blurRad="508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657600" y="2322576"/>
            <a:ext cx="1417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74920" y="2711196"/>
            <a:ext cx="155448" cy="384048"/>
          </a:xfrm>
          <a:prstGeom prst="line">
            <a:avLst/>
          </a:prstGeom>
          <a:noFill/>
          <a:ln w="15875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12080" y="2706624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  <a:effectLst>
            <a:outerShdw blurRad="508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212080" y="2706624"/>
            <a:ext cx="1417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29400" y="3095244"/>
            <a:ext cx="155448" cy="384048"/>
          </a:xfrm>
          <a:prstGeom prst="line">
            <a:avLst/>
          </a:prstGeom>
          <a:noFill/>
          <a:ln w="15875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766560" y="3090672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0E3B63"/>
          </a:solidFill>
          <a:ln/>
          <a:effectLst>
            <a:outerShdw blurRad="508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766560" y="3090672"/>
            <a:ext cx="1417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83880" y="3479292"/>
            <a:ext cx="155448" cy="384048"/>
          </a:xfrm>
          <a:prstGeom prst="line">
            <a:avLst/>
          </a:prstGeom>
          <a:noFill/>
          <a:ln w="15875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321040" y="347472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  <a:effectLst>
            <a:outerShdw blurRad="508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321040" y="3474720"/>
            <a:ext cx="1417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738360" y="3863340"/>
            <a:ext cx="155448" cy="384048"/>
          </a:xfrm>
          <a:prstGeom prst="line">
            <a:avLst/>
          </a:prstGeom>
          <a:noFill/>
          <a:ln w="15875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875520" y="3858768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0E3B63"/>
          </a:solidFill>
          <a:ln/>
          <a:effectLst>
            <a:outerShdw blurRad="508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875520" y="3858768"/>
            <a:ext cx="1417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516636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0B2E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516636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timing: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all 1st-gen models, testing comes only after coding, and the same developers conduct that testing (since no dedicated testers exist at this stage).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MODELS  |  UNIT 1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GENERATION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Incremental Model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client requirements are huge — software is developed increment by increment.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691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169164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0E3B6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828800" y="16916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63240" y="1943100"/>
            <a:ext cx="228600" cy="0"/>
          </a:xfrm>
          <a:prstGeom prst="line">
            <a:avLst/>
          </a:prstGeom>
          <a:noFill/>
          <a:ln w="15875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91840" y="169164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0E3B6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91840" y="16916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1943100"/>
            <a:ext cx="228600" cy="0"/>
          </a:xfrm>
          <a:prstGeom prst="line">
            <a:avLst/>
          </a:prstGeom>
          <a:noFill/>
          <a:ln w="15875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54880" y="169164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0E3B6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54880" y="16916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1943100"/>
            <a:ext cx="228600" cy="0"/>
          </a:xfrm>
          <a:prstGeom prst="line">
            <a:avLst/>
          </a:prstGeom>
          <a:noFill/>
          <a:ln w="15875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169164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0E3B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16916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52360" y="1943100"/>
            <a:ext cx="228600" cy="0"/>
          </a:xfrm>
          <a:prstGeom prst="line">
            <a:avLst/>
          </a:prstGeom>
          <a:noFill/>
          <a:ln w="15875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80960" y="169164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0E3B6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680960" y="16916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15400" y="1943100"/>
            <a:ext cx="228600" cy="0"/>
          </a:xfrm>
          <a:prstGeom prst="line">
            <a:avLst/>
          </a:prstGeom>
          <a:noFill/>
          <a:ln w="15875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44000" y="169164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0E3B6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0" y="16916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R&amp;M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469880" y="16916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" y="2606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828800" y="260604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828800" y="2606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063240" y="2857500"/>
            <a:ext cx="228600" cy="0"/>
          </a:xfrm>
          <a:prstGeom prst="line">
            <a:avLst/>
          </a:prstGeom>
          <a:noFill/>
          <a:ln w="15875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291840" y="260604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291840" y="2606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26280" y="2857500"/>
            <a:ext cx="228600" cy="0"/>
          </a:xfrm>
          <a:prstGeom prst="line">
            <a:avLst/>
          </a:prstGeom>
          <a:noFill/>
          <a:ln w="15875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754880" y="260604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754880" y="2606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89320" y="2857500"/>
            <a:ext cx="228600" cy="0"/>
          </a:xfrm>
          <a:prstGeom prst="line">
            <a:avLst/>
          </a:prstGeom>
          <a:noFill/>
          <a:ln w="15875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217920" y="260604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217920" y="2606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452360" y="2857500"/>
            <a:ext cx="228600" cy="0"/>
          </a:xfrm>
          <a:prstGeom prst="line">
            <a:avLst/>
          </a:prstGeom>
          <a:noFill/>
          <a:ln w="15875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680960" y="260604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680960" y="2606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915400" y="2857500"/>
            <a:ext cx="228600" cy="0"/>
          </a:xfrm>
          <a:prstGeom prst="line">
            <a:avLst/>
          </a:prstGeom>
          <a:noFill/>
          <a:ln w="15875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144000" y="260604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144000" y="2606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R&amp;M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10469880" y="2606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365760" y="3520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3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828800" y="352044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F2A007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828800" y="35204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063240" y="3771900"/>
            <a:ext cx="228600" cy="0"/>
          </a:xfrm>
          <a:prstGeom prst="line">
            <a:avLst/>
          </a:prstGeom>
          <a:noFill/>
          <a:ln w="15875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3291840" y="352044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F2A007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3291840" y="35204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26280" y="3771900"/>
            <a:ext cx="228600" cy="0"/>
          </a:xfrm>
          <a:prstGeom prst="line">
            <a:avLst/>
          </a:prstGeom>
          <a:noFill/>
          <a:ln w="15875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4754880" y="352044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F2A007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4754880" y="35204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989320" y="3771900"/>
            <a:ext cx="228600" cy="0"/>
          </a:xfrm>
          <a:prstGeom prst="line">
            <a:avLst/>
          </a:prstGeom>
          <a:noFill/>
          <a:ln w="15875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6217920" y="352044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F2A007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217920" y="35204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452360" y="3771900"/>
            <a:ext cx="228600" cy="0"/>
          </a:xfrm>
          <a:prstGeom prst="line">
            <a:avLst/>
          </a:prstGeom>
          <a:noFill/>
          <a:ln w="15875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7680960" y="352044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F2A007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7680960" y="35204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915400" y="3771900"/>
            <a:ext cx="228600" cy="0"/>
          </a:xfrm>
          <a:prstGeom prst="line">
            <a:avLst/>
          </a:prstGeom>
          <a:noFill/>
          <a:ln w="15875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9144000" y="352044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F2A00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144000" y="35204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R&amp;M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10469880" y="3520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828800" y="4160520"/>
            <a:ext cx="87782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63" name="Text 61"/>
          <p:cNvSpPr txBox="1"/>
          <p:nvPr/>
        </p:nvSpPr>
        <p:spPr>
          <a:xfrm>
            <a:off x="182880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→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48640" y="5074920"/>
            <a:ext cx="365760" cy="36576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548640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SRG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1005840" y="5093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 (BA)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297680" y="5074920"/>
            <a:ext cx="365760" cy="36576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4297680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4754880" y="5093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(SA)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8046720" y="5074920"/>
            <a:ext cx="365760" cy="36576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8046720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900" dirty="0"/>
          </a:p>
        </p:txBody>
      </p:sp>
      <p:sp>
        <p:nvSpPr>
          <p:cNvPr id="72" name="Text 70"/>
          <p:cNvSpPr txBox="1"/>
          <p:nvPr/>
        </p:nvSpPr>
        <p:spPr>
          <a:xfrm>
            <a:off x="8503920" y="5093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(TA)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548640" y="5577840"/>
            <a:ext cx="365760" cy="36576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548640" y="5577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1005840" y="5596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(Developers)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4297680" y="5577840"/>
            <a:ext cx="365760" cy="36576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4297680" y="5577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900" dirty="0"/>
          </a:p>
        </p:txBody>
      </p:sp>
      <p:sp>
        <p:nvSpPr>
          <p:cNvPr id="78" name="Text 76"/>
          <p:cNvSpPr txBox="1"/>
          <p:nvPr/>
        </p:nvSpPr>
        <p:spPr>
          <a:xfrm>
            <a:off x="4754880" y="5596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(same developers)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8046720" y="5577840"/>
            <a:ext cx="365760" cy="36576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8046720" y="5577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R&amp;M</a:t>
            </a:r>
            <a:endParaRPr lang="en-US" sz="900" dirty="0"/>
          </a:p>
        </p:txBody>
      </p:sp>
      <p:sp>
        <p:nvSpPr>
          <p:cNvPr id="81" name="Text 79"/>
          <p:cNvSpPr txBox="1"/>
          <p:nvPr/>
        </p:nvSpPr>
        <p:spPr>
          <a:xfrm>
            <a:off x="8503920" y="5596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&amp; Maintenance (CCB / freshers)</a:t>
            </a:r>
            <a:endParaRPr lang="en-US" sz="1050" dirty="0"/>
          </a:p>
        </p:txBody>
      </p:sp>
      <p:sp>
        <p:nvSpPr>
          <p:cNvPr id="82" name="Text 80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MODELS  |  UNIT 1</a:t>
            </a:r>
            <a:endParaRPr lang="en-US" sz="900" dirty="0"/>
          </a:p>
        </p:txBody>
      </p:sp>
      <p:sp>
        <p:nvSpPr>
          <p:cNvPr id="83" name="Text 81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GENERATION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Spiral Model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client requirements keep enhancing regularly — each sprint is released after enhancing as required.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88720" y="2057400"/>
            <a:ext cx="4206240" cy="4206240"/>
          </a:xfrm>
          <a:prstGeom prst="ellipse">
            <a:avLst/>
          </a:prstGeom>
          <a:ln w="31750">
            <a:solidFill>
              <a:srgbClr val="CF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2697480"/>
            <a:ext cx="2926080" cy="2926080"/>
          </a:xfrm>
          <a:prstGeom prst="ellipse">
            <a:avLst/>
          </a:prstGeom>
          <a:ln w="3175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3337560"/>
            <a:ext cx="1645920" cy="1645920"/>
          </a:xfrm>
          <a:prstGeom prst="ellipse">
            <a:avLst/>
          </a:prstGeom>
          <a:ln w="31750">
            <a:solidFill>
              <a:srgbClr val="0E3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4160520"/>
            <a:ext cx="4206240" cy="0"/>
          </a:xfrm>
          <a:prstGeom prst="line">
            <a:avLst/>
          </a:prstGeom>
          <a:noFill/>
          <a:ln w="12700">
            <a:solidFill>
              <a:srgbClr val="5C7A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2057400"/>
            <a:ext cx="0" cy="4206240"/>
          </a:xfrm>
          <a:prstGeom prst="line">
            <a:avLst/>
          </a:prstGeom>
          <a:noFill/>
          <a:ln w="12700">
            <a:solidFill>
              <a:srgbClr val="5C7A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1800" y="3840480"/>
            <a:ext cx="640080" cy="64008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7180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1600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gathering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1600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/ Design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4297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/ Testing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526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/ Release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(need to enhance)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691640"/>
            <a:ext cx="55778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5508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55080" y="237744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233172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loop of the spiral repeats: requirements → analysis → design → coding → testing → release.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55080" y="3246120"/>
            <a:ext cx="320040" cy="32004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5508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20040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release, the software is enhanced again based on new or changed client needs.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55080" y="411480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5508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406908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spiral keeps growing outward as more enhancements are added over time.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55080" y="4983480"/>
            <a:ext cx="320040" cy="32004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55080" y="4983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12280" y="493776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to projects where scope evolves and feedback drives the next round.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MODELS  |  UNIT 1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GENERATION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 Model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 = Rapid Application Development Model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0B2E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model, organizations can develop software by integrating existing, already-available components — existing websites or apps are replaced with the client's requirements.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81048" y="283464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981048" y="2834640"/>
            <a:ext cx="23774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07128" y="283464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07128" y="2834640"/>
            <a:ext cx="23774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33208" y="283464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33208" y="2834640"/>
            <a:ext cx="23774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5848" y="3886200"/>
            <a:ext cx="0" cy="502920"/>
          </a:xfrm>
          <a:prstGeom prst="line">
            <a:avLst/>
          </a:prstGeom>
          <a:noFill/>
          <a:ln w="25400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75608" y="443484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F2A00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75608" y="4434840"/>
            <a:ext cx="38404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Software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(built by combining components)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76072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5F9FC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57607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In all five 1st-generation models, testing comes after coding, and the same developers conduct that testing (no dedicated testers yet).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MODELS  |  UNIT 1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GENERATION · BY P. NAGESWARA RAO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Fish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201168" cy="201168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20040" y="191109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783080" y="2130552"/>
            <a:ext cx="201168" cy="201168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80160" y="23500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BRS (BA)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23544" y="1792224"/>
            <a:ext cx="960120" cy="438912"/>
          </a:xfrm>
          <a:prstGeom prst="line">
            <a:avLst/>
          </a:prstGeom>
          <a:noFill/>
          <a:ln w="25400">
            <a:solidFill>
              <a:srgbClr val="0E3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2569464"/>
            <a:ext cx="201168" cy="201168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240280" y="2788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(SA)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83664" y="2231136"/>
            <a:ext cx="960120" cy="438912"/>
          </a:xfrm>
          <a:prstGeom prst="line">
            <a:avLst/>
          </a:prstGeom>
          <a:noFill/>
          <a:ln w="25400">
            <a:solidFill>
              <a:srgbClr val="0E3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3008376"/>
            <a:ext cx="201168" cy="201168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00400" y="32278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HLD (TA)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843784" y="2670048"/>
            <a:ext cx="960120" cy="438912"/>
          </a:xfrm>
          <a:prstGeom prst="line">
            <a:avLst/>
          </a:prstGeom>
          <a:noFill/>
          <a:ln w="25400">
            <a:solidFill>
              <a:srgbClr val="0E3B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3447288"/>
            <a:ext cx="201168" cy="201168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160520" y="36667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LLD (TA)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03904" y="3108960"/>
            <a:ext cx="960120" cy="438912"/>
          </a:xfrm>
          <a:prstGeom prst="line">
            <a:avLst/>
          </a:prstGeom>
          <a:noFill/>
          <a:ln w="25400">
            <a:solidFill>
              <a:srgbClr val="0E3B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64024" y="3547872"/>
            <a:ext cx="914400" cy="274320"/>
          </a:xfrm>
          <a:prstGeom prst="line">
            <a:avLst/>
          </a:prstGeom>
          <a:noFill/>
          <a:ln w="25400">
            <a:solidFill>
              <a:srgbClr val="0E3B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3721608"/>
            <a:ext cx="201168" cy="201168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120640" y="394106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(Dev)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 flipV="1">
            <a:off x="5678424" y="3383280"/>
            <a:ext cx="960120" cy="43891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3282696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035040" y="27157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 flipV="1">
            <a:off x="6638544" y="2944368"/>
            <a:ext cx="960120" cy="43891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2843784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95160" y="227685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 flipV="1">
            <a:off x="7598664" y="2505456"/>
            <a:ext cx="960120" cy="43891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58200" y="240487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955280" y="183794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S/W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 flipV="1">
            <a:off x="8558784" y="2066544"/>
            <a:ext cx="960120" cy="43891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418320" y="196596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915400" y="1399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 flipV="1">
            <a:off x="9518904" y="1627632"/>
            <a:ext cx="960120" cy="43891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378440" y="1527048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875520" y="960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5349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5623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documents like BRS, SRS, HLD &amp; LLD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7589520" y="5349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0" y="56235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programs, program inter-connections &amp; the whole software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02920" y="6053328"/>
            <a:ext cx="11201400" cy="411480"/>
          </a:xfrm>
          <a:prstGeom prst="roundRect">
            <a:avLst>
              <a:gd name="adj" fmla="val 13333"/>
            </a:avLst>
          </a:prstGeom>
          <a:solidFill>
            <a:srgbClr val="F5F9FC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31520" y="60533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comes in every stage. Once software testing is complete, the software goes in front of the client.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MODELS  |  UNIT 1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GENERATION · BY W. E. PERRY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V-Model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“V” stands for Verification and Validation — shaped like a V because some testing stages depend on documents.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645920" y="1554480"/>
            <a:ext cx="292608" cy="292608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1417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BRS (BA)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1773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(same role)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0058400" y="15544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37844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2423160"/>
            <a:ext cx="292608" cy="292608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25880" y="2286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(SA)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6426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(same role)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006840" y="242316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32688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S/W Testing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92224" y="1700784"/>
            <a:ext cx="1051560" cy="868680"/>
          </a:xfrm>
          <a:prstGeom prst="line">
            <a:avLst/>
          </a:prstGeom>
          <a:noFill/>
          <a:ln w="25400">
            <a:solidFill>
              <a:srgbClr val="0E3B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53144" y="1700784"/>
            <a:ext cx="1051560" cy="8686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3291840"/>
            <a:ext cx="292608" cy="292608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377440" y="3154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HLD (TA)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377440" y="35112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(same role)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955280" y="329184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75320" y="3154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43784" y="2569464"/>
            <a:ext cx="1051560" cy="868680"/>
          </a:xfrm>
          <a:prstGeom prst="line">
            <a:avLst/>
          </a:prstGeom>
          <a:noFill/>
          <a:ln w="25400">
            <a:solidFill>
              <a:srgbClr val="0E3B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01584" y="2569464"/>
            <a:ext cx="1051560" cy="8686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4160520"/>
            <a:ext cx="292608" cy="292608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29000" y="4023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LLD (TA)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429000" y="43799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(same role)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03720" y="416052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223760" y="4023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95344" y="3438144"/>
            <a:ext cx="1051560" cy="868680"/>
          </a:xfrm>
          <a:prstGeom prst="line">
            <a:avLst/>
          </a:prstGeom>
          <a:noFill/>
          <a:ln w="25400">
            <a:solidFill>
              <a:srgbClr val="0E3B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50024" y="3438144"/>
            <a:ext cx="1051560" cy="8686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46904" y="4306824"/>
            <a:ext cx="1051560" cy="640080"/>
          </a:xfrm>
          <a:prstGeom prst="line">
            <a:avLst/>
          </a:prstGeom>
          <a:noFill/>
          <a:ln w="25400">
            <a:solidFill>
              <a:srgbClr val="0E3B6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52160" y="4800600"/>
            <a:ext cx="10515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05856" y="4654296"/>
            <a:ext cx="292608" cy="292608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846320" y="4937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(Developers)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Integration Testing: same developers  ·  S/W Testing: separate testing team  ·  Acceptance Testing: developers + testers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MODELS  |  UNIT 1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GENERATION · TAKEAWAYS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Fish Model vs V-Model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0020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0E3B6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874520"/>
            <a:ext cx="5394960" cy="274320"/>
          </a:xfrm>
          <a:prstGeom prst="rect">
            <a:avLst/>
          </a:prstGeom>
          <a:solidFill>
            <a:srgbClr val="0E3B6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002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Fish Model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432304"/>
            <a:ext cx="109728" cy="109728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22860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Quality-guaranteed model — but time-taking and costly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209544"/>
            <a:ext cx="109728" cy="109728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0632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satellites, aeronautical, health, robotics, etc.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60020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6172200" y="1874520"/>
            <a:ext cx="539496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72200" y="16002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V-Model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46520" y="243230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75120" y="22860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banking, financial services, insurance (BFSI), e-commerce, healthcare, logistics, etc.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320954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75120" y="30632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Decreases budget and time, while still assuring quality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11247120" cy="1965960"/>
          </a:xfrm>
          <a:prstGeom prst="roundRect">
            <a:avLst>
              <a:gd name="adj" fmla="val 4651"/>
            </a:avLst>
          </a:prstGeom>
          <a:solidFill>
            <a:srgbClr val="0B2E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297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0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Note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6634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2nd-generation SDLC models (Fish and V-Model), client interactions are very less during the process — the client mainly sees the software during acceptance testing and release, unlike 1st-gen models where the client may be more involved earlier.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MODELS  |  UNIT 1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GENERATION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3rd-Gen Models Value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0E3B63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Individuals &amp; Interactions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060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processes and tools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0E3B63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828800"/>
            <a:ext cx="548640" cy="54864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Software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6060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comprehensive documentation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0E3B63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069080"/>
            <a:ext cx="548640" cy="54864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0233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Collaboration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463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contract negotiation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0E3B63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069080"/>
            <a:ext cx="548640" cy="54864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0233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Responding to Change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8463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following a plan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5989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following these values use 3rd-generation SDLC models like Agile Scrum and DevOps.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MODELS  |  UNIT 1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GENERATION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Model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+ Spiral — software is built and released sprint by sprint.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17520" y="3352190"/>
            <a:ext cx="1280160" cy="793699"/>
          </a:xfrm>
          <a:prstGeom prst="ellipse">
            <a:avLst/>
          </a:prstGeom>
          <a:ln w="254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14600" y="3040380"/>
            <a:ext cx="2286000" cy="1417320"/>
          </a:xfrm>
          <a:prstGeom prst="ellipse">
            <a:avLst/>
          </a:prstGeom>
          <a:ln w="25400">
            <a:solidFill>
              <a:srgbClr val="0E3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2728570"/>
            <a:ext cx="3291840" cy="2040941"/>
          </a:xfrm>
          <a:prstGeom prst="ellipse">
            <a:avLst/>
          </a:prstGeom>
          <a:ln w="254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2416759"/>
            <a:ext cx="4297680" cy="2664562"/>
          </a:xfrm>
          <a:prstGeom prst="ellipse">
            <a:avLst/>
          </a:prstGeom>
          <a:ln w="25400">
            <a:solidFill>
              <a:srgbClr val="0E3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87952" y="3639312"/>
            <a:ext cx="219456" cy="219456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931920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90872" y="3639312"/>
            <a:ext cx="219456" cy="219456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34840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93792" y="3639312"/>
            <a:ext cx="219456" cy="219456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37760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96712" y="3639312"/>
            <a:ext cx="219456" cy="219456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40680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154680" y="34747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92240" y="160020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720840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CYCLE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2103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sprint is released to the client (old sprint uninstalled, new sprint installed) until the whole software is delivered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27249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20840" y="29992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sprint's development &amp; testing takes 30 days (working days)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36210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389534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members — developers + testers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720840" y="45171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CONTENT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479145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sprint = previous sprint + a combination of extra modules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54132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56875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sprint is a piece of software that is useful to the client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MODELS  |  UNIT 1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GENERATION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extension to Agile that suggests specific tools for development and operations, run by one team.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737360"/>
            <a:ext cx="2286000" cy="658368"/>
          </a:xfrm>
          <a:prstGeom prst="roundRect">
            <a:avLst>
              <a:gd name="adj" fmla="val 9722"/>
            </a:avLst>
          </a:prstGeom>
          <a:solidFill>
            <a:srgbClr val="0E3B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373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14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57400" y="2395728"/>
            <a:ext cx="0" cy="310896"/>
          </a:xfrm>
          <a:prstGeom prst="line">
            <a:avLst/>
          </a:prstGeom>
          <a:noFill/>
          <a:ln w="19050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2706624"/>
            <a:ext cx="2286000" cy="658368"/>
          </a:xfrm>
          <a:prstGeom prst="roundRect">
            <a:avLst>
              <a:gd name="adj" fmla="val 9722"/>
            </a:avLst>
          </a:prstGeom>
          <a:solidFill>
            <a:srgbClr val="0E3B6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70662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57400" y="3364992"/>
            <a:ext cx="0" cy="310896"/>
          </a:xfrm>
          <a:prstGeom prst="line">
            <a:avLst/>
          </a:prstGeom>
          <a:noFill/>
          <a:ln w="19050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4400" y="3675888"/>
            <a:ext cx="2286000" cy="658368"/>
          </a:xfrm>
          <a:prstGeom prst="roundRect">
            <a:avLst>
              <a:gd name="adj" fmla="val 9722"/>
            </a:avLst>
          </a:prstGeom>
          <a:solidFill>
            <a:srgbClr val="0E3B6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67588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352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/ Ant / Gradle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57400" y="4334256"/>
            <a:ext cx="0" cy="310896"/>
          </a:xfrm>
          <a:prstGeom prst="line">
            <a:avLst/>
          </a:prstGeom>
          <a:noFill/>
          <a:ln w="19050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4400" y="4645152"/>
            <a:ext cx="2286000" cy="658368"/>
          </a:xfrm>
          <a:prstGeom prst="roundRect">
            <a:avLst>
              <a:gd name="adj" fmla="val 9722"/>
            </a:avLst>
          </a:prstGeom>
          <a:solidFill>
            <a:srgbClr val="0E3B6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64515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321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/ Appium / SoapUI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80560" y="3246120"/>
            <a:ext cx="2103120" cy="100584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480560" y="3246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0" y="3035808"/>
            <a:ext cx="1280160" cy="0"/>
          </a:xfrm>
          <a:prstGeom prst="line">
            <a:avLst/>
          </a:prstGeom>
          <a:noFill/>
          <a:ln w="19050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52560" y="1737360"/>
            <a:ext cx="2286000" cy="822960"/>
          </a:xfrm>
          <a:prstGeom prst="roundRect">
            <a:avLst>
              <a:gd name="adj" fmla="val 7778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052560" y="1737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25786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Puppet, Salt Stack, Ansible, Chef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052560" y="2880360"/>
            <a:ext cx="2286000" cy="822960"/>
          </a:xfrm>
          <a:prstGeom prst="roundRect">
            <a:avLst>
              <a:gd name="adj" fmla="val 7778"/>
            </a:avLst>
          </a:prstGeom>
          <a:solidFill>
            <a:srgbClr val="1C72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052560" y="2880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052560" y="4023360"/>
            <a:ext cx="2286000" cy="822960"/>
          </a:xfrm>
          <a:prstGeom prst="roundRect">
            <a:avLst>
              <a:gd name="adj" fmla="val 7778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052560" y="4023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052560" y="48646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Nagios, Splunk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905256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83680" y="3749040"/>
            <a:ext cx="2468880" cy="0"/>
          </a:xfrm>
          <a:prstGeom prst="line">
            <a:avLst/>
          </a:prstGeom>
          <a:noFill/>
          <a:ln w="19050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052560" y="3131820"/>
            <a:ext cx="0" cy="617220"/>
          </a:xfrm>
          <a:prstGeom prst="line">
            <a:avLst/>
          </a:prstGeom>
          <a:noFill/>
          <a:ln w="19050">
            <a:solidFill>
              <a:srgbClr val="5C7A9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580644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5F9FC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58064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orchestration tools: Jenkins, Hudson, Bamboo  ·  Everything is run by one team, not separate Dev and Ops teams.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MODELS  |  UNIT 1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REVISION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Models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47120" cy="457200"/>
          </a:xfrm>
          <a:prstGeom prst="roundRect">
            <a:avLst>
              <a:gd name="adj" fmla="val 12000"/>
            </a:avLst>
          </a:prstGeom>
          <a:solidFill>
            <a:srgbClr val="0B2E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6002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880360" y="1600200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692640" y="1600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FE3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" y="2057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240280" y="2130552"/>
            <a:ext cx="502920" cy="356616"/>
          </a:xfrm>
          <a:prstGeom prst="roundRect">
            <a:avLst>
              <a:gd name="adj" fmla="val 128205"/>
            </a:avLst>
          </a:prstGeom>
          <a:solidFill>
            <a:srgbClr val="0E3B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103120" y="2130552"/>
            <a:ext cx="777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205740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are clear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692640" y="2057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coding only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11247120" cy="502920"/>
          </a:xfrm>
          <a:prstGeom prst="rect">
            <a:avLst/>
          </a:prstGeom>
          <a:solidFill>
            <a:srgbClr val="EAF2F8"/>
          </a:solidFill>
          <a:ln w="6350">
            <a:solidFill>
              <a:srgbClr val="CFE3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0352" y="2560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240280" y="2633472"/>
            <a:ext cx="502920" cy="356616"/>
          </a:xfrm>
          <a:prstGeom prst="roundRect">
            <a:avLst>
              <a:gd name="adj" fmla="val 128205"/>
            </a:avLst>
          </a:prstGeom>
          <a:solidFill>
            <a:srgbClr val="0E3B6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03120" y="2633472"/>
            <a:ext cx="777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880360" y="256032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requirements, built in parts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9692640" y="2560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coding only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FE3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0352" y="3063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240280" y="3136392"/>
            <a:ext cx="502920" cy="356616"/>
          </a:xfrm>
          <a:prstGeom prst="roundRect">
            <a:avLst>
              <a:gd name="adj" fmla="val 128205"/>
            </a:avLst>
          </a:prstGeom>
          <a:solidFill>
            <a:srgbClr val="0E3B6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103120" y="3136392"/>
            <a:ext cx="777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2880360" y="306324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enhance regularly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30632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coding only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11247120" cy="502920"/>
          </a:xfrm>
          <a:prstGeom prst="rect">
            <a:avLst/>
          </a:prstGeom>
          <a:solidFill>
            <a:srgbClr val="EAF2F8"/>
          </a:solidFill>
          <a:ln w="6350">
            <a:solidFill>
              <a:srgbClr val="CFE3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30352" y="3566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240280" y="3639312"/>
            <a:ext cx="502920" cy="356616"/>
          </a:xfrm>
          <a:prstGeom prst="roundRect">
            <a:avLst>
              <a:gd name="adj" fmla="val 128205"/>
            </a:avLst>
          </a:prstGeom>
          <a:solidFill>
            <a:srgbClr val="0E3B6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103120" y="3639312"/>
            <a:ext cx="777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2880360" y="356616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of existing components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692640" y="3566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coding only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4069080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FE3E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0352" y="4069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Model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240280" y="4142232"/>
            <a:ext cx="502920" cy="356616"/>
          </a:xfrm>
          <a:prstGeom prst="roundRect">
            <a:avLst>
              <a:gd name="adj" fmla="val 128205"/>
            </a:avLst>
          </a:prstGeom>
          <a:solidFill>
            <a:srgbClr val="1C729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103120" y="4142232"/>
            <a:ext cx="777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2880360" y="406908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Satellites, aeronautical, health, robotics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9692640" y="4069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57200" y="4572000"/>
            <a:ext cx="11247120" cy="502920"/>
          </a:xfrm>
          <a:prstGeom prst="rect">
            <a:avLst/>
          </a:prstGeom>
          <a:solidFill>
            <a:srgbClr val="EAF2F8"/>
          </a:solidFill>
          <a:ln w="6350">
            <a:solidFill>
              <a:srgbClr val="CFE3E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30352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V-Model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240280" y="4645152"/>
            <a:ext cx="502920" cy="356616"/>
          </a:xfrm>
          <a:prstGeom prst="roundRect">
            <a:avLst>
              <a:gd name="adj" fmla="val 128205"/>
            </a:avLst>
          </a:prstGeom>
          <a:solidFill>
            <a:srgbClr val="1C7293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2103120" y="4645152"/>
            <a:ext cx="777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2880360" y="457200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BFSI, e-commerce, healthcare, logistics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9692640" y="4572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57200" y="5074920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FE3E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30352" y="5074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Scrum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2240280" y="5148072"/>
            <a:ext cx="502920" cy="356616"/>
          </a:xfrm>
          <a:prstGeom prst="roundRect">
            <a:avLst>
              <a:gd name="adj" fmla="val 128205"/>
            </a:avLst>
          </a:prstGeom>
          <a:solidFill>
            <a:srgbClr val="F2A007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2103120" y="5148072"/>
            <a:ext cx="777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2880360" y="507492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delivery in sprints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5074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457200" y="5577840"/>
            <a:ext cx="11247120" cy="502920"/>
          </a:xfrm>
          <a:prstGeom prst="rect">
            <a:avLst/>
          </a:prstGeom>
          <a:solidFill>
            <a:srgbClr val="EAF2F8"/>
          </a:solidFill>
          <a:ln w="6350">
            <a:solidFill>
              <a:srgbClr val="CFE3E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30352" y="5577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2240280" y="5650992"/>
            <a:ext cx="502920" cy="356616"/>
          </a:xfrm>
          <a:prstGeom prst="roundRect">
            <a:avLst>
              <a:gd name="adj" fmla="val 128205"/>
            </a:avLst>
          </a:prstGeom>
          <a:solidFill>
            <a:srgbClr val="F2A007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2103120" y="5650992"/>
            <a:ext cx="777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2880360" y="557784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&amp; delivery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9692640" y="5577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</a:t>
            </a:r>
            <a:endParaRPr lang="en-US" sz="1150" dirty="0"/>
          </a:p>
        </p:txBody>
      </p:sp>
      <p:sp>
        <p:nvSpPr>
          <p:cNvPr id="57" name="Text 5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MODELS  |  UNIT 1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5486400" cy="548640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Luck With Your Tests!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1st gen tests after coding · 2nd &amp; 3rd gen test at every stage.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840480"/>
            <a:ext cx="2011680" cy="0"/>
          </a:xfrm>
          <a:prstGeom prst="line">
            <a:avLst/>
          </a:prstGeom>
          <a:noFill/>
          <a:ln w="38100">
            <a:solidFill>
              <a:srgbClr val="F2A00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Models  ·  Unit 1  ·  Software Testing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1499</Words>
  <Application>Microsoft Office PowerPoint</Application>
  <PresentationFormat>Widescreen</PresentationFormat>
  <Paragraphs>398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 APARNA</cp:lastModifiedBy>
  <cp:revision>2</cp:revision>
  <dcterms:created xsi:type="dcterms:W3CDTF">2026-09-04T07:48:24Z</dcterms:created>
  <dcterms:modified xsi:type="dcterms:W3CDTF">2026-09-04T07:57:29Z</dcterms:modified>
</cp:coreProperties>
</file>