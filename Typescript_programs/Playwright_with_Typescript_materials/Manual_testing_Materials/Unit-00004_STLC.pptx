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72" r:id="rId31"/>
    <p:sldId id="273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B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8D-4CDB-86F0-9BD158F561C5}"/>
              </c:ext>
            </c:extLst>
          </c:dPt>
          <c:dPt>
            <c:idx val="1"/>
            <c:bubble3D val="0"/>
            <c:spPr>
              <a:solidFill>
                <a:srgbClr val="F2A0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8D-4CDB-86F0-9BD158F561C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8D-4CDB-86F0-9BD158F561C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8D-4CDB-86F0-9BD158F561C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Development &amp; Maintenance (64%)</c:v>
                </c:pt>
                <c:pt idx="1">
                  <c:v>Testing (36%)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8D-4CDB-86F0-9BD158F561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E4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20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743200"/>
            <a:ext cx="5669280" cy="566928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47472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2743200" cy="2743200"/>
          </a:xfrm>
          <a:prstGeom prst="ellipse">
            <a:avLst/>
          </a:prstGeom>
          <a:solidFill>
            <a:srgbClr val="F2A007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·  UNIT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/ Software Testing Life Cycle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2011680" cy="0"/>
          </a:xfrm>
          <a:prstGeom prst="line">
            <a:avLst/>
          </a:prstGeom>
          <a:noFill/>
          <a:ln w="38100">
            <a:solidFill>
              <a:srgbClr val="F2A0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3075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Scrum testers plan, design, execute and close testing inside every sprint — following STLC alongside the Agile SDLC.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Notes  ·  Compiled from classroom handwritten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4708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61872" y="17922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Testing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215798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Scrum sprint testing fits inside the SDLC process.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847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76872" y="17922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 — The 5 Phases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76872" y="215798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initiation through closure, repeated every sprint.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40156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61872" y="33467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 Types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371246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vs. Optimal vs. Ad-hoc — and why Optimal wins.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401568"/>
            <a:ext cx="457200" cy="45720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76872" y="33467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 Document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371246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sections: ID, scope, business issues, TRM, roles.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956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61872" y="4901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Tools &amp; Defects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61872" y="526694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SM, QA, QC, automation and the defect-tracking workflow.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7548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95604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76872" y="4901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Planning &amp; Sizing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76872" y="526694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workbench model and developer:tester ratios.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Testing in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isn't a final phase — it's built into every sprint of the process.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8470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/ Scrum Development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general, organizations follow the Agile Scrum process for new software development.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8072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 Every Stage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1272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process, testing comes into every stage of development. Scrum team testers get involved in sprint testing per stage.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767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 per Sprint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0873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stage, Scrum team testers follow the STLC process to conduct functional and non-functional tests on the corresponding sprint, using black-box techniques.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B2E4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017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27608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does not run once per release — it runs inside every single sprint, in parallel with the development track (Design → Coding &amp; UT → Integration &amp; IT).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SDLC vs STLC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Bidding to Release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requirement to released software — where each role steps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09928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30690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76410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05010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205010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05010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5010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37698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58461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04181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3278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3278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3278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278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65469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86231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31951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6055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6055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6055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055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93239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14001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F2A007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59721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days)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8832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8832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8832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832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21009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641771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87491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1609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91609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16091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6091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848779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069542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15262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/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343862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9343862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343862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43862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76550" y="2537460"/>
            <a:ext cx="20247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497312" y="2148840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0543032" y="2148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Support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771632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0771632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771632" y="3035808"/>
            <a:ext cx="64008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71632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2920" y="3703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sprint runs a Development track (Design → Coding &amp; UT → Integration &amp; IT) in parallel with the Test track (Test Initiation → Planning → Design → Execution → Closure).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029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KEY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466344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292047" y="4892040"/>
            <a:ext cx="585216" cy="585216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4" name="Text 62"/>
          <p:cNvSpPr/>
          <p:nvPr/>
        </p:nvSpPr>
        <p:spPr>
          <a:xfrm>
            <a:off x="1292047" y="4892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557784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546958" y="48920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7" name="Text 65"/>
          <p:cNvSpPr/>
          <p:nvPr/>
        </p:nvSpPr>
        <p:spPr>
          <a:xfrm>
            <a:off x="3546958" y="4892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803550" y="557784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801868" y="4892040"/>
            <a:ext cx="585216" cy="585216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0" name="Text 68"/>
          <p:cNvSpPr/>
          <p:nvPr/>
        </p:nvSpPr>
        <p:spPr>
          <a:xfrm>
            <a:off x="5801868" y="4892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58461" y="557784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(Facilitator)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056778" y="48920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3" name="Text 71"/>
          <p:cNvSpPr/>
          <p:nvPr/>
        </p:nvSpPr>
        <p:spPr>
          <a:xfrm>
            <a:off x="8056778" y="4892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Dev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313371" y="557784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 Developer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311689" y="4892040"/>
            <a:ext cx="585216" cy="585216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6" name="Text 74"/>
          <p:cNvSpPr/>
          <p:nvPr/>
        </p:nvSpPr>
        <p:spPr>
          <a:xfrm>
            <a:off x="10311689" y="4892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Tester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568282" y="557784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Team Tester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 — The Five Phases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/ Software Testing Life Cycle, run inside each sprint.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4352" y="233172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0072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7192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9144" y="2788920"/>
            <a:ext cx="32918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5760" y="233172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1480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68600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·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70552" y="2788920"/>
            <a:ext cx="32918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7168" y="233172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72888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0008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·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1960" y="2788920"/>
            <a:ext cx="32918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48576" y="233172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94296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11416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TCs on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Sprint/S/W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13368" y="2788920"/>
            <a:ext cx="329184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69984" y="233172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2A007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15704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32824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&amp;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48576" y="402336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2A007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94296" y="4023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04531" y="3246120"/>
            <a:ext cx="0" cy="77724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29980" y="3246120"/>
            <a:ext cx="0" cy="77724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7302856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23096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modified sprint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Test Design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44068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0B2E4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5040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5824728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and Test Reporting can loop: defects reported to developers may return as a modified sprint, restarting from Test Design.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TEST INITIATION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Test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testing is impossible; Ad-hoc testing is not reasonable — so teams follow Optimal.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579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— Sprint field: “Age can take 12 to 40”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196596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5F9FC"/>
          </a:solidFill>
          <a:ln w="15875">
            <a:solidFill>
              <a:srgbClr val="CF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1965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[           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43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5C7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99232"/>
            <a:ext cx="3611880" cy="246888"/>
          </a:xfrm>
          <a:prstGeom prst="rect">
            <a:avLst/>
          </a:prstGeom>
          <a:solidFill>
            <a:srgbClr val="5C7A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Exhaustive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-∞ … 11  → invalid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758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… 40  → valid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… +∞ → invalid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462272"/>
            <a:ext cx="306324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811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ALL values.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in practice.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88536" y="2743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88536" y="2743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288536" y="2999232"/>
            <a:ext cx="361188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288536" y="2743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856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invalid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3758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12,13,39,40 → valid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6285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→ invalid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62856" y="4462272"/>
            <a:ext cx="306324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62856" y="45811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reasonable values using black-box techniques (BVA &amp; EP).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62856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strategy.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2743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19872" y="2743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2A007"/>
          </a:solidFill>
          <a:ln/>
        </p:spPr>
      </p:sp>
      <p:sp>
        <p:nvSpPr>
          <p:cNvPr id="32" name="Shape 30"/>
          <p:cNvSpPr/>
          <p:nvPr/>
        </p:nvSpPr>
        <p:spPr>
          <a:xfrm>
            <a:off x="8119872" y="2999232"/>
            <a:ext cx="3611880" cy="246888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3" name="Text 31"/>
          <p:cNvSpPr/>
          <p:nvPr/>
        </p:nvSpPr>
        <p:spPr>
          <a:xfrm>
            <a:off x="8119872" y="2743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Ad-hoc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94192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valid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94192" y="3758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valid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94192" y="4133088"/>
            <a:ext cx="306324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4251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few random values.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94192" y="5532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reasonable / thorough.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TEST INITIATION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Into a Test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PO, in IEEE 829 format, baselined by stakeholders.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856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 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1856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for the document.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1124712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15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testing in the current sprint.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1124712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57016"/>
            <a:ext cx="502920" cy="50292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5387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Issues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3538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for testing — see the cost split ahead.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15384"/>
            <a:ext cx="1124712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98264"/>
            <a:ext cx="502920" cy="50292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379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Responsibility Matrix (TRM)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43799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tests to be conducted this sprint.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056632"/>
            <a:ext cx="1124712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39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522122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52212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across the Scrum test team.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TEST INITIATION · BUSINESS ISSUES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Allocation for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project cost, a defined share is reserved for testing.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828800"/>
            <a:ext cx="57424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26364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Cost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999232"/>
            <a:ext cx="5212080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E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 </a:t>
            </a:r>
            <a:r>
              <a:rPr lang="en-US" sz="12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Maintenance (CCB)
</a:t>
            </a:r>
            <a:r>
              <a:rPr lang="en-US" sz="125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 </a:t>
            </a:r>
            <a:r>
              <a:rPr lang="en-US" sz="12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3977640"/>
            <a:ext cx="5742432" cy="2011680"/>
          </a:xfrm>
          <a:prstGeom prst="roundRect">
            <a:avLst>
              <a:gd name="adj" fmla="val 3636"/>
            </a:avLst>
          </a:prstGeom>
          <a:solidFill>
            <a:srgbClr val="0B2E4F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408736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4361688"/>
            <a:ext cx="5102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uses this split to justify tester headcount and tooling budget when preparing the Test Strategy — a documented, negotiated share rather than an afterthought.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TEST INITIATION · TRM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Responsibility Matrix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decides which testing topics are in scope for this sprint — and why.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Topics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8660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15400" y="187452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74552" cy="53035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(8 topics)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0" y="2496312"/>
            <a:ext cx="914400" cy="292608"/>
          </a:xfrm>
          <a:prstGeom prst="roundRect">
            <a:avLst>
              <a:gd name="adj" fmla="val 1562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496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1127455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07792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3026664"/>
            <a:ext cx="914400" cy="292608"/>
          </a:xfrm>
          <a:prstGeom prst="roundRect">
            <a:avLst>
              <a:gd name="adj" fmla="val 1562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30266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15400" y="2907792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11274552" cy="53035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38144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0" y="3557016"/>
            <a:ext cx="914400" cy="292608"/>
          </a:xfrm>
          <a:prstGeom prst="roundRect">
            <a:avLst>
              <a:gd name="adj" fmla="val 15625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557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15400" y="3438144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1127455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68496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H/W Configurations Testing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4087368"/>
            <a:ext cx="914400" cy="292608"/>
          </a:xfrm>
          <a:prstGeom prst="roundRect">
            <a:avLst>
              <a:gd name="adj" fmla="val 156250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15400" y="3968496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but lack of resources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498848"/>
            <a:ext cx="11274552" cy="53035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498848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5200" y="4617720"/>
            <a:ext cx="914400" cy="292608"/>
          </a:xfrm>
          <a:prstGeom prst="roundRect">
            <a:avLst>
              <a:gd name="adj" fmla="val 156250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4617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15400" y="4498848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but lack of skill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127455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02920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Testing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0" y="5148072"/>
            <a:ext cx="914400" cy="292608"/>
          </a:xfrm>
          <a:prstGeom prst="roundRect">
            <a:avLst>
              <a:gd name="adj" fmla="val 156250"/>
            </a:avLst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5148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915400" y="5029200"/>
            <a:ext cx="2770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1874520"/>
            <a:ext cx="0" cy="3685032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31752" y="1874520"/>
            <a:ext cx="0" cy="3685032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559552"/>
            <a:ext cx="11274552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ROLES &amp; RESPONSIBILITIES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defines roles in testing and each role's responsibilities.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21408"/>
            <a:ext cx="749808" cy="749808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214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0208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 (Facilitator)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Prepare the test plan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91640" y="269748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Conduct defect-tracking meetings between testers &amp; developers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584448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844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4838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Sr. Test Engineer — Quality Assurance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91640" y="38679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Prepare test cases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91640" y="41605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 defects to developers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5047488"/>
            <a:ext cx="749808" cy="74980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474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49469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Jr. Test Engineer — Quality Control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91640" y="533095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Execute test cases on sprint/software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91640" y="562356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Detect defects / tickets / issues / incidents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281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referred to collectively as STE — Software Test Engineer.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TEST AUTOMATION &amp; TESTING TOOLS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 vs. Test Automation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decides the need for automation and identifies the tools to use.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947672"/>
            <a:ext cx="640080" cy="64008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697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Stories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3282696"/>
            <a:ext cx="0" cy="27432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" y="357530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575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4160520"/>
            <a:ext cx="0" cy="27432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0120" y="445312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4531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Cases on Sprint / S/W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78240" y="194767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269748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2697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Stories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3282696"/>
            <a:ext cx="0" cy="27432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95160" y="357530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3575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Cases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98280" y="4160520"/>
            <a:ext cx="0" cy="27432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95160" y="445312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E3B63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44531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TCs into Automation Scripts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5038344"/>
            <a:ext cx="0" cy="27432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95160" y="5330952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2A007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53309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Scripts on Sprint / S/W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1920240"/>
            <a:ext cx="0" cy="4206240"/>
          </a:xfrm>
          <a:prstGeom prst="line">
            <a:avLst/>
          </a:prstGeom>
          <a:noFill/>
          <a:ln w="15875">
            <a:solidFill>
              <a:srgbClr val="CFE3E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DEFECT TRACKING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Routing Defects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defines the tracking process for defects found during testing.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0" y="1417320"/>
            <a:ext cx="1005840" cy="10058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20640" y="2651760"/>
            <a:ext cx="1463040" cy="14630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651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· SM 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72768" y="2240280"/>
            <a:ext cx="3520440" cy="0"/>
          </a:xfrm>
          <a:prstGeom prst="line">
            <a:avLst/>
          </a:prstGeom>
          <a:noFill/>
          <a:ln w="2222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517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72768" y="2423160"/>
            <a:ext cx="2880360" cy="91440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65176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60520"/>
            <a:ext cx="36118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Emails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782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MS Outlook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Lotus Notes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correspondence.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88536" y="4160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88536" y="4160520"/>
            <a:ext cx="3611880" cy="45720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23" name="Text 21"/>
          <p:cNvSpPr/>
          <p:nvPr/>
        </p:nvSpPr>
        <p:spPr>
          <a:xfrm>
            <a:off x="4288536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Defect Reporting Tools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62856" y="4782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Bugzilla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Bugtracker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62856" y="54041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JIRA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62856" y="5760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defect reports.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19872" y="4160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9872" y="4160520"/>
            <a:ext cx="3611880" cy="45720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0" name="Text 28"/>
          <p:cNvSpPr/>
          <p:nvPr/>
        </p:nvSpPr>
        <p:spPr>
          <a:xfrm>
            <a:off x="8119872" y="4160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Test Management Tools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94192" y="4782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ALM (HP)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94192" y="5760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testing documents + defect reports.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 CONFIGURATION &amp; TEST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creates a common repository for Scrum team developers and testers.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187452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0B2E4F"/>
          </a:solidFill>
          <a:ln/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86200" y="1984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REPOSITORY   ·   Server / GitHub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2377440"/>
            <a:ext cx="135331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37744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04104" y="2377440"/>
            <a:ext cx="135331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49824" y="237744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22008" y="2377440"/>
            <a:ext cx="135331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237744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CFE3EF"/>
          </a:solidFill>
          <a:ln w="12700">
            <a:solidFill>
              <a:srgbClr val="8FA9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4160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CFE3EF"/>
          </a:solidFill>
          <a:ln w="12700">
            <a:solidFill>
              <a:srgbClr val="8FA9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160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CFE3EF"/>
          </a:solidFill>
          <a:ln w="12700">
            <a:solidFill>
              <a:srgbClr val="8FA9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developers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5820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Lab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58200" y="4160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CFE3EF"/>
          </a:solidFill>
          <a:ln w="12700">
            <a:solidFill>
              <a:srgbClr val="8FA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4160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CFE3EF"/>
          </a:solidFill>
          <a:ln w="12700">
            <a:solidFill>
              <a:srgbClr val="8FA9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61320" y="41605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CFE3EF"/>
          </a:solidFill>
          <a:ln w="12700">
            <a:solidFill>
              <a:srgbClr val="8FA9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testers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80260" y="4160520"/>
            <a:ext cx="1874520" cy="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50876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download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(download optional)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3108960"/>
            <a:ext cx="1691640" cy="1051560"/>
          </a:xfrm>
          <a:prstGeom prst="line">
            <a:avLst/>
          </a:prstGeom>
          <a:noFill/>
          <a:ln w="19050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64108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launch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 METRICS  ·  X. TRAINING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&amp; Growing the Test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defines measurements to estimate tester effort, and identifies training needs.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documents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/ day (8 hrs)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828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88536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71416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documents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/ day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9872" y="1828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19872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02752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detected / day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sprint / software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0B2E4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04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17880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is responsible for identifying training needs for the Scrum team, based on gaps found in testing measurements.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·  IEEE 829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test strategy prepared by the PO follows the IEEE 829 standard for software testing (Institute of Electrical &amp; Electronics Engineers), and must be approved / baselined by stakeholders (SHs) before test planning begins.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PLANNING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Workbench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test strategy is baselined, the SM starts test planning.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103120"/>
            <a:ext cx="3246120" cy="457200"/>
          </a:xfrm>
          <a:prstGeom prst="rect">
            <a:avLst/>
          </a:prstGeom>
          <a:solidFill>
            <a:srgbClr val="0E3B6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SBL (Some User Stories)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 Strategy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94760" y="3703320"/>
            <a:ext cx="411480" cy="0"/>
          </a:xfrm>
          <a:prstGeom prst="line">
            <a:avLst/>
          </a:prstGeom>
          <a:noFill/>
          <a:ln w="2222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10312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103120"/>
            <a:ext cx="32461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7249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Team-level changes, if required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32918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 tactical risks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38587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Prepare test plan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26280" y="442569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Review test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3703320"/>
            <a:ext cx="411480" cy="0"/>
          </a:xfrm>
          <a:prstGeom prst="line">
            <a:avLst/>
          </a:prstGeom>
          <a:noFill/>
          <a:ln w="22225">
            <a:solidFill>
              <a:srgbClr val="5C7A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210312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  <a:effectLst>
            <a:outerShdw blurRad="76200" dist="25400" dir="5400000" algn="bl" rotWithShape="0">
              <a:srgbClr val="9DB6C9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2103120"/>
            <a:ext cx="3246120" cy="45720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0" y="329184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5F9FC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54864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by SM  ·  workbench: input → process → 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PLANNING · TEAM SIZING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: Tester Ratios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user-story complexity means more developer mistakes — and more testers needed to catch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Software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321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: Tester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74552" cy="86868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Client/Server &amp; Web-based (India)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2120" y="2702052"/>
            <a:ext cx="1280160" cy="402336"/>
          </a:xfrm>
          <a:prstGeom prst="roundRect">
            <a:avLst>
              <a:gd name="adj" fmla="val 11363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27020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: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69480" y="246888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BFSI, logistics, e-commerce, healthcare, real estate, commercial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745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375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(Japan)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3570732"/>
            <a:ext cx="1280160" cy="402336"/>
          </a:xfrm>
          <a:prstGeom prst="roundRect">
            <a:avLst>
              <a:gd name="adj" fmla="val 113636"/>
            </a:avLst>
          </a:prstGeom>
          <a:solidFill>
            <a:srgbClr val="0E3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35707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69480" y="333756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Telecom, H/W device drivers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1274552" cy="86868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06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/ AI (Japan)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4439412"/>
            <a:ext cx="1280160" cy="402336"/>
          </a:xfrm>
          <a:prstGeom prst="roundRect">
            <a:avLst>
              <a:gd name="adj" fmla="val 113636"/>
            </a:avLst>
          </a:prstGeom>
          <a:solidFill>
            <a:srgbClr val="F2A007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44394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9480" y="420624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Aeronautical, satellites, robotics, health equipment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1965960"/>
            <a:ext cx="0" cy="310896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31752" y="1965960"/>
            <a:ext cx="0" cy="310896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074920"/>
            <a:ext cx="11274552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34924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45896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VARIES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733288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complexity in user stories → higher chance of developer mistakes → more testers required to find those defects.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PLANNING · TACTICAL RISKS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Tactical Risks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team-level changes are finished, the Scrum Master flags risks before drafting the test plan.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99339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8716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88970" y="182880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3562" y="199339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5356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53562" y="248716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documentation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20740" y="182880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5332" y="199339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853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85332" y="248716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resources (H/W &amp; S/W)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52510" y="182880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17102" y="199339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1710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17102" y="248716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skills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63931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413308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seriousness to developers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188970" y="347472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3562" y="363931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5356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353562" y="413308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delivery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20740" y="347472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5332" y="363931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8533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085332" y="413308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budget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52510" y="3474720"/>
            <a:ext cx="250317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9DB6C9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817102" y="3639312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1710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817102" y="4133088"/>
            <a:ext cx="2173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communication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drawbacks the SM watches for while planning — flagged early so the test plan can budget around them.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TEST PLANNING · TEST PLAN DOCUMENT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Test Plan (IEEE 829)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15-part document the SM prepares after risks are identified — grouped by the question each part answers.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166360" cy="502920"/>
          </a:xfrm>
          <a:prstGeom prst="roundRect">
            <a:avLst>
              <a:gd name="adj" fmla="val 10909"/>
            </a:avLst>
          </a:prstGeom>
          <a:solidFill>
            <a:srgbClr val="0E3B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ID — title / name for the document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691640"/>
            <a:ext cx="5166360" cy="502920"/>
          </a:xfrm>
          <a:prstGeom prst="roundRect">
            <a:avLst>
              <a:gd name="adj" fmla="val 10909"/>
            </a:avLst>
          </a:prstGeom>
          <a:solidFill>
            <a:srgbClr val="0E3B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1691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about the sprint's user stories &amp; why testing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594610" cy="3429000"/>
          </a:xfrm>
          <a:prstGeom prst="roundRect">
            <a:avLst>
              <a:gd name="adj" fmla="val 2819"/>
            </a:avLst>
          </a:prstGeom>
          <a:solidFill>
            <a:srgbClr val="EA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259461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606040"/>
            <a:ext cx="259461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377440"/>
            <a:ext cx="2375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651760"/>
            <a:ext cx="2375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944368"/>
            <a:ext cx="232029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current sprint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874008"/>
            <a:ext cx="232029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to be tested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 test this sprint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803648"/>
            <a:ext cx="232029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not to be tested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Already-tested modules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8970" y="2377440"/>
            <a:ext cx="2594610" cy="3429000"/>
          </a:xfrm>
          <a:prstGeom prst="roundRect">
            <a:avLst>
              <a:gd name="adj" fmla="val 2819"/>
            </a:avLst>
          </a:prstGeom>
          <a:solidFill>
            <a:srgbClr val="EA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8970" y="2377440"/>
            <a:ext cx="259461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8970" y="2606040"/>
            <a:ext cx="259461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98698" y="2377440"/>
            <a:ext cx="2375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98698" y="2651760"/>
            <a:ext cx="2375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26130" y="2944368"/>
            <a:ext cx="2320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strategy from PO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26130" y="3409188"/>
            <a:ext cx="2320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H/W &amp; S/W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26130" y="3874008"/>
            <a:ext cx="2320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Deliverables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docs, scripts, defect &amp; status reports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26130" y="4338828"/>
            <a:ext cx="2320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Criteria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reviewed, build received, env. ready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26130" y="4803648"/>
            <a:ext cx="2320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Criteria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bug found / env. abandoned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326130" y="5268468"/>
            <a:ext cx="2320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tested, time up, major bugs closed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20740" y="2377440"/>
            <a:ext cx="2594610" cy="3429000"/>
          </a:xfrm>
          <a:prstGeom prst="roundRect">
            <a:avLst>
              <a:gd name="adj" fmla="val 2819"/>
            </a:avLst>
          </a:prstGeom>
          <a:solidFill>
            <a:srgbClr val="EAF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920740" y="2377440"/>
            <a:ext cx="259461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20740" y="2606040"/>
            <a:ext cx="259461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30468" y="2377440"/>
            <a:ext cx="2375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TEST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030468" y="2651760"/>
            <a:ext cx="2375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13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057900" y="2944368"/>
            <a:ext cx="232029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ST testers allotted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057900" y="4338828"/>
            <a:ext cx="232029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Module-wise or topic-wise allocation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52510" y="2377440"/>
            <a:ext cx="2594610" cy="3429000"/>
          </a:xfrm>
          <a:prstGeom prst="roundRect">
            <a:avLst>
              <a:gd name="adj" fmla="val 2819"/>
            </a:avLst>
          </a:prstGeom>
          <a:solidFill>
            <a:srgbClr val="EAF2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652510" y="2377440"/>
            <a:ext cx="259461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8652510" y="2606040"/>
            <a:ext cx="259461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238" y="2377440"/>
            <a:ext cx="23751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TEST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762238" y="2651760"/>
            <a:ext cx="2375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– 15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789670" y="2944368"/>
            <a:ext cx="232029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and time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789670" y="4338828"/>
            <a:ext cx="232029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Assumptions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risks + how overcome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APPROVAL   ·   Once drafted, the SM gets the test plan approved by the PO and stakeholders (SHs) before Test Design begins.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 DESIGN · UNDERSTAND USER STORIES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Clarity Before Writing Test Cases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Scrum tester's job starts with studying the Sprint Backlog (SBL) — four common paths to full clarity.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503170" cy="1737360"/>
          </a:xfrm>
          <a:prstGeom prst="roundRect">
            <a:avLst>
              <a:gd name="adj" fmla="val 4211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203911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E3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569464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916936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Matter Expert walks the team through domain context.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10800000">
            <a:off x="1599057" y="3666744"/>
            <a:ext cx="219456" cy="16459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11" name="Shape 9"/>
          <p:cNvSpPr/>
          <p:nvPr/>
        </p:nvSpPr>
        <p:spPr>
          <a:xfrm>
            <a:off x="3188970" y="1874520"/>
            <a:ext cx="2503170" cy="1737360"/>
          </a:xfrm>
          <a:prstGeom prst="roundRect">
            <a:avLst>
              <a:gd name="adj" fmla="val 4211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3562" y="203911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E3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356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53562" y="2569464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PO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353562" y="2916936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explains client requirements directly.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4330827" y="3666744"/>
            <a:ext cx="219456" cy="16459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20740" y="1874520"/>
            <a:ext cx="2503170" cy="1737360"/>
          </a:xfrm>
          <a:prstGeom prst="roundRect">
            <a:avLst>
              <a:gd name="adj" fmla="val 4211"/>
            </a:avLst>
          </a:prstGeom>
          <a:solidFill>
            <a:srgbClr val="EA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5332" y="203911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E3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533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5332" y="2569464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Clarify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085332" y="2916936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 stories, then resolve doubts with PO &amp; stakeholders.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7062597" y="3666744"/>
            <a:ext cx="219456" cy="16459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23" name="Shape 21"/>
          <p:cNvSpPr/>
          <p:nvPr/>
        </p:nvSpPr>
        <p:spPr>
          <a:xfrm>
            <a:off x="8652510" y="1874520"/>
            <a:ext cx="2503170" cy="1737360"/>
          </a:xfrm>
          <a:prstGeom prst="roundRect">
            <a:avLst>
              <a:gd name="adj" fmla="val 4211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817102" y="203911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E3B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1710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17102" y="2569464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Explore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817102" y="2916936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user stories and explore the application independently.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10800000">
            <a:off x="9794367" y="3666744"/>
            <a:ext cx="219456" cy="16459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1760" y="397764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0B2E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651760" y="3977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Stories in the SBL — Understood &amp; Clarified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172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 = Sprint Backlog · goal is clarity on client requirements &amp; expectations before any test case is written.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 DESIGN · WRITING TEST CASES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Test Case Is a Condition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the sprint — manually by a QC tester, or via automation by an SDET.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1488" y="2331720"/>
            <a:ext cx="512064" cy="512064"/>
          </a:xfrm>
          <a:prstGeom prst="ellipse">
            <a:avLst/>
          </a:prstGeom>
          <a:solidFill>
            <a:srgbClr val="DCE7F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EA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Stories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0800000">
            <a:off x="2935224" y="3602736"/>
            <a:ext cx="164592" cy="11887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73075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EA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307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Cases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2935224" y="4315968"/>
            <a:ext cx="164592" cy="11887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44398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4439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Cases on Sprint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0E3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13648" y="2331720"/>
            <a:ext cx="512064" cy="512064"/>
          </a:xfrm>
          <a:prstGeom prst="ellipse">
            <a:avLst/>
          </a:prstGeom>
          <a:solidFill>
            <a:srgbClr val="DCE7F0"/>
          </a:solidFill>
          <a:ln w="19050">
            <a:solidFill>
              <a:srgbClr val="0E3B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1364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0175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EAF2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0175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Stories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8787384" y="3602736"/>
            <a:ext cx="164592" cy="11887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373075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EAF2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37307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Cases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8787384" y="4315968"/>
            <a:ext cx="164592" cy="11887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444398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EAF2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44439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TCs into Test Scripts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10800000">
            <a:off x="8787384" y="5029200"/>
            <a:ext cx="164592" cy="118872"/>
          </a:xfrm>
          <a:prstGeom prst="triangle">
            <a:avLst/>
          </a:prstGeom>
          <a:solidFill>
            <a:srgbClr val="9DB6C9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515721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0E3B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51572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Scripts on Sprint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both paths make up Full-Stack QA.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 DESIGN · BLACK-BOX TECHNIQUES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Techniques for Optimal Test Cases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exhaustive or ad-hoc testing, testers pick test conditions using these black-box techniques.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44270" cy="1874520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11680"/>
            <a:ext cx="2438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3078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cases for the size / range of input &amp; output fields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30070" y="1828800"/>
            <a:ext cx="3444270" cy="1874520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12950" y="201168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1295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98750" y="2011680"/>
            <a:ext cx="2438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Class Partitioning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12950" y="2697480"/>
            <a:ext cx="3078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cases for the type of input &amp; output fields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02941" y="1828800"/>
            <a:ext cx="3444270" cy="1874520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85821" y="201168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85821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71621" y="2011680"/>
            <a:ext cx="2438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85821" y="2697480"/>
            <a:ext cx="3078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combinations of inputs to expected outputs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444270" cy="1874520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114800"/>
            <a:ext cx="2438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Arrays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00600"/>
            <a:ext cx="3078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repetition from a decision table's test cases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30070" y="3931920"/>
            <a:ext cx="3444270" cy="1874520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312950" y="411480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1295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98750" y="4114800"/>
            <a:ext cx="2438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Flow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312950" y="4800600"/>
            <a:ext cx="3078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test cases by functionality sequence in the sprint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02941" y="3931920"/>
            <a:ext cx="3444270" cy="1874520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/>
        </p:spPr>
      </p:sp>
      <p:sp>
        <p:nvSpPr>
          <p:cNvPr id="31" name="Shape 29"/>
          <p:cNvSpPr/>
          <p:nvPr/>
        </p:nvSpPr>
        <p:spPr>
          <a:xfrm>
            <a:off x="7985821" y="4114800"/>
            <a:ext cx="548640" cy="5486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85821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71621" y="4114800"/>
            <a:ext cx="24384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Guessing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985821" y="4800600"/>
            <a:ext cx="3078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likely defects from past testing experience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TECHNIQUE · BVA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Value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optimal test cases for the size / range of an input or output field.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EAF2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ID size varies between 4 positions and 16 positions."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3749040" cy="0"/>
          </a:xfrm>
          <a:prstGeom prst="line">
            <a:avLst/>
          </a:prstGeom>
          <a:noFill/>
          <a:ln w="19050">
            <a:solidFill>
              <a:srgbClr val="CFE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832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
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&amp; largest valid values, plus one step below and above each, are the values most likely to expose defects — testing every value in between adds no extra confidence.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6309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828800"/>
            <a:ext cx="164592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237744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828800"/>
            <a:ext cx="228600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982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286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98280" y="2386584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8658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2788920"/>
            <a:ext cx="6309360" cy="5029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7492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− 1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positions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98280" y="2889504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98280" y="288950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+ 1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positions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98280" y="3392424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9828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794760"/>
            <a:ext cx="6309360" cy="5029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74920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positions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98280" y="3895344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98280" y="3895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74920" y="4297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4297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positions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98280" y="4398264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098280" y="439826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0" y="4800600"/>
            <a:ext cx="6309360" cy="5029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074920" y="4800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+ 1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4800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positions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98280" y="4901184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C0392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098280" y="490118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37760" y="548640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2A00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937760" y="54864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 test cases  →  4 valid (+ve)  +  2 invalid (−ve)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TECHNIQUE · ECP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Equivalence Class Partitioning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optimal test cases for the type of an input or output field.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EAF2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ID can take alphabet and numeric combinations."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3749040" cy="0"/>
          </a:xfrm>
          <a:prstGeom prst="line">
            <a:avLst/>
          </a:prstGeom>
          <a:noFill/>
          <a:ln w="19050">
            <a:solidFill>
              <a:srgbClr val="CFE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2004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input is grouped into classes that should behave the same way — one representative test case per class is enough, instead of testing every possible value.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828800"/>
            <a:ext cx="30632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CLASS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Alphabet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Numeric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Alphanumeric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828800"/>
            <a:ext cx="306324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CLASS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Special characters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434340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DCE7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7760" y="43434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 cases</a:t>
            </a:r>
            <a:r>
              <a:rPr lang="en-US" sz="13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3 valid (+ve)  +  1 invalid (−ve)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TECHNIQUE · DT &amp; OA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Table &amp; Orthogonal Arrays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maps combinations of inputs to outputs; OA then removes the repetition inside that table.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LOGIN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6400800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1828800"/>
            <a:ext cx="182880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95728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274320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24528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2860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22860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2860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6400800" cy="402336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26883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395728" y="26883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26883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090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395728" y="3090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224528" y="30906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6400800" cy="402336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493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395728" y="3493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224528" y="3493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8953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395728" y="38953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224528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6400800" cy="402336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42976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395728" y="42976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4297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70001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395728" y="470001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224528" y="47000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239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 cases  →  1 valid (+ve)  +  6 invalid (−ve)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23760" y="1828800"/>
            <a:ext cx="4480560" cy="4160520"/>
          </a:xfrm>
          <a:prstGeom prst="roundRect">
            <a:avLst>
              <a:gd name="adj" fmla="val 1758"/>
            </a:avLst>
          </a:prstGeom>
          <a:solidFill>
            <a:srgbClr val="EAF2F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45236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ARRAYS (OA)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452360" y="2377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is used to remove repetition in a decision table's test cases — several rows testing the same underlying condition are combined into one.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52360" y="3291840"/>
            <a:ext cx="4023360" cy="0"/>
          </a:xfrm>
          <a:prstGeom prst="line">
            <a:avLst/>
          </a:prstGeom>
          <a:noFill/>
          <a:ln w="19050">
            <a:solidFill>
              <a:srgbClr val="CFE3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52360" y="34747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login table's "Valid + Invalid" and "Invalid + Valid" rows both test one field failing at a time — an orthogonal array keeps one such combination per pair of fields instead of listing every permutation.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TECHNIQUE · STF &amp; EG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Transition Flow &amp; Error Guessing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lighter-weight techniques that round out an optimal test suite.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Flow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test cases in order, with respect to how functionalities unfold across the sprint — not in isolation.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4572000" cy="0"/>
          </a:xfrm>
          <a:prstGeom prst="line">
            <a:avLst/>
          </a:prstGeom>
          <a:noFill/>
          <a:ln w="19050">
            <a:solidFill>
              <a:srgbClr val="CFE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51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endParaRPr lang="en-US" sz="1050" dirty="0"/>
          </a:p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Compose → Send flows through the mailbox in a fixed order, so test cases follow that same sequence.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AF2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214884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Guessing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88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tester's past experience to guess where defects are likely to occur in the upcoming sprint.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069080"/>
            <a:ext cx="4572000" cy="0"/>
          </a:xfrm>
          <a:prstGeom prst="line">
            <a:avLst/>
          </a:prstGeom>
          <a:noFill/>
          <a:ln w="19050">
            <a:solidFill>
              <a:srgbClr val="CFE3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251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endParaRPr lang="en-US" sz="1050" dirty="0"/>
          </a:p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tester who has seen date-field bugs before adds extra checks around date pickers, even without a formal spec for it.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 DESIGN · DOCUMENTATION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Document Format (IEEE 829)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template every ST tester fills in — for both functional and non-functional testing.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9921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23444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8745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91640" y="1874520"/>
            <a:ext cx="160020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46504" y="1874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Title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105156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6704" y="187452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91440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98264" y="18745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1874520"/>
            <a:ext cx="169164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2664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0" y="1874520"/>
            <a:ext cx="118872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04304" y="1874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1874520"/>
            <a:ext cx="105156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93024" y="187452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1874520"/>
            <a:ext cx="1188720" cy="685800"/>
          </a:xfrm>
          <a:prstGeom prst="rect">
            <a:avLst/>
          </a:prstGeom>
          <a:solidFill>
            <a:srgbClr val="0B2E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4584" y="1874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" y="2560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TC_LGN_001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746504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valid credentials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346704" y="25603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TS_LOGIN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312664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URL is reachable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004304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Gherkin steps →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193024" y="25603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RAM1, pwd: Xy9$2020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244584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screen opens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9921240" cy="4572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2064" y="3017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TC_LGN_002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746504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invalid password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3346704" y="30175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TS_LOGIN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98264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312664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URL is reachable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004304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Gherkin steps →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193024" y="30175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RAM1, pwd: wrong1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9244584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password" shown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12064" y="3474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746504" y="3474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3346704" y="3474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398264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5312664" y="3474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004304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193024" y="3474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244584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06908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test design (overall) — filled once per test case, before execution.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4526280"/>
            <a:ext cx="4823460" cy="1280160"/>
          </a:xfrm>
          <a:prstGeom prst="roundRect">
            <a:avLst>
              <a:gd name="adj" fmla="val 5714"/>
            </a:avLst>
          </a:prstGeom>
          <a:solidFill>
            <a:srgbClr val="DCE7F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0080" y="4526280"/>
            <a:ext cx="44577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above — overall shape of the test case, filled first.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554980" y="4526280"/>
            <a:ext cx="4823460" cy="1280160"/>
          </a:xfrm>
          <a:prstGeom prst="roundRect">
            <a:avLst>
              <a:gd name="adj" fmla="val 5714"/>
            </a:avLst>
          </a:prstGeom>
          <a:solidFill>
            <a:srgbClr val="DCE7F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737860" y="4526280"/>
            <a:ext cx="44577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"Test Steps" written using Gherkin keywords — see next slide.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 DESIGN · DOCUMENTATION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Test Steps with Gherkin Keywords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"Test Steps" column of the IEEE 829 format is written using these keywords.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basic operation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87168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487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4871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operation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45536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1455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1455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condition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803904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8039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But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8039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than one operation or condition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99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“Tidy Gherkin” Chrome extension checks keyword usage in your test steps.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82880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0B2E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19019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LOGIN SCENARIO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2128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 site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5786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user ID as "xxx"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9443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 field will be activated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3101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password as "xxx"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6758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Sign-in will be activated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0416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on sign-in button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44074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Compose will be displayed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47731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Mailbox will be displayed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TEST DESIGN · DOCUMENTATION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Regular Expressions for Test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preparing test data for steps, regex lets testers represent huge data ranges in a small expression.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789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F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291840" cy="4114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7498080" cy="4114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8620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2402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2402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83180"/>
            <a:ext cx="10789920" cy="3429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831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5831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9260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[A-Z]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9260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uppercase alphabet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68980"/>
            <a:ext cx="10789920" cy="3429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2689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2689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lowercase alphabet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6118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[a-zA-Z]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6118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alphabet (either case)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54780"/>
            <a:ext cx="10789920" cy="3429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9547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[a-zA-Z0-9]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39547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alphabet or digit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2976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[A-Z][a-z][0-9]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42976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positions: upper, then lower, then digit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40580"/>
            <a:ext cx="10789920" cy="3429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46405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[A-Z][a-z]{3}[0-9]{6}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46405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positions: upper, 3 lower, 6 digits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9834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[0-9]{1,}  or  [0-9]+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49834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digit to infinite digits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326380"/>
            <a:ext cx="10789920" cy="3429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53263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[0-9]{0,}  or  [0-9]*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886200" y="53263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 to infinite digits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56692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[.]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56692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alphabet / digit / underscore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012180"/>
            <a:ext cx="10789920" cy="34290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360" y="6012180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[$][0-9]+[.][0-9]{2}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886200" y="601218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Currency, e.g. $239.78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·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— Net Banking Site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scenario tying Test Planning and Test Design together.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0B2E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
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site development is going on in Agile Scrum. Currently the team is in “Sprint 1.” From the Sprint 1 backlog, the team needs to conduct functional tests and non-functional tests on the Login and Money Transfer modules.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727198" cy="2743200"/>
          </a:xfrm>
          <a:prstGeom prst="roundRect">
            <a:avLst>
              <a:gd name="adj" fmla="val 2682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434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Initiation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0060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drafts the optimal test strategy &amp; TRM for Sprint 1 — Login &amp; Money Transfer in scope.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7278" y="3657600"/>
            <a:ext cx="2727198" cy="2743200"/>
          </a:xfrm>
          <a:prstGeom prst="roundRect">
            <a:avLst>
              <a:gd name="adj" fmla="val 2682"/>
            </a:avLst>
          </a:prstGeom>
          <a:solidFill>
            <a:srgbClr val="EAF2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158" y="3840480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15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43434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50158" y="480060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checks for team-level changes, lists tactical risks, and writes the IEEE 829 test plan.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7356" y="3657600"/>
            <a:ext cx="2727198" cy="2743200"/>
          </a:xfrm>
          <a:prstGeom prst="roundRect">
            <a:avLst>
              <a:gd name="adj" fmla="val 2682"/>
            </a:avLst>
          </a:prstGeom>
          <a:solidFill>
            <a:srgbClr val="EA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60236" y="3840480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023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43434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60236" y="480060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study the two modules' user stories, then write test cases using BVA, ECP, DT, OA, STF &amp; EG.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7434" y="3657600"/>
            <a:ext cx="2727198" cy="2743200"/>
          </a:xfrm>
          <a:prstGeom prst="roundRect">
            <a:avLst>
              <a:gd name="adj" fmla="val 2682"/>
            </a:avLst>
          </a:prstGeom>
          <a:solidFill>
            <a:srgbClr val="EAF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0314" y="3840480"/>
            <a:ext cx="384048" cy="38404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70314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70314" y="43434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Beyond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370314" y="4800600"/>
            <a:ext cx="23614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cases (manual) or scripts (automation), log defects, and loop back until exit criteria are met.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 Phases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15000" y="160020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74552" cy="603504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Initiation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20574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057400"/>
            <a:ext cx="5879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 (IEEE 829)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1127455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6090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6609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660904"/>
            <a:ext cx="5879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11274552" cy="603504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6440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2644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Test Engg (QA)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264408"/>
            <a:ext cx="5879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67912"/>
            <a:ext cx="1127455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6791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8679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Jr. Test Engg (QC)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3867912"/>
            <a:ext cx="5879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results &amp; logged defects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71416"/>
            <a:ext cx="11274552" cy="603504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4714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44714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→ Developers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4471416"/>
            <a:ext cx="5879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74920"/>
            <a:ext cx="1127455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749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Closure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63240" y="50749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5074920"/>
            <a:ext cx="5879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&amp; regression complete; sprint signed off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1600200"/>
            <a:ext cx="0" cy="4078224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731752" y="1600200"/>
            <a:ext cx="0" cy="4078224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678424"/>
            <a:ext cx="11274552" cy="0"/>
          </a:xfrm>
          <a:prstGeom prst="line">
            <a:avLst/>
          </a:prstGeom>
          <a:noFill/>
          <a:ln w="12700">
            <a:solidFill>
              <a:srgbClr val="CFE3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660904"/>
            <a:ext cx="11274552" cy="0"/>
          </a:xfrm>
          <a:prstGeom prst="line">
            <a:avLst/>
          </a:prstGeom>
          <a:noFill/>
          <a:ln w="9525">
            <a:solidFill>
              <a:srgbClr val="CFE3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264408"/>
            <a:ext cx="11274552" cy="0"/>
          </a:xfrm>
          <a:prstGeom prst="line">
            <a:avLst/>
          </a:prstGeom>
          <a:noFill/>
          <a:ln w="9525">
            <a:solidFill>
              <a:srgbClr val="CFE3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867912"/>
            <a:ext cx="11274552" cy="0"/>
          </a:xfrm>
          <a:prstGeom prst="line">
            <a:avLst/>
          </a:prstGeom>
          <a:noFill/>
          <a:ln w="9525">
            <a:solidFill>
              <a:srgbClr val="CFE3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471416"/>
            <a:ext cx="11274552" cy="0"/>
          </a:xfrm>
          <a:prstGeom prst="line">
            <a:avLst/>
          </a:prstGeom>
          <a:noFill/>
          <a:ln w="9525">
            <a:solidFill>
              <a:srgbClr val="CFE3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074920"/>
            <a:ext cx="11274552" cy="0"/>
          </a:xfrm>
          <a:prstGeom prst="line">
            <a:avLst/>
          </a:prstGeom>
          <a:noFill/>
          <a:ln w="9525">
            <a:solidFill>
              <a:srgbClr val="CFE3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678424"/>
            <a:ext cx="11274552" cy="0"/>
          </a:xfrm>
          <a:prstGeom prst="line">
            <a:avLst/>
          </a:prstGeom>
          <a:noFill/>
          <a:ln w="9525">
            <a:solidFill>
              <a:srgbClr val="CFE3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19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20272" y="6519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0E3B6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 With Your Tests!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3520440"/>
            <a:ext cx="1463040" cy="0"/>
          </a:xfrm>
          <a:prstGeom prst="line">
            <a:avLst/>
          </a:prstGeom>
          <a:noFill/>
          <a:ln w="38100">
            <a:solidFill>
              <a:srgbClr val="F2A0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STLC runs inside every sprint — Test Initiation through Test Closure, backed by Agile Scrum and reviewed by the whole team.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 |  UNIT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3409</Words>
  <Application>Microsoft Office PowerPoint</Application>
  <PresentationFormat>Widescreen</PresentationFormat>
  <Paragraphs>721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APARNA</cp:lastModifiedBy>
  <cp:revision>2</cp:revision>
  <dcterms:created xsi:type="dcterms:W3CDTF">2026-09-04T10:05:05Z</dcterms:created>
  <dcterms:modified xsi:type="dcterms:W3CDTF">2026-09-05T18:39:23Z</dcterms:modified>
</cp:coreProperties>
</file>