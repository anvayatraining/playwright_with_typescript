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charts/chart1.xml" ContentType="application/vnd.openxmlformats-officedocument.drawingml.chart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89" d="100"/>
          <a:sy n="89" d="100"/>
        </p:scale>
        <p:origin x="437" y="-9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Pending working hours</c:v>
                </c:pt>
              </c:strCache>
            </c:strRef>
          </c:tx>
          <c:spPr>
            <a:ln w="38100" cap="flat">
              <a:solidFill>
                <a:srgbClr val="F2A007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F2A007"/>
              </a:solidFill>
              <a:ln w="9525" cap="flat">
                <a:solidFill>
                  <a:srgbClr val="F2A007"/>
                </a:solidFill>
                <a:prstDash val="solid"/>
                <a:round/>
              </a:ln>
              <a:effectLst/>
            </c:spPr>
          </c:marker>
          <c:cat>
            <c:strRef>
              <c:f>Sheet1!$A$2:$A$8</c:f>
              <c:strCache>
                <c:ptCount val="7"/>
                <c:pt idx="0">
                  <c:v>Day 1</c:v>
                </c:pt>
                <c:pt idx="1">
                  <c:v>Day 5</c:v>
                </c:pt>
                <c:pt idx="2">
                  <c:v>Day 10</c:v>
                </c:pt>
                <c:pt idx="3">
                  <c:v>Day 15</c:v>
                </c:pt>
                <c:pt idx="4">
                  <c:v>Day 20</c:v>
                </c:pt>
                <c:pt idx="5">
                  <c:v>Day 25</c:v>
                </c:pt>
                <c:pt idx="6">
                  <c:v>Day 30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2400</c:v>
                </c:pt>
                <c:pt idx="1">
                  <c:v>2050</c:v>
                </c:pt>
                <c:pt idx="2">
                  <c:v>1700</c:v>
                </c:pt>
                <c:pt idx="3">
                  <c:v>1250</c:v>
                </c:pt>
                <c:pt idx="4">
                  <c:v>850</c:v>
                </c:pt>
                <c:pt idx="5">
                  <c:v>400</c:v>
                </c:pt>
                <c:pt idx="6">
                  <c:v>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BFE8-413C-878F-719161EFEFD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5C7A93"/>
                    </a:solidFill>
                    <a:latin typeface="Arial"/>
                  </a:defRPr>
                </a:pPr>
                <a:r>
                  <a:rPr lang="en-US" sz="1000" b="0" i="0" u="none" strike="noStrike">
                    <a:solidFill>
                      <a:srgbClr val="5C7A93"/>
                    </a:solidFill>
                    <a:latin typeface="Arial"/>
                  </a:rPr>
                  <a:t>Time (1st day → 30th day)</a:t>
                </a:r>
              </a:p>
            </c:rich>
          </c:tx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FA9BE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C7A93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CFE3EF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5C7A93"/>
                    </a:solidFill>
                    <a:latin typeface="Arial"/>
                  </a:defRPr>
                </a:pPr>
                <a:r>
                  <a:rPr lang="en-IN" sz="1000" b="0" i="0" u="none" strike="noStrike">
                    <a:solidFill>
                      <a:srgbClr val="5C7A93"/>
                    </a:solidFill>
                    <a:latin typeface="Arial"/>
                  </a:rPr>
                  <a:t>Working hours pending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FA9BE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C7A9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421410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14.png"/><Relationship Id="rId4" Type="http://schemas.openxmlformats.org/officeDocument/2006/relationships/image" Target="../media/image6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E4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3291840"/>
            <a:ext cx="5943600" cy="5943600"/>
          </a:xfrm>
          <a:prstGeom prst="ellipse">
            <a:avLst/>
          </a:prstGeom>
          <a:solidFill>
            <a:srgbClr val="0E3B63"/>
          </a:solidFill>
          <a:ln/>
        </p:spPr>
      </p:sp>
      <p:sp>
        <p:nvSpPr>
          <p:cNvPr id="3" name="Shape 1"/>
          <p:cNvSpPr/>
          <p:nvPr/>
        </p:nvSpPr>
        <p:spPr>
          <a:xfrm>
            <a:off x="9692640" y="4206240"/>
            <a:ext cx="4572000" cy="45720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4" name="Shape 2"/>
          <p:cNvSpPr/>
          <p:nvPr/>
        </p:nvSpPr>
        <p:spPr>
          <a:xfrm>
            <a:off x="10607040" y="5120640"/>
            <a:ext cx="3108960" cy="3108960"/>
          </a:xfrm>
          <a:prstGeom prst="ellipse">
            <a:avLst/>
          </a:prstGeom>
          <a:solidFill>
            <a:srgbClr val="F2A007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14173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2A0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TESTING  ·  UNIT 2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2606040"/>
            <a:ext cx="9144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Agile Scrum</a:t>
            </a:r>
            <a:endParaRPr lang="en-US" sz="5400" dirty="0"/>
          </a:p>
        </p:txBody>
      </p:sp>
      <p:sp>
        <p:nvSpPr>
          <p:cNvPr id="7" name="Shape 5"/>
          <p:cNvSpPr/>
          <p:nvPr/>
        </p:nvSpPr>
        <p:spPr>
          <a:xfrm>
            <a:off x="640080" y="3611880"/>
            <a:ext cx="1005840" cy="54864"/>
          </a:xfrm>
          <a:prstGeom prst="rect">
            <a:avLst/>
          </a:prstGeom>
          <a:solidFill>
            <a:srgbClr val="F2A007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3794760"/>
            <a:ext cx="7589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CFE3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Roles, Ceremonies &amp; Artifacts of the Scrum framework — from client proposal to sprint release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FA9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 Prep Notes  ·  Compiled from classroom SDLC/Testing manual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76072"/>
            <a:ext cx="9601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2E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Agile Scrum — Overview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508760"/>
            <a:ext cx="507492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CFE3EF"/>
            </a:solidFill>
            <a:prstDash val="solid"/>
          </a:ln>
          <a:effectLst>
            <a:outerShdw blurRad="76200" dist="25400" dir="5400000" algn="bl" rotWithShape="0">
              <a:srgbClr val="9DB6C9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58368" y="1709928"/>
            <a:ext cx="457200" cy="457200"/>
          </a:xfrm>
          <a:prstGeom prst="ellipse">
            <a:avLst/>
          </a:prstGeom>
          <a:solidFill>
            <a:srgbClr val="0E3B63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58368" y="17099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280160" y="1645920"/>
            <a:ext cx="4069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2E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Industry-standard model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280160" y="1965960"/>
            <a:ext cx="4069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most famous SDLC model followed in IT companies today, and the most popular among all Agile sub-models.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989320" y="1508760"/>
            <a:ext cx="507492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CFE3EF"/>
            </a:solidFill>
            <a:prstDash val="solid"/>
          </a:ln>
          <a:effectLst>
            <a:outerShdw blurRad="76200" dist="25400" dir="5400000" algn="bl" rotWithShape="0">
              <a:srgbClr val="9DB6C9">
                <a:alpha val="3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190488" y="1709928"/>
            <a:ext cx="457200" cy="457200"/>
          </a:xfrm>
          <a:prstGeom prst="ellipse">
            <a:avLst/>
          </a:prstGeom>
          <a:solidFill>
            <a:srgbClr val="0E3B6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190488" y="17099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6812280" y="1645920"/>
            <a:ext cx="4069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2E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use cases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6812280" y="1965960"/>
            <a:ext cx="4069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Suitable for both new Project development and ongoing Product development.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2880360"/>
            <a:ext cx="507492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CFE3EF"/>
            </a:solidFill>
            <a:prstDash val="solid"/>
          </a:ln>
          <a:effectLst>
            <a:outerShdw blurRad="76200" dist="25400" dir="5400000" algn="bl" rotWithShape="0">
              <a:srgbClr val="9DB6C9">
                <a:alpha val="3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58368" y="3081528"/>
            <a:ext cx="457200" cy="457200"/>
          </a:xfrm>
          <a:prstGeom prst="ellipse">
            <a:avLst/>
          </a:prstGeom>
          <a:solidFill>
            <a:srgbClr val="0E3B63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58368" y="30815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1280160" y="3017520"/>
            <a:ext cx="4069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2E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Small, focused team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1280160" y="3337560"/>
            <a:ext cx="4069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Scrum Team (developers + testers) typically has 8 to 10 members.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989320" y="2880360"/>
            <a:ext cx="507492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CFE3EF"/>
            </a:solidFill>
            <a:prstDash val="solid"/>
          </a:ln>
          <a:effectLst>
            <a:outerShdw blurRad="76200" dist="25400" dir="5400000" algn="bl" rotWithShape="0">
              <a:srgbClr val="9DB6C9">
                <a:alpha val="3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190488" y="3081528"/>
            <a:ext cx="457200" cy="457200"/>
          </a:xfrm>
          <a:prstGeom prst="ellipse">
            <a:avLst/>
          </a:prstGeom>
          <a:solidFill>
            <a:srgbClr val="0E3B63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190488" y="30815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6812280" y="3017520"/>
            <a:ext cx="4069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2E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Delivered in sprints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6812280" y="3337560"/>
            <a:ext cx="4069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team develops software sprint by sprint — a sprint is a usable piece of software that is valuable to the client.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57200" y="4251960"/>
            <a:ext cx="11274552" cy="914400"/>
          </a:xfrm>
          <a:prstGeom prst="roundRect">
            <a:avLst>
              <a:gd name="adj" fmla="val 8000"/>
            </a:avLst>
          </a:prstGeom>
          <a:solidFill>
            <a:srgbClr val="0B2E4F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685800" y="4343400"/>
            <a:ext cx="3840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Agile Scrum process = composition of 3 components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4846320" y="4416552"/>
            <a:ext cx="10973" cy="585216"/>
          </a:xfrm>
          <a:prstGeom prst="rect">
            <a:avLst/>
          </a:prstGeom>
          <a:solidFill>
            <a:srgbClr val="F2A007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4983480" y="4343400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2A0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Roles
</a:t>
            </a:r>
            <a:r>
              <a:rPr lang="en-US" sz="1050" dirty="0">
                <a:solidFill>
                  <a:srgbClr val="CFE3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Jobs — who is involved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7360920" y="4416552"/>
            <a:ext cx="10973" cy="585216"/>
          </a:xfrm>
          <a:prstGeom prst="rect">
            <a:avLst/>
          </a:prstGeom>
          <a:solidFill>
            <a:srgbClr val="F2A007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7498080" y="4343400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2A0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Ceremonies
</a:t>
            </a:r>
            <a:r>
              <a:rPr lang="en-US" sz="1050" dirty="0">
                <a:solidFill>
                  <a:srgbClr val="CFE3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Meetings — how they collaborate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9875520" y="4416552"/>
            <a:ext cx="10973" cy="585216"/>
          </a:xfrm>
          <a:prstGeom prst="rect">
            <a:avLst/>
          </a:prstGeom>
          <a:solidFill>
            <a:srgbClr val="F2A007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10012680" y="4343400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2A0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Artifacts
</a:t>
            </a:r>
            <a:r>
              <a:rPr lang="en-US" sz="1050" dirty="0">
                <a:solidFill>
                  <a:srgbClr val="CFE3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Documents — what gets produced</a:t>
            </a:r>
            <a:endParaRPr lang="en-US" sz="1300" dirty="0"/>
          </a:p>
        </p:txBody>
      </p:sp>
      <p:sp>
        <p:nvSpPr>
          <p:cNvPr id="32" name="Text 30"/>
          <p:cNvSpPr txBox="1"/>
          <p:nvPr/>
        </p:nvSpPr>
        <p:spPr>
          <a:xfrm>
            <a:off x="457200" y="6547104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FA9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Testing  ·  Unit 2</a:t>
            </a:r>
            <a:endParaRPr lang="en-US" sz="900" dirty="0"/>
          </a:p>
        </p:txBody>
      </p:sp>
      <p:sp>
        <p:nvSpPr>
          <p:cNvPr id="33" name="Text 31"/>
          <p:cNvSpPr txBox="1"/>
          <p:nvPr/>
        </p:nvSpPr>
        <p:spPr>
          <a:xfrm>
            <a:off x="11277295" y="6547104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FA9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FLOW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76072"/>
            <a:ext cx="9601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2E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Bidding to Maintenance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078992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C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complete Agile Scrum lifecycle — one full pass from a client proposal to release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691640"/>
            <a:ext cx="1481328" cy="1417320"/>
          </a:xfrm>
          <a:prstGeom prst="roundRect">
            <a:avLst>
              <a:gd name="adj" fmla="val 4516"/>
            </a:avLst>
          </a:prstGeom>
          <a:solidFill>
            <a:srgbClr val="0E3B63"/>
          </a:solidFill>
          <a:ln/>
        </p:spPr>
      </p:sp>
      <p:sp>
        <p:nvSpPr>
          <p:cNvPr id="6" name="Shape 4"/>
          <p:cNvSpPr/>
          <p:nvPr/>
        </p:nvSpPr>
        <p:spPr>
          <a:xfrm>
            <a:off x="1024128" y="1819656"/>
            <a:ext cx="347472" cy="347472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024128" y="181965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E3B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530352" y="2240280"/>
            <a:ext cx="13350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SW Bidding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530352" y="2606040"/>
            <a:ext cx="13350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800" dirty="0">
                <a:solidFill>
                  <a:srgbClr val="CFE3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Proposal to develop new SW, to real client / model client</a:t>
            </a:r>
            <a:endParaRPr lang="en-US" sz="800" dirty="0"/>
          </a:p>
        </p:txBody>
      </p:sp>
      <p:sp>
        <p:nvSpPr>
          <p:cNvPr id="10" name="Text 8"/>
          <p:cNvSpPr txBox="1"/>
          <p:nvPr/>
        </p:nvSpPr>
        <p:spPr>
          <a:xfrm>
            <a:off x="1920240" y="2199132"/>
            <a:ext cx="1645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5C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2066544" y="1691640"/>
            <a:ext cx="1481328" cy="1417320"/>
          </a:xfrm>
          <a:prstGeom prst="roundRect">
            <a:avLst>
              <a:gd name="adj" fmla="val 4516"/>
            </a:avLst>
          </a:prstGeom>
          <a:solidFill>
            <a:srgbClr val="0E3B63"/>
          </a:solidFill>
          <a:ln/>
        </p:spPr>
      </p:sp>
      <p:sp>
        <p:nvSpPr>
          <p:cNvPr id="12" name="Shape 10"/>
          <p:cNvSpPr/>
          <p:nvPr/>
        </p:nvSpPr>
        <p:spPr>
          <a:xfrm>
            <a:off x="2633472" y="1819656"/>
            <a:ext cx="347472" cy="347472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2633472" y="181965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E3B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2139696" y="2240280"/>
            <a:ext cx="13350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Kick-off Meeting</a:t>
            </a:r>
            <a:endParaRPr lang="en-US" sz="1150" dirty="0"/>
          </a:p>
        </p:txBody>
      </p:sp>
      <p:sp>
        <p:nvSpPr>
          <p:cNvPr id="15" name="Text 13"/>
          <p:cNvSpPr txBox="1"/>
          <p:nvPr/>
        </p:nvSpPr>
        <p:spPr>
          <a:xfrm>
            <a:off x="2139696" y="2606040"/>
            <a:ext cx="13350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800" dirty="0">
                <a:solidFill>
                  <a:srgbClr val="CFE3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CEO selects PO; gets client approval on selection</a:t>
            </a:r>
            <a:endParaRPr lang="en-US" sz="800" dirty="0"/>
          </a:p>
        </p:txBody>
      </p:sp>
      <p:sp>
        <p:nvSpPr>
          <p:cNvPr id="16" name="Text 14"/>
          <p:cNvSpPr txBox="1"/>
          <p:nvPr/>
        </p:nvSpPr>
        <p:spPr>
          <a:xfrm>
            <a:off x="3529584" y="2199132"/>
            <a:ext cx="1645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5C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3675888" y="1691640"/>
            <a:ext cx="1481328" cy="1417320"/>
          </a:xfrm>
          <a:prstGeom prst="roundRect">
            <a:avLst>
              <a:gd name="adj" fmla="val 4516"/>
            </a:avLst>
          </a:prstGeom>
          <a:solidFill>
            <a:srgbClr val="0E3B63"/>
          </a:solidFill>
          <a:ln/>
        </p:spPr>
      </p:sp>
      <p:sp>
        <p:nvSpPr>
          <p:cNvPr id="18" name="Shape 16"/>
          <p:cNvSpPr/>
          <p:nvPr/>
        </p:nvSpPr>
        <p:spPr>
          <a:xfrm>
            <a:off x="4242816" y="1819656"/>
            <a:ext cx="347472" cy="347472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4242816" y="181965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E3B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3749040" y="2240280"/>
            <a:ext cx="13350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PBL Grooming</a:t>
            </a:r>
            <a:endParaRPr lang="en-US" sz="1150" dirty="0"/>
          </a:p>
        </p:txBody>
      </p:sp>
      <p:sp>
        <p:nvSpPr>
          <p:cNvPr id="21" name="Text 19"/>
          <p:cNvSpPr txBox="1"/>
          <p:nvPr/>
        </p:nvSpPr>
        <p:spPr>
          <a:xfrm>
            <a:off x="3749040" y="2606040"/>
            <a:ext cx="13350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800" dirty="0">
                <a:solidFill>
                  <a:srgbClr val="CFE3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 collects all requirements (user stories) from client &amp; SHs</a:t>
            </a:r>
            <a:endParaRPr lang="en-US" sz="800" dirty="0"/>
          </a:p>
        </p:txBody>
      </p:sp>
      <p:sp>
        <p:nvSpPr>
          <p:cNvPr id="22" name="Text 20"/>
          <p:cNvSpPr txBox="1"/>
          <p:nvPr/>
        </p:nvSpPr>
        <p:spPr>
          <a:xfrm>
            <a:off x="5138928" y="2199132"/>
            <a:ext cx="1645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5C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000" dirty="0"/>
          </a:p>
        </p:txBody>
      </p:sp>
      <p:sp>
        <p:nvSpPr>
          <p:cNvPr id="23" name="Shape 21"/>
          <p:cNvSpPr/>
          <p:nvPr/>
        </p:nvSpPr>
        <p:spPr>
          <a:xfrm>
            <a:off x="5285232" y="1691640"/>
            <a:ext cx="1481328" cy="1417320"/>
          </a:xfrm>
          <a:prstGeom prst="roundRect">
            <a:avLst>
              <a:gd name="adj" fmla="val 4516"/>
            </a:avLst>
          </a:prstGeom>
          <a:solidFill>
            <a:srgbClr val="0E3B63"/>
          </a:solidFill>
          <a:ln/>
        </p:spPr>
      </p:sp>
      <p:sp>
        <p:nvSpPr>
          <p:cNvPr id="24" name="Shape 22"/>
          <p:cNvSpPr/>
          <p:nvPr/>
        </p:nvSpPr>
        <p:spPr>
          <a:xfrm>
            <a:off x="5852160" y="1819656"/>
            <a:ext cx="347472" cy="347472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5852160" y="181965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E3B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5358384" y="2240280"/>
            <a:ext cx="13350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Sprint Planning</a:t>
            </a:r>
            <a:endParaRPr lang="en-US" sz="1150" dirty="0"/>
          </a:p>
        </p:txBody>
      </p:sp>
      <p:sp>
        <p:nvSpPr>
          <p:cNvPr id="27" name="Text 25"/>
          <p:cNvSpPr txBox="1"/>
          <p:nvPr/>
        </p:nvSpPr>
        <p:spPr>
          <a:xfrm>
            <a:off x="5358384" y="2606040"/>
            <a:ext cx="13350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800" dirty="0">
                <a:solidFill>
                  <a:srgbClr val="CFE3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 + SM + ST + SHs select some user stories for this sprint</a:t>
            </a:r>
            <a:endParaRPr lang="en-US" sz="800" dirty="0"/>
          </a:p>
        </p:txBody>
      </p:sp>
      <p:sp>
        <p:nvSpPr>
          <p:cNvPr id="28" name="Text 26"/>
          <p:cNvSpPr txBox="1"/>
          <p:nvPr/>
        </p:nvSpPr>
        <p:spPr>
          <a:xfrm>
            <a:off x="6748272" y="2199132"/>
            <a:ext cx="1645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5C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000" dirty="0"/>
          </a:p>
        </p:txBody>
      </p:sp>
      <p:sp>
        <p:nvSpPr>
          <p:cNvPr id="29" name="Shape 27"/>
          <p:cNvSpPr/>
          <p:nvPr/>
        </p:nvSpPr>
        <p:spPr>
          <a:xfrm>
            <a:off x="6894576" y="1691640"/>
            <a:ext cx="1481328" cy="1417320"/>
          </a:xfrm>
          <a:prstGeom prst="roundRect">
            <a:avLst>
              <a:gd name="adj" fmla="val 4516"/>
            </a:avLst>
          </a:prstGeom>
          <a:solidFill>
            <a:srgbClr val="1C7293"/>
          </a:solidFill>
          <a:ln/>
        </p:spPr>
      </p:sp>
      <p:sp>
        <p:nvSpPr>
          <p:cNvPr id="30" name="Shape 28"/>
          <p:cNvSpPr/>
          <p:nvPr/>
        </p:nvSpPr>
        <p:spPr>
          <a:xfrm>
            <a:off x="7461504" y="1819656"/>
            <a:ext cx="347472" cy="347472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7461504" y="181965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300" dirty="0"/>
          </a:p>
        </p:txBody>
      </p:sp>
      <p:sp>
        <p:nvSpPr>
          <p:cNvPr id="32" name="Text 30"/>
          <p:cNvSpPr txBox="1"/>
          <p:nvPr/>
        </p:nvSpPr>
        <p:spPr>
          <a:xfrm>
            <a:off x="6967728" y="2240280"/>
            <a:ext cx="13350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Sprint Dev &amp; Testing</a:t>
            </a:r>
            <a:endParaRPr lang="en-US" sz="1150" dirty="0"/>
          </a:p>
        </p:txBody>
      </p:sp>
      <p:sp>
        <p:nvSpPr>
          <p:cNvPr id="33" name="Text 31"/>
          <p:cNvSpPr txBox="1"/>
          <p:nvPr/>
        </p:nvSpPr>
        <p:spPr>
          <a:xfrm>
            <a:off x="6967728" y="2606040"/>
            <a:ext cx="13350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800" dirty="0">
                <a:solidFill>
                  <a:srgbClr val="CFE3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30-day sprint, with Daily Scrum meet to track status</a:t>
            </a:r>
            <a:endParaRPr lang="en-US" sz="800" dirty="0"/>
          </a:p>
        </p:txBody>
      </p:sp>
      <p:sp>
        <p:nvSpPr>
          <p:cNvPr id="34" name="Text 32"/>
          <p:cNvSpPr txBox="1"/>
          <p:nvPr/>
        </p:nvSpPr>
        <p:spPr>
          <a:xfrm>
            <a:off x="8357616" y="2199132"/>
            <a:ext cx="1645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5C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000" dirty="0"/>
          </a:p>
        </p:txBody>
      </p:sp>
      <p:sp>
        <p:nvSpPr>
          <p:cNvPr id="35" name="Shape 33"/>
          <p:cNvSpPr/>
          <p:nvPr/>
        </p:nvSpPr>
        <p:spPr>
          <a:xfrm>
            <a:off x="8503920" y="1691640"/>
            <a:ext cx="1481328" cy="1417320"/>
          </a:xfrm>
          <a:prstGeom prst="roundRect">
            <a:avLst>
              <a:gd name="adj" fmla="val 4516"/>
            </a:avLst>
          </a:prstGeom>
          <a:solidFill>
            <a:srgbClr val="1C7293"/>
          </a:solidFill>
          <a:ln/>
        </p:spPr>
      </p:sp>
      <p:sp>
        <p:nvSpPr>
          <p:cNvPr id="36" name="Shape 34"/>
          <p:cNvSpPr/>
          <p:nvPr/>
        </p:nvSpPr>
        <p:spPr>
          <a:xfrm>
            <a:off x="9070848" y="1819656"/>
            <a:ext cx="347472" cy="347472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37" name="Text 35"/>
          <p:cNvSpPr txBox="1"/>
          <p:nvPr/>
        </p:nvSpPr>
        <p:spPr>
          <a:xfrm>
            <a:off x="9070848" y="181965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300" dirty="0"/>
          </a:p>
        </p:txBody>
      </p:sp>
      <p:sp>
        <p:nvSpPr>
          <p:cNvPr id="38" name="Text 36"/>
          <p:cNvSpPr txBox="1"/>
          <p:nvPr/>
        </p:nvSpPr>
        <p:spPr>
          <a:xfrm>
            <a:off x="8577072" y="2240280"/>
            <a:ext cx="13350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Sprint Review</a:t>
            </a:r>
            <a:endParaRPr lang="en-US" sz="1150" dirty="0"/>
          </a:p>
        </p:txBody>
      </p:sp>
      <p:sp>
        <p:nvSpPr>
          <p:cNvPr id="39" name="Text 37"/>
          <p:cNvSpPr txBox="1"/>
          <p:nvPr/>
        </p:nvSpPr>
        <p:spPr>
          <a:xfrm>
            <a:off x="8577072" y="2606040"/>
            <a:ext cx="13350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800" dirty="0">
                <a:solidFill>
                  <a:srgbClr val="CFE3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PO, SM, SHs &amp; ST collect client feedback on the sprint</a:t>
            </a:r>
            <a:endParaRPr lang="en-US" sz="800" dirty="0"/>
          </a:p>
        </p:txBody>
      </p:sp>
      <p:sp>
        <p:nvSpPr>
          <p:cNvPr id="40" name="Text 38"/>
          <p:cNvSpPr txBox="1"/>
          <p:nvPr/>
        </p:nvSpPr>
        <p:spPr>
          <a:xfrm>
            <a:off x="9966960" y="2199132"/>
            <a:ext cx="1645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5C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000" dirty="0"/>
          </a:p>
        </p:txBody>
      </p:sp>
      <p:sp>
        <p:nvSpPr>
          <p:cNvPr id="41" name="Shape 39"/>
          <p:cNvSpPr/>
          <p:nvPr/>
        </p:nvSpPr>
        <p:spPr>
          <a:xfrm>
            <a:off x="10113264" y="1691640"/>
            <a:ext cx="1481328" cy="1417320"/>
          </a:xfrm>
          <a:prstGeom prst="roundRect">
            <a:avLst>
              <a:gd name="adj" fmla="val 4516"/>
            </a:avLst>
          </a:prstGeom>
          <a:solidFill>
            <a:srgbClr val="F2A007"/>
          </a:solidFill>
          <a:ln/>
        </p:spPr>
      </p:sp>
      <p:sp>
        <p:nvSpPr>
          <p:cNvPr id="42" name="Shape 40"/>
          <p:cNvSpPr/>
          <p:nvPr/>
        </p:nvSpPr>
        <p:spPr>
          <a:xfrm>
            <a:off x="10680192" y="1819656"/>
            <a:ext cx="347472" cy="347472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43" name="Text 41"/>
          <p:cNvSpPr txBox="1"/>
          <p:nvPr/>
        </p:nvSpPr>
        <p:spPr>
          <a:xfrm>
            <a:off x="10680192" y="181965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2A00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300" dirty="0"/>
          </a:p>
        </p:txBody>
      </p:sp>
      <p:sp>
        <p:nvSpPr>
          <p:cNvPr id="44" name="Text 42"/>
          <p:cNvSpPr txBox="1"/>
          <p:nvPr/>
        </p:nvSpPr>
        <p:spPr>
          <a:xfrm>
            <a:off x="10186416" y="2240280"/>
            <a:ext cx="13350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Release / Retro</a:t>
            </a:r>
            <a:endParaRPr lang="en-US" sz="1150" dirty="0"/>
          </a:p>
        </p:txBody>
      </p:sp>
      <p:sp>
        <p:nvSpPr>
          <p:cNvPr id="45" name="Text 43"/>
          <p:cNvSpPr txBox="1"/>
          <p:nvPr/>
        </p:nvSpPr>
        <p:spPr>
          <a:xfrm>
            <a:off x="10186416" y="2606040"/>
            <a:ext cx="13350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800" dirty="0">
                <a:solidFill>
                  <a:srgbClr val="CFE3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Release to client; Retrospective for team-level changes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457200" y="3429000"/>
            <a:ext cx="11274552" cy="566928"/>
          </a:xfrm>
          <a:prstGeom prst="roundRect">
            <a:avLst>
              <a:gd name="adj" fmla="val 9677"/>
            </a:avLst>
          </a:prstGeom>
          <a:solidFill>
            <a:srgbClr val="EAF2F8"/>
          </a:solidFill>
          <a:ln w="12700">
            <a:solidFill>
              <a:srgbClr val="CFE3EF"/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685800" y="3429000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B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Loop:  </a:t>
            </a:r>
            <a:r>
              <a:rPr lang="en-US" sz="115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Retrospective, the cycle repeats — PBL Refinement Meeting (with client) feeds the next Sprint Planning Meeting, for as many sprints as the product needs.</a:t>
            </a:r>
            <a:endParaRPr lang="en-US" sz="1150" dirty="0"/>
          </a:p>
        </p:txBody>
      </p:sp>
      <p:sp>
        <p:nvSpPr>
          <p:cNvPr id="48" name="Text 46"/>
          <p:cNvSpPr txBox="1"/>
          <p:nvPr/>
        </p:nvSpPr>
        <p:spPr>
          <a:xfrm>
            <a:off x="457200" y="425196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5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 KEY</a:t>
            </a:r>
            <a:endParaRPr lang="en-US" sz="1050" dirty="0"/>
          </a:p>
        </p:txBody>
      </p:sp>
      <p:sp>
        <p:nvSpPr>
          <p:cNvPr id="49" name="Shape 47"/>
          <p:cNvSpPr/>
          <p:nvPr/>
        </p:nvSpPr>
        <p:spPr>
          <a:xfrm>
            <a:off x="457200" y="4544568"/>
            <a:ext cx="384048" cy="384048"/>
          </a:xfrm>
          <a:prstGeom prst="ellipse">
            <a:avLst/>
          </a:prstGeom>
          <a:solidFill>
            <a:srgbClr val="0E3B63"/>
          </a:solidFill>
          <a:ln/>
        </p:spPr>
      </p:sp>
      <p:pic>
        <p:nvPicPr>
          <p:cNvPr id="50" name="Image 0" descr="/home/claude/icons/briefcas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7052" y="4644420"/>
            <a:ext cx="184343" cy="184343"/>
          </a:xfrm>
          <a:prstGeom prst="rect">
            <a:avLst/>
          </a:prstGeom>
        </p:spPr>
      </p:pic>
      <p:sp>
        <p:nvSpPr>
          <p:cNvPr id="51" name="Text 48"/>
          <p:cNvSpPr txBox="1"/>
          <p:nvPr/>
        </p:nvSpPr>
        <p:spPr>
          <a:xfrm>
            <a:off x="914400" y="4544568"/>
            <a:ext cx="110773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100" b="1" dirty="0">
                <a:solidFill>
                  <a:srgbClr val="0B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CEO  </a:t>
            </a:r>
            <a:r>
              <a:rPr lang="en-US" sz="900" dirty="0">
                <a:solidFill>
                  <a:srgbClr val="5C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Management</a:t>
            </a:r>
            <a:endParaRPr lang="en-US" sz="1100" dirty="0"/>
          </a:p>
        </p:txBody>
      </p:sp>
      <p:sp>
        <p:nvSpPr>
          <p:cNvPr id="52" name="Shape 49"/>
          <p:cNvSpPr/>
          <p:nvPr/>
        </p:nvSpPr>
        <p:spPr>
          <a:xfrm>
            <a:off x="2067850" y="4544568"/>
            <a:ext cx="384048" cy="384048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53" name="Image 1" descr="/home/claude/icons/handshak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67703" y="4644420"/>
            <a:ext cx="184343" cy="184343"/>
          </a:xfrm>
          <a:prstGeom prst="rect">
            <a:avLst/>
          </a:prstGeom>
        </p:spPr>
      </p:pic>
      <p:sp>
        <p:nvSpPr>
          <p:cNvPr id="54" name="Text 50"/>
          <p:cNvSpPr txBox="1"/>
          <p:nvPr/>
        </p:nvSpPr>
        <p:spPr>
          <a:xfrm>
            <a:off x="2525050" y="4544568"/>
            <a:ext cx="110773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100" b="1" dirty="0">
                <a:solidFill>
                  <a:srgbClr val="0B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 </a:t>
            </a:r>
            <a:r>
              <a:rPr lang="en-US" sz="900" dirty="0">
                <a:solidFill>
                  <a:srgbClr val="5C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/ Model</a:t>
            </a:r>
            <a:endParaRPr lang="en-US" sz="1100" dirty="0"/>
          </a:p>
        </p:txBody>
      </p:sp>
      <p:sp>
        <p:nvSpPr>
          <p:cNvPr id="55" name="Shape 51"/>
          <p:cNvSpPr/>
          <p:nvPr/>
        </p:nvSpPr>
        <p:spPr>
          <a:xfrm>
            <a:off x="3678501" y="4544568"/>
            <a:ext cx="384048" cy="384048"/>
          </a:xfrm>
          <a:prstGeom prst="ellipse">
            <a:avLst/>
          </a:prstGeom>
          <a:solidFill>
            <a:srgbClr val="F2A007"/>
          </a:solidFill>
          <a:ln/>
        </p:spPr>
      </p:sp>
      <p:pic>
        <p:nvPicPr>
          <p:cNvPr id="56" name="Image 2" descr="/home/claude/icons/userTi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78353" y="4644420"/>
            <a:ext cx="184343" cy="184343"/>
          </a:xfrm>
          <a:prstGeom prst="rect">
            <a:avLst/>
          </a:prstGeom>
        </p:spPr>
      </p:pic>
      <p:sp>
        <p:nvSpPr>
          <p:cNvPr id="57" name="Text 52"/>
          <p:cNvSpPr txBox="1"/>
          <p:nvPr/>
        </p:nvSpPr>
        <p:spPr>
          <a:xfrm>
            <a:off x="4135701" y="4544568"/>
            <a:ext cx="110773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100" b="1" dirty="0">
                <a:solidFill>
                  <a:srgbClr val="0B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SHs  </a:t>
            </a:r>
            <a:r>
              <a:rPr lang="en-US" sz="900" dirty="0">
                <a:solidFill>
                  <a:srgbClr val="5C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Stake Holders</a:t>
            </a:r>
            <a:endParaRPr lang="en-US" sz="1100" dirty="0"/>
          </a:p>
        </p:txBody>
      </p:sp>
      <p:sp>
        <p:nvSpPr>
          <p:cNvPr id="58" name="Shape 53"/>
          <p:cNvSpPr/>
          <p:nvPr/>
        </p:nvSpPr>
        <p:spPr>
          <a:xfrm>
            <a:off x="5289151" y="4544568"/>
            <a:ext cx="384048" cy="384048"/>
          </a:xfrm>
          <a:prstGeom prst="ellipse">
            <a:avLst/>
          </a:prstGeom>
          <a:solidFill>
            <a:srgbClr val="0E3B63"/>
          </a:solidFill>
          <a:ln/>
        </p:spPr>
      </p:sp>
      <p:pic>
        <p:nvPicPr>
          <p:cNvPr id="59" name="Image 3" descr="/home/claude/icons/crown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89003" y="4644420"/>
            <a:ext cx="184343" cy="184343"/>
          </a:xfrm>
          <a:prstGeom prst="rect">
            <a:avLst/>
          </a:prstGeom>
        </p:spPr>
      </p:pic>
      <p:sp>
        <p:nvSpPr>
          <p:cNvPr id="60" name="Text 54"/>
          <p:cNvSpPr txBox="1"/>
          <p:nvPr/>
        </p:nvSpPr>
        <p:spPr>
          <a:xfrm>
            <a:off x="5746351" y="4544568"/>
            <a:ext cx="110773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100" b="1" dirty="0">
                <a:solidFill>
                  <a:srgbClr val="0B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  </a:t>
            </a:r>
            <a:r>
              <a:rPr lang="en-US" sz="900" dirty="0">
                <a:solidFill>
                  <a:srgbClr val="5C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Owner</a:t>
            </a:r>
            <a:endParaRPr lang="en-US" sz="1100" dirty="0"/>
          </a:p>
        </p:txBody>
      </p:sp>
      <p:sp>
        <p:nvSpPr>
          <p:cNvPr id="61" name="Shape 55"/>
          <p:cNvSpPr/>
          <p:nvPr/>
        </p:nvSpPr>
        <p:spPr>
          <a:xfrm>
            <a:off x="6899801" y="4544568"/>
            <a:ext cx="384048" cy="384048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62" name="Image 4" descr="/home/claude/icons/shieldHalv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999654" y="4644420"/>
            <a:ext cx="184343" cy="184343"/>
          </a:xfrm>
          <a:prstGeom prst="rect">
            <a:avLst/>
          </a:prstGeom>
        </p:spPr>
      </p:pic>
      <p:sp>
        <p:nvSpPr>
          <p:cNvPr id="63" name="Text 56"/>
          <p:cNvSpPr txBox="1"/>
          <p:nvPr/>
        </p:nvSpPr>
        <p:spPr>
          <a:xfrm>
            <a:off x="7357001" y="4544568"/>
            <a:ext cx="110773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100" b="1" dirty="0">
                <a:solidFill>
                  <a:srgbClr val="0B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  </a:t>
            </a:r>
            <a:r>
              <a:rPr lang="en-US" sz="900" dirty="0">
                <a:solidFill>
                  <a:srgbClr val="5C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Scrum Master</a:t>
            </a:r>
            <a:endParaRPr lang="en-US" sz="1100" dirty="0"/>
          </a:p>
        </p:txBody>
      </p:sp>
      <p:sp>
        <p:nvSpPr>
          <p:cNvPr id="64" name="Shape 57"/>
          <p:cNvSpPr/>
          <p:nvPr/>
        </p:nvSpPr>
        <p:spPr>
          <a:xfrm>
            <a:off x="8510451" y="4544568"/>
            <a:ext cx="384048" cy="384048"/>
          </a:xfrm>
          <a:prstGeom prst="ellipse">
            <a:avLst/>
          </a:prstGeom>
          <a:solidFill>
            <a:srgbClr val="F2A007"/>
          </a:solidFill>
          <a:ln/>
        </p:spPr>
      </p:sp>
      <p:pic>
        <p:nvPicPr>
          <p:cNvPr id="65" name="Image 5" descr="/home/claude/icons/peopleGroup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610304" y="4644420"/>
            <a:ext cx="184343" cy="184343"/>
          </a:xfrm>
          <a:prstGeom prst="rect">
            <a:avLst/>
          </a:prstGeom>
        </p:spPr>
      </p:pic>
      <p:sp>
        <p:nvSpPr>
          <p:cNvPr id="66" name="Text 58"/>
          <p:cNvSpPr txBox="1"/>
          <p:nvPr/>
        </p:nvSpPr>
        <p:spPr>
          <a:xfrm>
            <a:off x="8967651" y="4544568"/>
            <a:ext cx="110773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100" b="1" dirty="0">
                <a:solidFill>
                  <a:srgbClr val="0B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  </a:t>
            </a:r>
            <a:r>
              <a:rPr lang="en-US" sz="900" dirty="0">
                <a:solidFill>
                  <a:srgbClr val="5C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Scrum Team</a:t>
            </a:r>
            <a:endParaRPr lang="en-US" sz="1100" dirty="0"/>
          </a:p>
        </p:txBody>
      </p:sp>
      <p:sp>
        <p:nvSpPr>
          <p:cNvPr id="67" name="Shape 59"/>
          <p:cNvSpPr/>
          <p:nvPr/>
        </p:nvSpPr>
        <p:spPr>
          <a:xfrm>
            <a:off x="10121102" y="4544568"/>
            <a:ext cx="384048" cy="384048"/>
          </a:xfrm>
          <a:prstGeom prst="ellipse">
            <a:avLst/>
          </a:prstGeom>
          <a:solidFill>
            <a:srgbClr val="0E3B63"/>
          </a:solidFill>
          <a:ln/>
        </p:spPr>
      </p:sp>
      <p:pic>
        <p:nvPicPr>
          <p:cNvPr id="68" name="Image 6" descr="/home/claude/icons/clipboardCheck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220954" y="4644420"/>
            <a:ext cx="184343" cy="184343"/>
          </a:xfrm>
          <a:prstGeom prst="rect">
            <a:avLst/>
          </a:prstGeom>
        </p:spPr>
      </p:pic>
      <p:sp>
        <p:nvSpPr>
          <p:cNvPr id="69" name="Text 60"/>
          <p:cNvSpPr txBox="1"/>
          <p:nvPr/>
        </p:nvSpPr>
        <p:spPr>
          <a:xfrm>
            <a:off x="10578302" y="4544568"/>
            <a:ext cx="110773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100" b="1" dirty="0">
                <a:solidFill>
                  <a:srgbClr val="0B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CCB  </a:t>
            </a:r>
            <a:r>
              <a:rPr lang="en-US" sz="900" dirty="0">
                <a:solidFill>
                  <a:srgbClr val="5C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Control Board</a:t>
            </a:r>
            <a:endParaRPr lang="en-US" sz="1100" dirty="0"/>
          </a:p>
        </p:txBody>
      </p:sp>
      <p:sp>
        <p:nvSpPr>
          <p:cNvPr id="70" name="Text 61"/>
          <p:cNvSpPr txBox="1"/>
          <p:nvPr/>
        </p:nvSpPr>
        <p:spPr>
          <a:xfrm>
            <a:off x="457200" y="6547104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FA9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Testing  ·  Unit 2</a:t>
            </a:r>
            <a:endParaRPr lang="en-US" sz="900" dirty="0"/>
          </a:p>
        </p:txBody>
      </p:sp>
      <p:sp>
        <p:nvSpPr>
          <p:cNvPr id="71" name="Text 62"/>
          <p:cNvSpPr txBox="1"/>
          <p:nvPr/>
        </p:nvSpPr>
        <p:spPr>
          <a:xfrm>
            <a:off x="11277295" y="6547104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FA9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2A0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76072"/>
            <a:ext cx="9601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2E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Seven Roles in the Scrum Process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078992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C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Roles = the “Jobs” component of Scrum — who is involved, from higher management down to the delivery team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600200"/>
            <a:ext cx="2724912" cy="196596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 w="12700">
            <a:solidFill>
              <a:srgbClr val="CFE3EF"/>
            </a:solidFill>
            <a:prstDash val="solid"/>
          </a:ln>
          <a:effectLst>
            <a:outerShdw blurRad="76200" dist="25400" dir="5400000" algn="bl" rotWithShape="0">
              <a:srgbClr val="9DB6C9">
                <a:alpha val="2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58368" y="1801368"/>
            <a:ext cx="548640" cy="548640"/>
          </a:xfrm>
          <a:prstGeom prst="ellipse">
            <a:avLst/>
          </a:prstGeom>
          <a:solidFill>
            <a:srgbClr val="0E3B63"/>
          </a:solidFill>
          <a:ln/>
        </p:spPr>
      </p:sp>
      <p:pic>
        <p:nvPicPr>
          <p:cNvPr id="7" name="Image 0" descr="/home/claude/icons/briefcas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1014" y="1944014"/>
            <a:ext cx="263347" cy="263347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621792" y="2468880"/>
            <a:ext cx="23957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0B2E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a) CEO / Higher Management</a:t>
            </a:r>
            <a:endParaRPr lang="en-US" sz="1250" dirty="0"/>
          </a:p>
        </p:txBody>
      </p:sp>
      <p:sp>
        <p:nvSpPr>
          <p:cNvPr id="9" name="Text 6"/>
          <p:cNvSpPr txBox="1"/>
          <p:nvPr/>
        </p:nvSpPr>
        <p:spPr>
          <a:xfrm>
            <a:off x="621792" y="2953512"/>
            <a:ext cx="23957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Conducts the kick-off meeting; selects the PO; receives proposals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3319272" y="1600200"/>
            <a:ext cx="2724912" cy="196596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 w="12700">
            <a:solidFill>
              <a:srgbClr val="CFE3EF"/>
            </a:solidFill>
            <a:prstDash val="solid"/>
          </a:ln>
          <a:effectLst>
            <a:outerShdw blurRad="76200" dist="25400" dir="5400000" algn="bl" rotWithShape="0">
              <a:srgbClr val="9DB6C9">
                <a:alpha val="2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520440" y="1801368"/>
            <a:ext cx="548640" cy="54864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2" name="Image 1" descr="/home/claude/icons/handshak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63086" y="1944014"/>
            <a:ext cx="263347" cy="263347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3483864" y="2468880"/>
            <a:ext cx="23957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0B2E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b) Client (Real / Model)</a:t>
            </a:r>
            <a:endParaRPr lang="en-US" sz="1250" dirty="0"/>
          </a:p>
        </p:txBody>
      </p:sp>
      <p:sp>
        <p:nvSpPr>
          <p:cNvPr id="14" name="Text 10"/>
          <p:cNvSpPr txBox="1"/>
          <p:nvPr/>
        </p:nvSpPr>
        <p:spPr>
          <a:xfrm>
            <a:off x="3483864" y="2953512"/>
            <a:ext cx="23957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Sends the proposal; approves PO; shares all requirements</a:t>
            </a:r>
            <a:endParaRPr lang="en-US" sz="1000" dirty="0"/>
          </a:p>
        </p:txBody>
      </p:sp>
      <p:sp>
        <p:nvSpPr>
          <p:cNvPr id="15" name="Shape 11"/>
          <p:cNvSpPr/>
          <p:nvPr/>
        </p:nvSpPr>
        <p:spPr>
          <a:xfrm>
            <a:off x="6181344" y="1600200"/>
            <a:ext cx="2724912" cy="196596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 w="12700">
            <a:solidFill>
              <a:srgbClr val="CFE3EF"/>
            </a:solidFill>
            <a:prstDash val="solid"/>
          </a:ln>
          <a:effectLst>
            <a:outerShdw blurRad="76200" dist="25400" dir="5400000" algn="bl" rotWithShape="0">
              <a:srgbClr val="9DB6C9">
                <a:alpha val="28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6382512" y="1801368"/>
            <a:ext cx="548640" cy="548640"/>
          </a:xfrm>
          <a:prstGeom prst="ellipse">
            <a:avLst/>
          </a:prstGeom>
          <a:solidFill>
            <a:srgbClr val="F2A007"/>
          </a:solidFill>
          <a:ln/>
        </p:spPr>
      </p:sp>
      <p:pic>
        <p:nvPicPr>
          <p:cNvPr id="17" name="Image 2" descr="/home/claude/icons/userTi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25158" y="1944014"/>
            <a:ext cx="263347" cy="263347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6345936" y="2468880"/>
            <a:ext cx="23957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0B2E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c) Stake Holders (SHs)</a:t>
            </a:r>
            <a:endParaRPr lang="en-US" sz="1250" dirty="0"/>
          </a:p>
        </p:txBody>
      </p:sp>
      <p:sp>
        <p:nvSpPr>
          <p:cNvPr id="19" name="Text 14"/>
          <p:cNvSpPr txBox="1"/>
          <p:nvPr/>
        </p:nvSpPr>
        <p:spPr>
          <a:xfrm>
            <a:off x="6345936" y="2953512"/>
            <a:ext cx="23957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Represent the client; approve PO; join every ceremony</a:t>
            </a:r>
            <a:endParaRPr lang="en-US" sz="1000" dirty="0"/>
          </a:p>
        </p:txBody>
      </p:sp>
      <p:sp>
        <p:nvSpPr>
          <p:cNvPr id="20" name="Shape 15"/>
          <p:cNvSpPr/>
          <p:nvPr/>
        </p:nvSpPr>
        <p:spPr>
          <a:xfrm>
            <a:off x="9043416" y="1600200"/>
            <a:ext cx="2724912" cy="196596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 w="12700">
            <a:solidFill>
              <a:srgbClr val="CFE3EF"/>
            </a:solidFill>
            <a:prstDash val="solid"/>
          </a:ln>
          <a:effectLst>
            <a:outerShdw blurRad="76200" dist="25400" dir="5400000" algn="bl" rotWithShape="0">
              <a:srgbClr val="9DB6C9">
                <a:alpha val="28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9244584" y="1801368"/>
            <a:ext cx="548640" cy="548640"/>
          </a:xfrm>
          <a:prstGeom prst="ellipse">
            <a:avLst/>
          </a:prstGeom>
          <a:solidFill>
            <a:srgbClr val="0E3B63"/>
          </a:solidFill>
          <a:ln/>
        </p:spPr>
      </p:sp>
      <p:pic>
        <p:nvPicPr>
          <p:cNvPr id="22" name="Image 3" descr="/home/claude/icons/crown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87230" y="1944014"/>
            <a:ext cx="263347" cy="263347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9208008" y="2468880"/>
            <a:ext cx="23957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0B2E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d) Product Owner (PO)</a:t>
            </a:r>
            <a:endParaRPr lang="en-US" sz="1250" dirty="0"/>
          </a:p>
        </p:txBody>
      </p:sp>
      <p:sp>
        <p:nvSpPr>
          <p:cNvPr id="24" name="Text 18"/>
          <p:cNvSpPr txBox="1"/>
          <p:nvPr/>
        </p:nvSpPr>
        <p:spPr>
          <a:xfrm>
            <a:off x="9208008" y="2953512"/>
            <a:ext cx="23957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Owns the backlog; the decision-maker; accountable for ROI</a:t>
            </a:r>
            <a:endParaRPr lang="en-US" sz="1000" dirty="0"/>
          </a:p>
        </p:txBody>
      </p:sp>
      <p:sp>
        <p:nvSpPr>
          <p:cNvPr id="25" name="Shape 19"/>
          <p:cNvSpPr/>
          <p:nvPr/>
        </p:nvSpPr>
        <p:spPr>
          <a:xfrm>
            <a:off x="457200" y="3749040"/>
            <a:ext cx="2724912" cy="196596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 w="12700">
            <a:solidFill>
              <a:srgbClr val="CFE3EF"/>
            </a:solidFill>
            <a:prstDash val="solid"/>
          </a:ln>
          <a:effectLst>
            <a:outerShdw blurRad="76200" dist="25400" dir="5400000" algn="bl" rotWithShape="0">
              <a:srgbClr val="9DB6C9">
                <a:alpha val="28000"/>
              </a:srgbClr>
            </a:outerShdw>
          </a:effectLst>
        </p:spPr>
      </p:sp>
      <p:sp>
        <p:nvSpPr>
          <p:cNvPr id="26" name="Shape 20"/>
          <p:cNvSpPr/>
          <p:nvPr/>
        </p:nvSpPr>
        <p:spPr>
          <a:xfrm>
            <a:off x="658368" y="3950208"/>
            <a:ext cx="548640" cy="54864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27" name="Image 4" descr="/home/claude/icons/shieldHalv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1014" y="4092854"/>
            <a:ext cx="263347" cy="263347"/>
          </a:xfrm>
          <a:prstGeom prst="rect">
            <a:avLst/>
          </a:prstGeom>
        </p:spPr>
      </p:pic>
      <p:sp>
        <p:nvSpPr>
          <p:cNvPr id="28" name="Text 21"/>
          <p:cNvSpPr txBox="1"/>
          <p:nvPr/>
        </p:nvSpPr>
        <p:spPr>
          <a:xfrm>
            <a:off x="621792" y="4617720"/>
            <a:ext cx="23957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0B2E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e) Scrum Master (SM)</a:t>
            </a:r>
            <a:endParaRPr lang="en-US" sz="1250" dirty="0"/>
          </a:p>
        </p:txBody>
      </p:sp>
      <p:sp>
        <p:nvSpPr>
          <p:cNvPr id="29" name="Text 22"/>
          <p:cNvSpPr txBox="1"/>
          <p:nvPr/>
        </p:nvSpPr>
        <p:spPr>
          <a:xfrm>
            <a:off x="621792" y="5102352"/>
            <a:ext cx="23957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Facilitator; conducts ceremonies; removes team blockers</a:t>
            </a:r>
            <a:endParaRPr lang="en-US" sz="1000" dirty="0"/>
          </a:p>
        </p:txBody>
      </p:sp>
      <p:sp>
        <p:nvSpPr>
          <p:cNvPr id="30" name="Shape 23"/>
          <p:cNvSpPr/>
          <p:nvPr/>
        </p:nvSpPr>
        <p:spPr>
          <a:xfrm>
            <a:off x="3319272" y="3749040"/>
            <a:ext cx="2724912" cy="196596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 w="12700">
            <a:solidFill>
              <a:srgbClr val="CFE3EF"/>
            </a:solidFill>
            <a:prstDash val="solid"/>
          </a:ln>
          <a:effectLst>
            <a:outerShdw blurRad="76200" dist="25400" dir="5400000" algn="bl" rotWithShape="0">
              <a:srgbClr val="9DB6C9">
                <a:alpha val="28000"/>
              </a:srgbClr>
            </a:outerShdw>
          </a:effectLst>
        </p:spPr>
      </p:sp>
      <p:sp>
        <p:nvSpPr>
          <p:cNvPr id="31" name="Shape 24"/>
          <p:cNvSpPr/>
          <p:nvPr/>
        </p:nvSpPr>
        <p:spPr>
          <a:xfrm>
            <a:off x="3520440" y="3950208"/>
            <a:ext cx="548640" cy="548640"/>
          </a:xfrm>
          <a:prstGeom prst="ellipse">
            <a:avLst/>
          </a:prstGeom>
          <a:solidFill>
            <a:srgbClr val="F2A007"/>
          </a:solidFill>
          <a:ln/>
        </p:spPr>
      </p:sp>
      <p:pic>
        <p:nvPicPr>
          <p:cNvPr id="32" name="Image 5" descr="/home/claude/icons/peopleGroup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663086" y="4092854"/>
            <a:ext cx="263347" cy="263347"/>
          </a:xfrm>
          <a:prstGeom prst="rect">
            <a:avLst/>
          </a:prstGeom>
        </p:spPr>
      </p:pic>
      <p:sp>
        <p:nvSpPr>
          <p:cNvPr id="33" name="Text 25"/>
          <p:cNvSpPr txBox="1"/>
          <p:nvPr/>
        </p:nvSpPr>
        <p:spPr>
          <a:xfrm>
            <a:off x="3483864" y="4617720"/>
            <a:ext cx="23957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0B2E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f) Scrum Team (ST)</a:t>
            </a:r>
            <a:endParaRPr lang="en-US" sz="1250" dirty="0"/>
          </a:p>
        </p:txBody>
      </p:sp>
      <p:sp>
        <p:nvSpPr>
          <p:cNvPr id="34" name="Text 26"/>
          <p:cNvSpPr txBox="1"/>
          <p:nvPr/>
        </p:nvSpPr>
        <p:spPr>
          <a:xfrm>
            <a:off x="3483864" y="5102352"/>
            <a:ext cx="23957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Developers + testers who build, test and release the sprint</a:t>
            </a:r>
            <a:endParaRPr lang="en-US" sz="1000" dirty="0"/>
          </a:p>
        </p:txBody>
      </p:sp>
      <p:sp>
        <p:nvSpPr>
          <p:cNvPr id="35" name="Shape 27"/>
          <p:cNvSpPr/>
          <p:nvPr/>
        </p:nvSpPr>
        <p:spPr>
          <a:xfrm>
            <a:off x="6181344" y="3749040"/>
            <a:ext cx="2724912" cy="196596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 w="12700">
            <a:solidFill>
              <a:srgbClr val="CFE3EF"/>
            </a:solidFill>
            <a:prstDash val="solid"/>
          </a:ln>
          <a:effectLst>
            <a:outerShdw blurRad="76200" dist="25400" dir="5400000" algn="bl" rotWithShape="0">
              <a:srgbClr val="9DB6C9">
                <a:alpha val="28000"/>
              </a:srgbClr>
            </a:outerShdw>
          </a:effectLst>
        </p:spPr>
      </p:sp>
      <p:sp>
        <p:nvSpPr>
          <p:cNvPr id="36" name="Shape 28"/>
          <p:cNvSpPr/>
          <p:nvPr/>
        </p:nvSpPr>
        <p:spPr>
          <a:xfrm>
            <a:off x="6382512" y="3950208"/>
            <a:ext cx="548640" cy="548640"/>
          </a:xfrm>
          <a:prstGeom prst="ellipse">
            <a:avLst/>
          </a:prstGeom>
          <a:solidFill>
            <a:srgbClr val="0E3B63"/>
          </a:solidFill>
          <a:ln/>
        </p:spPr>
      </p:sp>
      <p:pic>
        <p:nvPicPr>
          <p:cNvPr id="37" name="Image 6" descr="/home/claude/icons/clipboardCheck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525158" y="4092854"/>
            <a:ext cx="263347" cy="263347"/>
          </a:xfrm>
          <a:prstGeom prst="rect">
            <a:avLst/>
          </a:prstGeom>
        </p:spPr>
      </p:pic>
      <p:sp>
        <p:nvSpPr>
          <p:cNvPr id="38" name="Text 29"/>
          <p:cNvSpPr txBox="1"/>
          <p:nvPr/>
        </p:nvSpPr>
        <p:spPr>
          <a:xfrm>
            <a:off x="6345936" y="4617720"/>
            <a:ext cx="23957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0B2E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g) Change Control Board (CCB)</a:t>
            </a:r>
            <a:endParaRPr lang="en-US" sz="1250" dirty="0"/>
          </a:p>
        </p:txBody>
      </p:sp>
      <p:sp>
        <p:nvSpPr>
          <p:cNvPr id="39" name="Text 30"/>
          <p:cNvSpPr txBox="1"/>
          <p:nvPr/>
        </p:nvSpPr>
        <p:spPr>
          <a:xfrm>
            <a:off x="6345936" y="5102352"/>
            <a:ext cx="23957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Trained freshers who handle change requests on released sprints</a:t>
            </a:r>
            <a:endParaRPr lang="en-US" sz="1000" dirty="0"/>
          </a:p>
        </p:txBody>
      </p:sp>
      <p:sp>
        <p:nvSpPr>
          <p:cNvPr id="40" name="Shape 31"/>
          <p:cNvSpPr/>
          <p:nvPr/>
        </p:nvSpPr>
        <p:spPr>
          <a:xfrm>
            <a:off x="9043416" y="3749040"/>
            <a:ext cx="2724912" cy="1965960"/>
          </a:xfrm>
          <a:prstGeom prst="roundRect">
            <a:avLst>
              <a:gd name="adj" fmla="val 4186"/>
            </a:avLst>
          </a:prstGeom>
          <a:solidFill>
            <a:srgbClr val="0B2E4F"/>
          </a:solidFill>
          <a:ln/>
        </p:spPr>
      </p:sp>
      <p:sp>
        <p:nvSpPr>
          <p:cNvPr id="41" name="Text 32"/>
          <p:cNvSpPr txBox="1"/>
          <p:nvPr/>
        </p:nvSpPr>
        <p:spPr>
          <a:xfrm>
            <a:off x="9244584" y="3913632"/>
            <a:ext cx="2322576" cy="1636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F2A0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Coming up
</a:t>
            </a:r>
            <a:r>
              <a:rPr lang="en-US" sz="1050" dirty="0">
                <a:solidFill>
                  <a:srgbClr val="CFE3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responsibilities of each role, in order, on the next slides.</a:t>
            </a:r>
            <a:endParaRPr lang="en-US" sz="1200" dirty="0"/>
          </a:p>
        </p:txBody>
      </p:sp>
      <p:sp>
        <p:nvSpPr>
          <p:cNvPr id="42" name="Text 33"/>
          <p:cNvSpPr txBox="1"/>
          <p:nvPr/>
        </p:nvSpPr>
        <p:spPr>
          <a:xfrm>
            <a:off x="457200" y="6547104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FA9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Testing  ·  Unit 2</a:t>
            </a:r>
            <a:endParaRPr lang="en-US" sz="900" dirty="0"/>
          </a:p>
        </p:txBody>
      </p:sp>
      <p:sp>
        <p:nvSpPr>
          <p:cNvPr id="43" name="Text 34"/>
          <p:cNvSpPr txBox="1"/>
          <p:nvPr/>
        </p:nvSpPr>
        <p:spPr>
          <a:xfrm>
            <a:off x="11277295" y="6547104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FA9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2A0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ROLES · A &amp; B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76072"/>
            <a:ext cx="9601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2E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CEO &amp; Client Responsibilities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5394960" cy="4892040"/>
          </a:xfrm>
          <a:prstGeom prst="roundRect">
            <a:avLst>
              <a:gd name="adj" fmla="val 1682"/>
            </a:avLst>
          </a:prstGeom>
          <a:solidFill>
            <a:srgbClr val="FFFFFF"/>
          </a:solidFill>
          <a:ln w="12700">
            <a:solidFill>
              <a:srgbClr val="CFE3EF"/>
            </a:solidFill>
            <a:prstDash val="solid"/>
          </a:ln>
          <a:effectLst>
            <a:outerShdw blurRad="76200" dist="25400" dir="5400000" algn="bl" rotWithShape="0">
              <a:srgbClr val="9DB6C9">
                <a:alpha val="2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463040"/>
            <a:ext cx="5394960" cy="685800"/>
          </a:xfrm>
          <a:prstGeom prst="roundRect">
            <a:avLst>
              <a:gd name="adj" fmla="val 12000"/>
            </a:avLst>
          </a:prstGeom>
          <a:solidFill>
            <a:srgbClr val="0E3B63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828800"/>
            <a:ext cx="5394960" cy="320040"/>
          </a:xfrm>
          <a:prstGeom prst="rect">
            <a:avLst/>
          </a:prstGeom>
          <a:solidFill>
            <a:srgbClr val="0E3B63"/>
          </a:solidFill>
          <a:ln/>
        </p:spPr>
      </p:sp>
      <p:sp>
        <p:nvSpPr>
          <p:cNvPr id="7" name="Shape 5"/>
          <p:cNvSpPr/>
          <p:nvPr/>
        </p:nvSpPr>
        <p:spPr>
          <a:xfrm>
            <a:off x="621792" y="1591056"/>
            <a:ext cx="438912" cy="438912"/>
          </a:xfrm>
          <a:prstGeom prst="ellipse">
            <a:avLst/>
          </a:prstGeom>
          <a:solidFill>
            <a:srgbClr val="0E3B63"/>
          </a:solidFill>
          <a:ln/>
        </p:spPr>
      </p:sp>
      <p:pic>
        <p:nvPicPr>
          <p:cNvPr id="8" name="Image 0" descr="/home/claude/icons/briefcas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" y="1682496"/>
            <a:ext cx="256032" cy="256032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207008" y="1463040"/>
            <a:ext cx="4480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a) CEO / Higher Management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731520" y="2802636"/>
            <a:ext cx="109728" cy="109728"/>
          </a:xfrm>
          <a:prstGeom prst="ellipse">
            <a:avLst/>
          </a:prstGeom>
          <a:solidFill>
            <a:srgbClr val="0E3B63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960120" y="2377440"/>
            <a:ext cx="4617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Conducts the Kick-off Meeting to select the Product Owner (PO)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731520" y="3762756"/>
            <a:ext cx="109728" cy="109728"/>
          </a:xfrm>
          <a:prstGeom prst="ellipse">
            <a:avLst/>
          </a:prstGeom>
          <a:solidFill>
            <a:srgbClr val="0E3B63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960120" y="3337560"/>
            <a:ext cx="4617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Gets approval from the client (Real &amp; Model client) on the PO selection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731520" y="4722876"/>
            <a:ext cx="109728" cy="109728"/>
          </a:xfrm>
          <a:prstGeom prst="ellipse">
            <a:avLst/>
          </a:prstGeom>
          <a:solidFill>
            <a:srgbClr val="0E3B63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960120" y="4297680"/>
            <a:ext cx="4617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Receives proposals from clients for a Project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731520" y="5682996"/>
            <a:ext cx="109728" cy="109728"/>
          </a:xfrm>
          <a:prstGeom prst="ellipse">
            <a:avLst/>
          </a:prstGeom>
          <a:solidFill>
            <a:srgbClr val="0E3B63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960120" y="5257800"/>
            <a:ext cx="4617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Responsible for creating a proposal for Products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6245352" y="1463040"/>
            <a:ext cx="5394960" cy="4892040"/>
          </a:xfrm>
          <a:prstGeom prst="roundRect">
            <a:avLst>
              <a:gd name="adj" fmla="val 1682"/>
            </a:avLst>
          </a:prstGeom>
          <a:solidFill>
            <a:srgbClr val="FFFFFF"/>
          </a:solidFill>
          <a:ln w="12700">
            <a:solidFill>
              <a:srgbClr val="CFE3EF"/>
            </a:solidFill>
            <a:prstDash val="solid"/>
          </a:ln>
          <a:effectLst>
            <a:outerShdw blurRad="76200" dist="25400" dir="5400000" algn="bl" rotWithShape="0">
              <a:srgbClr val="9DB6C9">
                <a:alpha val="28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6245352" y="1463040"/>
            <a:ext cx="5394960" cy="685800"/>
          </a:xfrm>
          <a:prstGeom prst="roundRect">
            <a:avLst>
              <a:gd name="adj" fmla="val 12000"/>
            </a:avLst>
          </a:prstGeom>
          <a:solidFill>
            <a:srgbClr val="1C7293"/>
          </a:solidFill>
          <a:ln/>
        </p:spPr>
      </p:sp>
      <p:sp>
        <p:nvSpPr>
          <p:cNvPr id="20" name="Shape 17"/>
          <p:cNvSpPr/>
          <p:nvPr/>
        </p:nvSpPr>
        <p:spPr>
          <a:xfrm>
            <a:off x="6245352" y="1828800"/>
            <a:ext cx="5394960" cy="32004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21" name="Shape 18"/>
          <p:cNvSpPr/>
          <p:nvPr/>
        </p:nvSpPr>
        <p:spPr>
          <a:xfrm>
            <a:off x="6409944" y="1591056"/>
            <a:ext cx="438912" cy="438912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22" name="Image 1" descr="/home/claude/icons/handshak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01384" y="1682496"/>
            <a:ext cx="256032" cy="256032"/>
          </a:xfrm>
          <a:prstGeom prst="rect">
            <a:avLst/>
          </a:prstGeom>
        </p:spPr>
      </p:pic>
      <p:sp>
        <p:nvSpPr>
          <p:cNvPr id="23" name="Text 19"/>
          <p:cNvSpPr txBox="1"/>
          <p:nvPr/>
        </p:nvSpPr>
        <p:spPr>
          <a:xfrm>
            <a:off x="6995160" y="1463040"/>
            <a:ext cx="4480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b) Client (Real / Model)</a:t>
            </a:r>
            <a:endParaRPr lang="en-US" sz="1500" dirty="0"/>
          </a:p>
        </p:txBody>
      </p:sp>
      <p:sp>
        <p:nvSpPr>
          <p:cNvPr id="24" name="Shape 20"/>
          <p:cNvSpPr/>
          <p:nvPr/>
        </p:nvSpPr>
        <p:spPr>
          <a:xfrm>
            <a:off x="6519672" y="2706624"/>
            <a:ext cx="109728" cy="10972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5" name="Text 21"/>
          <p:cNvSpPr txBox="1"/>
          <p:nvPr/>
        </p:nvSpPr>
        <p:spPr>
          <a:xfrm>
            <a:off x="6748272" y="2377440"/>
            <a:ext cx="461772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Responsible to send the proposal to the company</a:t>
            </a:r>
            <a:endParaRPr lang="en-US" sz="1200" dirty="0"/>
          </a:p>
        </p:txBody>
      </p:sp>
      <p:sp>
        <p:nvSpPr>
          <p:cNvPr id="26" name="Shape 22"/>
          <p:cNvSpPr/>
          <p:nvPr/>
        </p:nvSpPr>
        <p:spPr>
          <a:xfrm>
            <a:off x="6519672" y="3474720"/>
            <a:ext cx="109728" cy="10972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7" name="Text 23"/>
          <p:cNvSpPr txBox="1"/>
          <p:nvPr/>
        </p:nvSpPr>
        <p:spPr>
          <a:xfrm>
            <a:off x="6748272" y="3145536"/>
            <a:ext cx="461772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Responsible to approve the selection of the PO</a:t>
            </a:r>
            <a:endParaRPr lang="en-US" sz="1200" dirty="0"/>
          </a:p>
        </p:txBody>
      </p:sp>
      <p:sp>
        <p:nvSpPr>
          <p:cNvPr id="28" name="Shape 24"/>
          <p:cNvSpPr/>
          <p:nvPr/>
        </p:nvSpPr>
        <p:spPr>
          <a:xfrm>
            <a:off x="6519672" y="4242816"/>
            <a:ext cx="109728" cy="10972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9" name="Text 25"/>
          <p:cNvSpPr txBox="1"/>
          <p:nvPr/>
        </p:nvSpPr>
        <p:spPr>
          <a:xfrm>
            <a:off x="6748272" y="3913632"/>
            <a:ext cx="461772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Shares all requirements with the PO, along with the SHs</a:t>
            </a:r>
            <a:endParaRPr lang="en-US" sz="1200" dirty="0"/>
          </a:p>
        </p:txBody>
      </p:sp>
      <p:sp>
        <p:nvSpPr>
          <p:cNvPr id="30" name="Shape 26"/>
          <p:cNvSpPr/>
          <p:nvPr/>
        </p:nvSpPr>
        <p:spPr>
          <a:xfrm>
            <a:off x="6519672" y="5010912"/>
            <a:ext cx="109728" cy="10972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1" name="Text 27"/>
          <p:cNvSpPr txBox="1"/>
          <p:nvPr/>
        </p:nvSpPr>
        <p:spPr>
          <a:xfrm>
            <a:off x="6748272" y="4681728"/>
            <a:ext cx="461772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Participates in Sprint Review meetings to give feedback</a:t>
            </a:r>
            <a:endParaRPr lang="en-US" sz="1200" dirty="0"/>
          </a:p>
        </p:txBody>
      </p:sp>
      <p:sp>
        <p:nvSpPr>
          <p:cNvPr id="32" name="Shape 28"/>
          <p:cNvSpPr/>
          <p:nvPr/>
        </p:nvSpPr>
        <p:spPr>
          <a:xfrm>
            <a:off x="6519672" y="5779008"/>
            <a:ext cx="109728" cy="10972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3" name="Text 29"/>
          <p:cNvSpPr txBox="1"/>
          <p:nvPr/>
        </p:nvSpPr>
        <p:spPr>
          <a:xfrm>
            <a:off x="6748272" y="5449824"/>
            <a:ext cx="461772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Participates in Product Backlog Refinement meetings to share changes / updates in user stories</a:t>
            </a:r>
            <a:endParaRPr lang="en-US" sz="1200" dirty="0"/>
          </a:p>
        </p:txBody>
      </p:sp>
      <p:sp>
        <p:nvSpPr>
          <p:cNvPr id="34" name="Text 30"/>
          <p:cNvSpPr txBox="1"/>
          <p:nvPr/>
        </p:nvSpPr>
        <p:spPr>
          <a:xfrm>
            <a:off x="457200" y="6547104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FA9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Testing  ·  Unit 2</a:t>
            </a:r>
            <a:endParaRPr lang="en-US" sz="900" dirty="0"/>
          </a:p>
        </p:txBody>
      </p:sp>
      <p:sp>
        <p:nvSpPr>
          <p:cNvPr id="35" name="Text 31"/>
          <p:cNvSpPr txBox="1"/>
          <p:nvPr/>
        </p:nvSpPr>
        <p:spPr>
          <a:xfrm>
            <a:off x="11277295" y="6547104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FA9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2A0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ROLES · C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76072"/>
            <a:ext cx="9601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2E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Stake Holders (SHs) Responsibilities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078992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C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Stake Holders work as representatives of the client, and join every major ceremony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600200"/>
            <a:ext cx="5532120" cy="1051560"/>
          </a:xfrm>
          <a:prstGeom prst="roundRect">
            <a:avLst>
              <a:gd name="adj" fmla="val 6087"/>
            </a:avLst>
          </a:prstGeom>
          <a:solidFill>
            <a:srgbClr val="FFFFFF"/>
          </a:solidFill>
          <a:ln w="12700">
            <a:solidFill>
              <a:srgbClr val="CFE3E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94360" y="1860804"/>
            <a:ext cx="329184" cy="329184"/>
          </a:xfrm>
          <a:prstGeom prst="ellipse">
            <a:avLst/>
          </a:prstGeom>
          <a:solidFill>
            <a:srgbClr val="F2A007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94360" y="186080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2E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024128" y="1600200"/>
            <a:ext cx="47548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as representatives to the client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2788920"/>
            <a:ext cx="5532120" cy="1051560"/>
          </a:xfrm>
          <a:prstGeom prst="roundRect">
            <a:avLst>
              <a:gd name="adj" fmla="val 6087"/>
            </a:avLst>
          </a:prstGeom>
          <a:solidFill>
            <a:srgbClr val="FFFFFF"/>
          </a:solidFill>
          <a:ln w="12700">
            <a:solidFill>
              <a:srgbClr val="CFE3E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94360" y="3049524"/>
            <a:ext cx="329184" cy="329184"/>
          </a:xfrm>
          <a:prstGeom prst="ellipse">
            <a:avLst/>
          </a:prstGeom>
          <a:solidFill>
            <a:srgbClr val="F2A007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94360" y="304952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2E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1024128" y="2788920"/>
            <a:ext cx="47548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Participate in the PBL Grooming meeting along with the client &amp; PO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3977640"/>
            <a:ext cx="5532120" cy="1051560"/>
          </a:xfrm>
          <a:prstGeom prst="roundRect">
            <a:avLst>
              <a:gd name="adj" fmla="val 6087"/>
            </a:avLst>
          </a:prstGeom>
          <a:solidFill>
            <a:srgbClr val="FFFFFF"/>
          </a:solidFill>
          <a:ln w="12700">
            <a:solidFill>
              <a:srgbClr val="CFE3E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94360" y="4238244"/>
            <a:ext cx="329184" cy="329184"/>
          </a:xfrm>
          <a:prstGeom prst="ellipse">
            <a:avLst/>
          </a:prstGeom>
          <a:solidFill>
            <a:srgbClr val="F2A007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594360" y="423824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2E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1024128" y="3977640"/>
            <a:ext cx="47548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 PO selection along with the client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7200" y="5166360"/>
            <a:ext cx="5532120" cy="1051560"/>
          </a:xfrm>
          <a:prstGeom prst="roundRect">
            <a:avLst>
              <a:gd name="adj" fmla="val 6087"/>
            </a:avLst>
          </a:prstGeom>
          <a:solidFill>
            <a:srgbClr val="FFFFFF"/>
          </a:solidFill>
          <a:ln w="12700">
            <a:solidFill>
              <a:srgbClr val="CFE3E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94360" y="5426964"/>
            <a:ext cx="329184" cy="329184"/>
          </a:xfrm>
          <a:prstGeom prst="ellipse">
            <a:avLst/>
          </a:prstGeom>
          <a:solidFill>
            <a:srgbClr val="F2A007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594360" y="542696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2E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1024128" y="5166360"/>
            <a:ext cx="47548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Participate in the Sprint Planning meeting to select some user stories from all user stories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199632" y="1600200"/>
            <a:ext cx="5532120" cy="1051560"/>
          </a:xfrm>
          <a:prstGeom prst="roundRect">
            <a:avLst>
              <a:gd name="adj" fmla="val 6087"/>
            </a:avLst>
          </a:prstGeom>
          <a:solidFill>
            <a:srgbClr val="FFFFFF"/>
          </a:solidFill>
          <a:ln w="12700">
            <a:solidFill>
              <a:srgbClr val="CFE3E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336792" y="1860804"/>
            <a:ext cx="329184" cy="329184"/>
          </a:xfrm>
          <a:prstGeom prst="ellipse">
            <a:avLst/>
          </a:prstGeom>
          <a:solidFill>
            <a:srgbClr val="F2A007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6336792" y="186080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2E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6766560" y="1600200"/>
            <a:ext cx="47548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Participate in the Daily Scrum meet along with PO &amp; SM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199632" y="2788920"/>
            <a:ext cx="5532120" cy="1051560"/>
          </a:xfrm>
          <a:prstGeom prst="roundRect">
            <a:avLst>
              <a:gd name="adj" fmla="val 6087"/>
            </a:avLst>
          </a:prstGeom>
          <a:solidFill>
            <a:srgbClr val="FFFFFF"/>
          </a:solidFill>
          <a:ln w="12700">
            <a:solidFill>
              <a:srgbClr val="CFE3E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336792" y="3049524"/>
            <a:ext cx="329184" cy="329184"/>
          </a:xfrm>
          <a:prstGeom prst="ellipse">
            <a:avLst/>
          </a:prstGeom>
          <a:solidFill>
            <a:srgbClr val="F2A007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6336792" y="304952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2E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6766560" y="2788920"/>
            <a:ext cx="47548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Participate in the Sprint Review meeting to collect feedback from the client on the sprint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6199632" y="3977640"/>
            <a:ext cx="5532120" cy="1051560"/>
          </a:xfrm>
          <a:prstGeom prst="roundRect">
            <a:avLst>
              <a:gd name="adj" fmla="val 6087"/>
            </a:avLst>
          </a:prstGeom>
          <a:solidFill>
            <a:srgbClr val="FFFFFF"/>
          </a:solidFill>
          <a:ln w="12700">
            <a:solidFill>
              <a:srgbClr val="CFE3EF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336792" y="4238244"/>
            <a:ext cx="329184" cy="329184"/>
          </a:xfrm>
          <a:prstGeom prst="ellipse">
            <a:avLst/>
          </a:prstGeom>
          <a:solidFill>
            <a:srgbClr val="F2A007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6336792" y="423824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2E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300" dirty="0"/>
          </a:p>
        </p:txBody>
      </p:sp>
      <p:sp>
        <p:nvSpPr>
          <p:cNvPr id="32" name="Text 30"/>
          <p:cNvSpPr txBox="1"/>
          <p:nvPr/>
        </p:nvSpPr>
        <p:spPr>
          <a:xfrm>
            <a:off x="6766560" y="3977640"/>
            <a:ext cx="47548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Participate in the PBL Refinement meeting for changes / updates in user stories</a:t>
            </a:r>
            <a:endParaRPr lang="en-US" sz="1200" dirty="0"/>
          </a:p>
        </p:txBody>
      </p:sp>
      <p:sp>
        <p:nvSpPr>
          <p:cNvPr id="33" name="Text 31"/>
          <p:cNvSpPr txBox="1"/>
          <p:nvPr/>
        </p:nvSpPr>
        <p:spPr>
          <a:xfrm>
            <a:off x="457200" y="6547104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FA9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Testing  ·  Unit 2</a:t>
            </a:r>
            <a:endParaRPr lang="en-US" sz="900" dirty="0"/>
          </a:p>
        </p:txBody>
      </p:sp>
      <p:sp>
        <p:nvSpPr>
          <p:cNvPr id="34" name="Text 32"/>
          <p:cNvSpPr txBox="1"/>
          <p:nvPr/>
        </p:nvSpPr>
        <p:spPr>
          <a:xfrm>
            <a:off x="11277295" y="6547104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FA9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2A0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ROLES · D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76072"/>
            <a:ext cx="9601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2E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Product Owner (PO) — Responsibilities I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2103120" cy="4846320"/>
          </a:xfrm>
          <a:prstGeom prst="roundRect">
            <a:avLst>
              <a:gd name="adj" fmla="val 3913"/>
            </a:avLst>
          </a:prstGeom>
          <a:solidFill>
            <a:srgbClr val="0B2E4F"/>
          </a:solidFill>
          <a:ln/>
        </p:spPr>
      </p:sp>
      <p:sp>
        <p:nvSpPr>
          <p:cNvPr id="5" name="Shape 3"/>
          <p:cNvSpPr/>
          <p:nvPr/>
        </p:nvSpPr>
        <p:spPr>
          <a:xfrm>
            <a:off x="960120" y="1783080"/>
            <a:ext cx="1097280" cy="1097280"/>
          </a:xfrm>
          <a:prstGeom prst="ellipse">
            <a:avLst/>
          </a:prstGeom>
          <a:solidFill>
            <a:srgbClr val="F2A007"/>
          </a:solidFill>
          <a:ln/>
        </p:spPr>
      </p:sp>
      <p:pic>
        <p:nvPicPr>
          <p:cNvPr id="6" name="Image 0" descr="/home/claude/icons/crow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6152" y="2039112"/>
            <a:ext cx="585216" cy="585216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94360" y="306324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Product</a:t>
            </a:r>
            <a:endParaRPr lang="en-US" sz="160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Owner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621792" y="3794760"/>
            <a:ext cx="1783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050" i="1" dirty="0">
                <a:solidFill>
                  <a:srgbClr val="CFE3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Selected by CEO; selection approved by client &amp; SHs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2880360" y="1463040"/>
            <a:ext cx="8851392" cy="679704"/>
          </a:xfrm>
          <a:prstGeom prst="roundRect">
            <a:avLst>
              <a:gd name="adj" fmla="val 9417"/>
            </a:avLst>
          </a:prstGeom>
          <a:solidFill>
            <a:srgbClr val="FFFFFF"/>
          </a:solidFill>
          <a:ln w="12700">
            <a:solidFill>
              <a:srgbClr val="CFE3EF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3026664" y="1519428"/>
            <a:ext cx="329184" cy="329184"/>
          </a:xfrm>
          <a:prstGeom prst="ellipse">
            <a:avLst/>
          </a:prstGeom>
          <a:solidFill>
            <a:srgbClr val="0E3B63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3026664" y="151942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3474720" y="1463040"/>
            <a:ext cx="8028432" cy="679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Selected by the CEO; selection approved by client &amp; Stake Holders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2880360" y="2270760"/>
            <a:ext cx="8851392" cy="679704"/>
          </a:xfrm>
          <a:prstGeom prst="roundRect">
            <a:avLst>
              <a:gd name="adj" fmla="val 9417"/>
            </a:avLst>
          </a:prstGeom>
          <a:solidFill>
            <a:srgbClr val="FFFFFF"/>
          </a:solidFill>
          <a:ln w="12700">
            <a:solidFill>
              <a:srgbClr val="CFE3EF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3026664" y="2327148"/>
            <a:ext cx="329184" cy="32918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3026664" y="232714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3"/>
          <p:cNvSpPr txBox="1"/>
          <p:nvPr/>
        </p:nvSpPr>
        <p:spPr>
          <a:xfrm>
            <a:off x="3474720" y="2270760"/>
            <a:ext cx="8028432" cy="679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Responsible to gather all requirements from clients &amp; SHs, as user stories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2880360" y="3078480"/>
            <a:ext cx="8851392" cy="679704"/>
          </a:xfrm>
          <a:prstGeom prst="roundRect">
            <a:avLst>
              <a:gd name="adj" fmla="val 9417"/>
            </a:avLst>
          </a:prstGeom>
          <a:solidFill>
            <a:srgbClr val="FFFFFF"/>
          </a:solidFill>
          <a:ln w="12700">
            <a:solidFill>
              <a:srgbClr val="CFE3EF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3026664" y="3134868"/>
            <a:ext cx="329184" cy="329184"/>
          </a:xfrm>
          <a:prstGeom prst="ellipse">
            <a:avLst/>
          </a:prstGeom>
          <a:solidFill>
            <a:srgbClr val="0E3B63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3026664" y="313486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300" dirty="0"/>
          </a:p>
        </p:txBody>
      </p:sp>
      <p:sp>
        <p:nvSpPr>
          <p:cNvPr id="20" name="Text 17"/>
          <p:cNvSpPr txBox="1"/>
          <p:nvPr/>
        </p:nvSpPr>
        <p:spPr>
          <a:xfrm>
            <a:off x="3474720" y="3078480"/>
            <a:ext cx="8028432" cy="679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Prepares the gathered requirements as user stories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2880360" y="3886200"/>
            <a:ext cx="8851392" cy="679704"/>
          </a:xfrm>
          <a:prstGeom prst="roundRect">
            <a:avLst>
              <a:gd name="adj" fmla="val 9417"/>
            </a:avLst>
          </a:prstGeom>
          <a:solidFill>
            <a:srgbClr val="FFFFFF"/>
          </a:solidFill>
          <a:ln w="12700">
            <a:solidFill>
              <a:srgbClr val="CFE3EF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3026664" y="3942588"/>
            <a:ext cx="329184" cy="32918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3" name="Text 20"/>
          <p:cNvSpPr txBox="1"/>
          <p:nvPr/>
        </p:nvSpPr>
        <p:spPr>
          <a:xfrm>
            <a:off x="3026664" y="394258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300" dirty="0"/>
          </a:p>
        </p:txBody>
      </p:sp>
      <p:sp>
        <p:nvSpPr>
          <p:cNvPr id="24" name="Text 21"/>
          <p:cNvSpPr txBox="1"/>
          <p:nvPr/>
        </p:nvSpPr>
        <p:spPr>
          <a:xfrm>
            <a:off x="3474720" y="3886200"/>
            <a:ext cx="8028432" cy="679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take help from an SME (Subject Matter Expert) or external BA in requirement gathering &amp; user-story preparation</a:t>
            </a:r>
            <a:endParaRPr lang="en-US" sz="1200" dirty="0"/>
          </a:p>
        </p:txBody>
      </p:sp>
      <p:sp>
        <p:nvSpPr>
          <p:cNvPr id="25" name="Shape 22"/>
          <p:cNvSpPr/>
          <p:nvPr/>
        </p:nvSpPr>
        <p:spPr>
          <a:xfrm>
            <a:off x="2880360" y="4693920"/>
            <a:ext cx="8851392" cy="679704"/>
          </a:xfrm>
          <a:prstGeom prst="roundRect">
            <a:avLst>
              <a:gd name="adj" fmla="val 9417"/>
            </a:avLst>
          </a:prstGeom>
          <a:solidFill>
            <a:srgbClr val="FFFFFF"/>
          </a:solidFill>
          <a:ln w="12700">
            <a:solidFill>
              <a:srgbClr val="CFE3EF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3026664" y="4750308"/>
            <a:ext cx="329184" cy="329184"/>
          </a:xfrm>
          <a:prstGeom prst="ellipse">
            <a:avLst/>
          </a:prstGeom>
          <a:solidFill>
            <a:srgbClr val="0E3B63"/>
          </a:solidFill>
          <a:ln/>
        </p:spPr>
      </p:sp>
      <p:sp>
        <p:nvSpPr>
          <p:cNvPr id="27" name="Text 24"/>
          <p:cNvSpPr txBox="1"/>
          <p:nvPr/>
        </p:nvSpPr>
        <p:spPr>
          <a:xfrm>
            <a:off x="3026664" y="475030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300" dirty="0"/>
          </a:p>
        </p:txBody>
      </p:sp>
      <p:sp>
        <p:nvSpPr>
          <p:cNvPr id="28" name="Text 25"/>
          <p:cNvSpPr txBox="1"/>
          <p:nvPr/>
        </p:nvSpPr>
        <p:spPr>
          <a:xfrm>
            <a:off x="3474720" y="4693920"/>
            <a:ext cx="8028432" cy="679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a user story is big (Epic), the PO can divide it into multiple sub user stories</a:t>
            </a:r>
            <a:endParaRPr lang="en-US" sz="1200" dirty="0"/>
          </a:p>
        </p:txBody>
      </p:sp>
      <p:sp>
        <p:nvSpPr>
          <p:cNvPr id="29" name="Shape 26"/>
          <p:cNvSpPr/>
          <p:nvPr/>
        </p:nvSpPr>
        <p:spPr>
          <a:xfrm>
            <a:off x="2880360" y="5501640"/>
            <a:ext cx="8851392" cy="679704"/>
          </a:xfrm>
          <a:prstGeom prst="roundRect">
            <a:avLst>
              <a:gd name="adj" fmla="val 9417"/>
            </a:avLst>
          </a:prstGeom>
          <a:solidFill>
            <a:srgbClr val="FFFFFF"/>
          </a:solidFill>
          <a:ln w="12700">
            <a:solidFill>
              <a:srgbClr val="CFE3EF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3026664" y="5558028"/>
            <a:ext cx="329184" cy="32918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1" name="Text 28"/>
          <p:cNvSpPr txBox="1"/>
          <p:nvPr/>
        </p:nvSpPr>
        <p:spPr>
          <a:xfrm>
            <a:off x="3026664" y="555802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300" dirty="0"/>
          </a:p>
        </p:txBody>
      </p:sp>
      <p:sp>
        <p:nvSpPr>
          <p:cNvPr id="32" name="Text 29"/>
          <p:cNvSpPr txBox="1"/>
          <p:nvPr/>
        </p:nvSpPr>
        <p:spPr>
          <a:xfrm>
            <a:off x="3474720" y="5501640"/>
            <a:ext cx="8028432" cy="679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Conducts Sprint Planning meeting along with SM, ST &amp; SHs to select some user stories from all user stories — depending on size, importance &amp; complexity</a:t>
            </a:r>
            <a:endParaRPr lang="en-US" sz="1200" dirty="0"/>
          </a:p>
        </p:txBody>
      </p:sp>
      <p:sp>
        <p:nvSpPr>
          <p:cNvPr id="33" name="Text 30"/>
          <p:cNvSpPr txBox="1"/>
          <p:nvPr/>
        </p:nvSpPr>
        <p:spPr>
          <a:xfrm>
            <a:off x="457200" y="6547104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FA9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Testing  ·  Unit 2</a:t>
            </a:r>
            <a:endParaRPr lang="en-US" sz="900" dirty="0"/>
          </a:p>
        </p:txBody>
      </p:sp>
      <p:sp>
        <p:nvSpPr>
          <p:cNvPr id="34" name="Text 31"/>
          <p:cNvSpPr txBox="1"/>
          <p:nvPr/>
        </p:nvSpPr>
        <p:spPr>
          <a:xfrm>
            <a:off x="11277295" y="6547104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FA9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2A0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ROLES · D (CONTD.)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76072"/>
            <a:ext cx="9601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2E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Product Owner (PO) — Responsibilities II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2103120" cy="4846320"/>
          </a:xfrm>
          <a:prstGeom prst="roundRect">
            <a:avLst>
              <a:gd name="adj" fmla="val 3913"/>
            </a:avLst>
          </a:prstGeom>
          <a:solidFill>
            <a:srgbClr val="0B2E4F"/>
          </a:solidFill>
          <a:ln/>
        </p:spPr>
      </p:sp>
      <p:sp>
        <p:nvSpPr>
          <p:cNvPr id="5" name="Shape 3"/>
          <p:cNvSpPr/>
          <p:nvPr/>
        </p:nvSpPr>
        <p:spPr>
          <a:xfrm>
            <a:off x="960120" y="1783080"/>
            <a:ext cx="1097280" cy="1097280"/>
          </a:xfrm>
          <a:prstGeom prst="ellipse">
            <a:avLst/>
          </a:prstGeom>
          <a:solidFill>
            <a:srgbClr val="F2A007"/>
          </a:solidFill>
          <a:ln/>
        </p:spPr>
      </p:sp>
      <p:pic>
        <p:nvPicPr>
          <p:cNvPr id="6" name="Image 0" descr="/home/claude/icons/crow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6152" y="2039112"/>
            <a:ext cx="585216" cy="585216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94360" y="306324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Decision</a:t>
            </a:r>
            <a:endParaRPr lang="en-US" sz="150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Maker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621792" y="3794760"/>
            <a:ext cx="1783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050" i="1" dirty="0">
                <a:solidFill>
                  <a:srgbClr val="CFE3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Owns ROI — decides to accept or reject work results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2880360" y="1463040"/>
            <a:ext cx="8851392" cy="683514"/>
          </a:xfrm>
          <a:prstGeom prst="roundRect">
            <a:avLst>
              <a:gd name="adj" fmla="val 9365"/>
            </a:avLst>
          </a:prstGeom>
          <a:solidFill>
            <a:srgbClr val="FFFFFF"/>
          </a:solidFill>
          <a:ln w="12700">
            <a:solidFill>
              <a:srgbClr val="CFE3EF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3026664" y="1521333"/>
            <a:ext cx="329184" cy="329184"/>
          </a:xfrm>
          <a:prstGeom prst="ellipse">
            <a:avLst/>
          </a:prstGeom>
          <a:solidFill>
            <a:srgbClr val="0E3B63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3026664" y="1521333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3474720" y="1463040"/>
            <a:ext cx="8028432" cy="6835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participate in the Daily Scrum meet along with SM, ST &amp; SHs during the sprint process (30 days)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2880360" y="2274570"/>
            <a:ext cx="8851392" cy="683514"/>
          </a:xfrm>
          <a:prstGeom prst="roundRect">
            <a:avLst>
              <a:gd name="adj" fmla="val 9365"/>
            </a:avLst>
          </a:prstGeom>
          <a:solidFill>
            <a:srgbClr val="FFFFFF"/>
          </a:solidFill>
          <a:ln w="12700">
            <a:solidFill>
              <a:srgbClr val="CFE3EF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3026664" y="2332863"/>
            <a:ext cx="329184" cy="32918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3026664" y="2332863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3"/>
          <p:cNvSpPr txBox="1"/>
          <p:nvPr/>
        </p:nvSpPr>
        <p:spPr>
          <a:xfrm>
            <a:off x="3474720" y="2274570"/>
            <a:ext cx="8028432" cy="6835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participate in the Sprint Review meeting along with SM, ST &amp; SHs to collect client feedback on the sprint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2880360" y="3086100"/>
            <a:ext cx="8851392" cy="683514"/>
          </a:xfrm>
          <a:prstGeom prst="roundRect">
            <a:avLst>
              <a:gd name="adj" fmla="val 9365"/>
            </a:avLst>
          </a:prstGeom>
          <a:solidFill>
            <a:srgbClr val="FFFFFF"/>
          </a:solidFill>
          <a:ln w="12700">
            <a:solidFill>
              <a:srgbClr val="CFE3EF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3026664" y="3144393"/>
            <a:ext cx="329184" cy="329184"/>
          </a:xfrm>
          <a:prstGeom prst="ellipse">
            <a:avLst/>
          </a:prstGeom>
          <a:solidFill>
            <a:srgbClr val="0E3B63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3026664" y="3144393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300" dirty="0"/>
          </a:p>
        </p:txBody>
      </p:sp>
      <p:sp>
        <p:nvSpPr>
          <p:cNvPr id="20" name="Text 17"/>
          <p:cNvSpPr txBox="1"/>
          <p:nvPr/>
        </p:nvSpPr>
        <p:spPr>
          <a:xfrm>
            <a:off x="3474720" y="3086100"/>
            <a:ext cx="8028432" cy="6835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take care of Sprint Release and maintenance, if required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2880360" y="3897630"/>
            <a:ext cx="8851392" cy="683514"/>
          </a:xfrm>
          <a:prstGeom prst="roundRect">
            <a:avLst>
              <a:gd name="adj" fmla="val 9365"/>
            </a:avLst>
          </a:prstGeom>
          <a:solidFill>
            <a:srgbClr val="FFFFFF"/>
          </a:solidFill>
          <a:ln w="12700">
            <a:solidFill>
              <a:srgbClr val="CFE3EF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3026664" y="3955923"/>
            <a:ext cx="329184" cy="32918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3" name="Text 20"/>
          <p:cNvSpPr txBox="1"/>
          <p:nvPr/>
        </p:nvSpPr>
        <p:spPr>
          <a:xfrm>
            <a:off x="3026664" y="3955923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300" dirty="0"/>
          </a:p>
        </p:txBody>
      </p:sp>
      <p:sp>
        <p:nvSpPr>
          <p:cNvPr id="24" name="Text 21"/>
          <p:cNvSpPr txBox="1"/>
          <p:nvPr/>
        </p:nvSpPr>
        <p:spPr>
          <a:xfrm>
            <a:off x="3474720" y="3897630"/>
            <a:ext cx="8028432" cy="6835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participate in the PBL Refinement meeting to allow changes / updates related to user stories</a:t>
            </a:r>
            <a:endParaRPr lang="en-US" sz="1200" dirty="0"/>
          </a:p>
        </p:txBody>
      </p:sp>
      <p:sp>
        <p:nvSpPr>
          <p:cNvPr id="25" name="Shape 22"/>
          <p:cNvSpPr/>
          <p:nvPr/>
        </p:nvSpPr>
        <p:spPr>
          <a:xfrm>
            <a:off x="2880360" y="4754880"/>
            <a:ext cx="8851392" cy="1417320"/>
          </a:xfrm>
          <a:prstGeom prst="roundRect">
            <a:avLst>
              <a:gd name="adj" fmla="val 5161"/>
            </a:avLst>
          </a:prstGeom>
          <a:solidFill>
            <a:srgbClr val="0B2E4F"/>
          </a:solidFill>
          <a:ln/>
        </p:spPr>
      </p:sp>
      <p:sp>
        <p:nvSpPr>
          <p:cNvPr id="26" name="Text 23"/>
          <p:cNvSpPr txBox="1"/>
          <p:nvPr/>
        </p:nvSpPr>
        <p:spPr>
          <a:xfrm>
            <a:off x="3154680" y="48920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2A0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</a:t>
            </a:r>
            <a:endParaRPr lang="en-US" sz="1100" dirty="0"/>
          </a:p>
        </p:txBody>
      </p:sp>
      <p:sp>
        <p:nvSpPr>
          <p:cNvPr id="27" name="Text 24"/>
          <p:cNvSpPr txBox="1"/>
          <p:nvPr/>
        </p:nvSpPr>
        <p:spPr>
          <a:xfrm>
            <a:off x="3154680" y="5212080"/>
            <a:ext cx="83027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PO is responsible for the profitability of the product (ROI — Return On Investment).
</a:t>
            </a:r>
            <a:r>
              <a:rPr lang="en-US" sz="1250" dirty="0">
                <a:solidFill>
                  <a:srgbClr val="CFE3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PO is the decision maker to accept or reject work results.</a:t>
            </a:r>
            <a:endParaRPr lang="en-US" sz="1300" dirty="0"/>
          </a:p>
        </p:txBody>
      </p:sp>
      <p:sp>
        <p:nvSpPr>
          <p:cNvPr id="28" name="Text 25"/>
          <p:cNvSpPr txBox="1"/>
          <p:nvPr/>
        </p:nvSpPr>
        <p:spPr>
          <a:xfrm>
            <a:off x="457200" y="6547104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FA9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Testing  ·  Unit 2</a:t>
            </a:r>
            <a:endParaRPr lang="en-US" sz="900" dirty="0"/>
          </a:p>
        </p:txBody>
      </p:sp>
      <p:sp>
        <p:nvSpPr>
          <p:cNvPr id="29" name="Text 26"/>
          <p:cNvSpPr txBox="1"/>
          <p:nvPr/>
        </p:nvSpPr>
        <p:spPr>
          <a:xfrm>
            <a:off x="11277295" y="6547104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FA9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2A0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ROLES · 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76072"/>
            <a:ext cx="9601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2E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Scrum Master (SM) — Responsibilities I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2103120" cy="4846320"/>
          </a:xfrm>
          <a:prstGeom prst="roundRect">
            <a:avLst>
              <a:gd name="adj" fmla="val 3913"/>
            </a:avLst>
          </a:prstGeom>
          <a:solidFill>
            <a:srgbClr val="0B2E4F"/>
          </a:solidFill>
          <a:ln/>
        </p:spPr>
      </p:sp>
      <p:sp>
        <p:nvSpPr>
          <p:cNvPr id="5" name="Shape 3"/>
          <p:cNvSpPr/>
          <p:nvPr/>
        </p:nvSpPr>
        <p:spPr>
          <a:xfrm>
            <a:off x="960120" y="1783080"/>
            <a:ext cx="1097280" cy="109728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6" name="Image 0" descr="/home/claude/icons/shieldHalv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6152" y="2039112"/>
            <a:ext cx="585216" cy="585216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94360" y="306324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</a:t>
            </a:r>
            <a:endParaRPr lang="en-US" sz="160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Facilitator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621792" y="3794760"/>
            <a:ext cx="1783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050" i="1" dirty="0">
                <a:solidFill>
                  <a:srgbClr val="CFE3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Responsible to provide required resources to the Scrum Team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2880360" y="1463040"/>
            <a:ext cx="8851392" cy="841248"/>
          </a:xfrm>
          <a:prstGeom prst="roundRect">
            <a:avLst>
              <a:gd name="adj" fmla="val 7609"/>
            </a:avLst>
          </a:prstGeom>
          <a:solidFill>
            <a:srgbClr val="FFFFFF"/>
          </a:solidFill>
          <a:ln w="12700">
            <a:solidFill>
              <a:srgbClr val="CFE3EF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3026664" y="1600200"/>
            <a:ext cx="329184" cy="329184"/>
          </a:xfrm>
          <a:prstGeom prst="ellipse">
            <a:avLst/>
          </a:prstGeom>
          <a:solidFill>
            <a:srgbClr val="0E3B63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3026664" y="16002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3474720" y="1463040"/>
            <a:ext cx="802843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 selects the SM and gets approval from client &amp; SHs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2880360" y="2432304"/>
            <a:ext cx="8851392" cy="841248"/>
          </a:xfrm>
          <a:prstGeom prst="roundRect">
            <a:avLst>
              <a:gd name="adj" fmla="val 7609"/>
            </a:avLst>
          </a:prstGeom>
          <a:solidFill>
            <a:srgbClr val="FFFFFF"/>
          </a:solidFill>
          <a:ln w="12700">
            <a:solidFill>
              <a:srgbClr val="CFE3EF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3026664" y="2569464"/>
            <a:ext cx="329184" cy="32918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3026664" y="256946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3"/>
          <p:cNvSpPr txBox="1"/>
          <p:nvPr/>
        </p:nvSpPr>
        <p:spPr>
          <a:xfrm>
            <a:off x="3474720" y="2432304"/>
            <a:ext cx="802843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 is the facilitator — responsible to provide required resources to the Scrum Team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2880360" y="3401568"/>
            <a:ext cx="8851392" cy="841248"/>
          </a:xfrm>
          <a:prstGeom prst="roundRect">
            <a:avLst>
              <a:gd name="adj" fmla="val 7609"/>
            </a:avLst>
          </a:prstGeom>
          <a:solidFill>
            <a:srgbClr val="FFFFFF"/>
          </a:solidFill>
          <a:ln w="12700">
            <a:solidFill>
              <a:srgbClr val="CFE3EF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3026664" y="3538728"/>
            <a:ext cx="329184" cy="329184"/>
          </a:xfrm>
          <a:prstGeom prst="ellipse">
            <a:avLst/>
          </a:prstGeom>
          <a:solidFill>
            <a:srgbClr val="0E3B63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3026664" y="353872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300" dirty="0"/>
          </a:p>
        </p:txBody>
      </p:sp>
      <p:sp>
        <p:nvSpPr>
          <p:cNvPr id="20" name="Text 17"/>
          <p:cNvSpPr txBox="1"/>
          <p:nvPr/>
        </p:nvSpPr>
        <p:spPr>
          <a:xfrm>
            <a:off x="3474720" y="3401568"/>
            <a:ext cx="802843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Conducts Sprint Planning Meeting (SPM) by inviting SHs, PO &amp; ST to select some user stories from all user stories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2880360" y="4370832"/>
            <a:ext cx="8851392" cy="841248"/>
          </a:xfrm>
          <a:prstGeom prst="roundRect">
            <a:avLst>
              <a:gd name="adj" fmla="val 7609"/>
            </a:avLst>
          </a:prstGeom>
          <a:solidFill>
            <a:srgbClr val="FFFFFF"/>
          </a:solidFill>
          <a:ln w="12700">
            <a:solidFill>
              <a:srgbClr val="CFE3EF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3026664" y="4507992"/>
            <a:ext cx="329184" cy="32918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3" name="Text 20"/>
          <p:cNvSpPr txBox="1"/>
          <p:nvPr/>
        </p:nvSpPr>
        <p:spPr>
          <a:xfrm>
            <a:off x="3026664" y="450799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300" dirty="0"/>
          </a:p>
        </p:txBody>
      </p:sp>
      <p:sp>
        <p:nvSpPr>
          <p:cNvPr id="24" name="Text 21"/>
          <p:cNvSpPr txBox="1"/>
          <p:nvPr/>
        </p:nvSpPr>
        <p:spPr>
          <a:xfrm>
            <a:off x="3474720" y="4370832"/>
            <a:ext cx="802843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Conducts the Daily Scrum meet by inviting SHs, PO &amp; ST to know work status</a:t>
            </a:r>
            <a:endParaRPr lang="en-US" sz="1200" dirty="0"/>
          </a:p>
        </p:txBody>
      </p:sp>
      <p:sp>
        <p:nvSpPr>
          <p:cNvPr id="25" name="Shape 22"/>
          <p:cNvSpPr/>
          <p:nvPr/>
        </p:nvSpPr>
        <p:spPr>
          <a:xfrm>
            <a:off x="2880360" y="5340096"/>
            <a:ext cx="8851392" cy="841248"/>
          </a:xfrm>
          <a:prstGeom prst="roundRect">
            <a:avLst>
              <a:gd name="adj" fmla="val 7609"/>
            </a:avLst>
          </a:prstGeom>
          <a:solidFill>
            <a:srgbClr val="FFFFFF"/>
          </a:solidFill>
          <a:ln w="12700">
            <a:solidFill>
              <a:srgbClr val="CFE3EF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3026664" y="5477256"/>
            <a:ext cx="329184" cy="329184"/>
          </a:xfrm>
          <a:prstGeom prst="ellipse">
            <a:avLst/>
          </a:prstGeom>
          <a:solidFill>
            <a:srgbClr val="0E3B63"/>
          </a:solidFill>
          <a:ln/>
        </p:spPr>
      </p:sp>
      <p:sp>
        <p:nvSpPr>
          <p:cNvPr id="27" name="Text 24"/>
          <p:cNvSpPr txBox="1"/>
          <p:nvPr/>
        </p:nvSpPr>
        <p:spPr>
          <a:xfrm>
            <a:off x="3026664" y="547725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300" dirty="0"/>
          </a:p>
        </p:txBody>
      </p:sp>
      <p:sp>
        <p:nvSpPr>
          <p:cNvPr id="28" name="Text 25"/>
          <p:cNvSpPr txBox="1"/>
          <p:nvPr/>
        </p:nvSpPr>
        <p:spPr>
          <a:xfrm>
            <a:off x="3474720" y="5340096"/>
            <a:ext cx="802843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Conducts the Sprint Review Meeting (SRM) by inviting SHs, PO &amp; ST to collect client feedback on the sprint</a:t>
            </a:r>
            <a:endParaRPr lang="en-US" sz="1200" dirty="0"/>
          </a:p>
        </p:txBody>
      </p:sp>
      <p:sp>
        <p:nvSpPr>
          <p:cNvPr id="29" name="Text 26"/>
          <p:cNvSpPr txBox="1"/>
          <p:nvPr/>
        </p:nvSpPr>
        <p:spPr>
          <a:xfrm>
            <a:off x="457200" y="6547104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FA9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Testing  ·  Unit 2</a:t>
            </a:r>
            <a:endParaRPr lang="en-US" sz="900" dirty="0"/>
          </a:p>
        </p:txBody>
      </p:sp>
      <p:sp>
        <p:nvSpPr>
          <p:cNvPr id="30" name="Text 27"/>
          <p:cNvSpPr txBox="1"/>
          <p:nvPr/>
        </p:nvSpPr>
        <p:spPr>
          <a:xfrm>
            <a:off x="11277295" y="6547104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FA9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2A0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ROLES · E (CONTD.)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76072"/>
            <a:ext cx="9601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2E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Scrum Master (SM) — Responsibilities II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2103120" cy="4846320"/>
          </a:xfrm>
          <a:prstGeom prst="roundRect">
            <a:avLst>
              <a:gd name="adj" fmla="val 3913"/>
            </a:avLst>
          </a:prstGeom>
          <a:solidFill>
            <a:srgbClr val="0B2E4F"/>
          </a:solidFill>
          <a:ln/>
        </p:spPr>
      </p:sp>
      <p:sp>
        <p:nvSpPr>
          <p:cNvPr id="5" name="Shape 3"/>
          <p:cNvSpPr/>
          <p:nvPr/>
        </p:nvSpPr>
        <p:spPr>
          <a:xfrm>
            <a:off x="960120" y="1783080"/>
            <a:ext cx="1097280" cy="109728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6" name="Image 0" descr="/home/claude/icons/shieldHalv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6152" y="2039112"/>
            <a:ext cx="585216" cy="585216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94360" y="306324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Protects</a:t>
            </a:r>
            <a:endParaRPr lang="en-US" sz="150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Team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621792" y="3794760"/>
            <a:ext cx="1783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050" i="1" dirty="0">
                <a:solidFill>
                  <a:srgbClr val="CFE3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Shields the Scrum Team from external interference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2880360" y="1463040"/>
            <a:ext cx="8851392" cy="841248"/>
          </a:xfrm>
          <a:prstGeom prst="roundRect">
            <a:avLst>
              <a:gd name="adj" fmla="val 7609"/>
            </a:avLst>
          </a:prstGeom>
          <a:solidFill>
            <a:srgbClr val="FFFFFF"/>
          </a:solidFill>
          <a:ln w="12700">
            <a:solidFill>
              <a:srgbClr val="CFE3EF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3026664" y="1600200"/>
            <a:ext cx="329184" cy="329184"/>
          </a:xfrm>
          <a:prstGeom prst="ellipse">
            <a:avLst/>
          </a:prstGeom>
          <a:solidFill>
            <a:srgbClr val="0E3B63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3026664" y="16002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3474720" y="1463040"/>
            <a:ext cx="802843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Conducts Sprint Retrospective meeting with ST members to motivate them for the next sprint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2880360" y="2432304"/>
            <a:ext cx="8851392" cy="841248"/>
          </a:xfrm>
          <a:prstGeom prst="roundRect">
            <a:avLst>
              <a:gd name="adj" fmla="val 7609"/>
            </a:avLst>
          </a:prstGeom>
          <a:solidFill>
            <a:srgbClr val="FFFFFF"/>
          </a:solidFill>
          <a:ln w="12700">
            <a:solidFill>
              <a:srgbClr val="CFE3EF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3026664" y="2569464"/>
            <a:ext cx="329184" cy="32918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3026664" y="256946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3"/>
          <p:cNvSpPr txBox="1"/>
          <p:nvPr/>
        </p:nvSpPr>
        <p:spPr>
          <a:xfrm>
            <a:off x="3474720" y="2432304"/>
            <a:ext cx="802843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Conducts PBL Refinement meeting by inviting PO, SHs, client &amp; ST to discuss changes / updates in user stories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2880360" y="3401568"/>
            <a:ext cx="8851392" cy="841248"/>
          </a:xfrm>
          <a:prstGeom prst="roundRect">
            <a:avLst>
              <a:gd name="adj" fmla="val 7609"/>
            </a:avLst>
          </a:prstGeom>
          <a:solidFill>
            <a:srgbClr val="FFFFFF"/>
          </a:solidFill>
          <a:ln w="12700">
            <a:solidFill>
              <a:srgbClr val="CFE3EF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3026664" y="3538728"/>
            <a:ext cx="329184" cy="329184"/>
          </a:xfrm>
          <a:prstGeom prst="ellipse">
            <a:avLst/>
          </a:prstGeom>
          <a:solidFill>
            <a:srgbClr val="0E3B63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3026664" y="353872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300" dirty="0"/>
          </a:p>
        </p:txBody>
      </p:sp>
      <p:sp>
        <p:nvSpPr>
          <p:cNvPr id="20" name="Text 17"/>
          <p:cNvSpPr txBox="1"/>
          <p:nvPr/>
        </p:nvSpPr>
        <p:spPr>
          <a:xfrm>
            <a:off x="3474720" y="3401568"/>
            <a:ext cx="802843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Represents management to the project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2880360" y="4370832"/>
            <a:ext cx="8851392" cy="841248"/>
          </a:xfrm>
          <a:prstGeom prst="roundRect">
            <a:avLst>
              <a:gd name="adj" fmla="val 7609"/>
            </a:avLst>
          </a:prstGeom>
          <a:solidFill>
            <a:srgbClr val="FFFFFF"/>
          </a:solidFill>
          <a:ln w="12700">
            <a:solidFill>
              <a:srgbClr val="CFE3EF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3026664" y="4507992"/>
            <a:ext cx="329184" cy="32918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3" name="Text 20"/>
          <p:cNvSpPr txBox="1"/>
          <p:nvPr/>
        </p:nvSpPr>
        <p:spPr>
          <a:xfrm>
            <a:off x="3026664" y="450799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300" dirty="0"/>
          </a:p>
        </p:txBody>
      </p:sp>
      <p:sp>
        <p:nvSpPr>
          <p:cNvPr id="24" name="Text 21"/>
          <p:cNvSpPr txBox="1"/>
          <p:nvPr/>
        </p:nvSpPr>
        <p:spPr>
          <a:xfrm>
            <a:off x="3474720" y="4370832"/>
            <a:ext cx="802843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Responsible to remove issues and enable close cooperation between testers &amp; developers in the Scrum Team</a:t>
            </a:r>
            <a:endParaRPr lang="en-US" sz="1200" dirty="0"/>
          </a:p>
        </p:txBody>
      </p:sp>
      <p:sp>
        <p:nvSpPr>
          <p:cNvPr id="25" name="Shape 22"/>
          <p:cNvSpPr/>
          <p:nvPr/>
        </p:nvSpPr>
        <p:spPr>
          <a:xfrm>
            <a:off x="2880360" y="5340096"/>
            <a:ext cx="8851392" cy="841248"/>
          </a:xfrm>
          <a:prstGeom prst="roundRect">
            <a:avLst>
              <a:gd name="adj" fmla="val 7609"/>
            </a:avLst>
          </a:prstGeom>
          <a:solidFill>
            <a:srgbClr val="FFFFFF"/>
          </a:solidFill>
          <a:ln w="12700">
            <a:solidFill>
              <a:srgbClr val="CFE3EF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3026664" y="5477256"/>
            <a:ext cx="329184" cy="329184"/>
          </a:xfrm>
          <a:prstGeom prst="ellipse">
            <a:avLst/>
          </a:prstGeom>
          <a:solidFill>
            <a:srgbClr val="0E3B63"/>
          </a:solidFill>
          <a:ln/>
        </p:spPr>
      </p:sp>
      <p:sp>
        <p:nvSpPr>
          <p:cNvPr id="27" name="Text 24"/>
          <p:cNvSpPr txBox="1"/>
          <p:nvPr/>
        </p:nvSpPr>
        <p:spPr>
          <a:xfrm>
            <a:off x="3026664" y="547725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300" dirty="0"/>
          </a:p>
        </p:txBody>
      </p:sp>
      <p:sp>
        <p:nvSpPr>
          <p:cNvPr id="28" name="Text 25"/>
          <p:cNvSpPr txBox="1"/>
          <p:nvPr/>
        </p:nvSpPr>
        <p:spPr>
          <a:xfrm>
            <a:off x="3474720" y="5340096"/>
            <a:ext cx="802843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Responsible to protect the Scrum Team from external interferences</a:t>
            </a:r>
            <a:endParaRPr lang="en-US" sz="1200" dirty="0"/>
          </a:p>
        </p:txBody>
      </p:sp>
      <p:sp>
        <p:nvSpPr>
          <p:cNvPr id="29" name="Text 26"/>
          <p:cNvSpPr txBox="1"/>
          <p:nvPr/>
        </p:nvSpPr>
        <p:spPr>
          <a:xfrm>
            <a:off x="457200" y="6547104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FA9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Testing  ·  Unit 2</a:t>
            </a:r>
            <a:endParaRPr lang="en-US" sz="900" dirty="0"/>
          </a:p>
        </p:txBody>
      </p:sp>
      <p:sp>
        <p:nvSpPr>
          <p:cNvPr id="30" name="Text 27"/>
          <p:cNvSpPr txBox="1"/>
          <p:nvPr/>
        </p:nvSpPr>
        <p:spPr>
          <a:xfrm>
            <a:off x="11277295" y="6547104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FA9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2A0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ROLES · F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76072"/>
            <a:ext cx="9601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2E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Scrum Team (ST) — Responsibilities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3383280" cy="4846320"/>
          </a:xfrm>
          <a:prstGeom prst="roundRect">
            <a:avLst>
              <a:gd name="adj" fmla="val 2432"/>
            </a:avLst>
          </a:prstGeom>
          <a:solidFill>
            <a:srgbClr val="0B2E4F"/>
          </a:solidFill>
          <a:ln/>
        </p:spPr>
      </p:sp>
      <p:sp>
        <p:nvSpPr>
          <p:cNvPr id="5" name="Shape 3"/>
          <p:cNvSpPr/>
          <p:nvPr/>
        </p:nvSpPr>
        <p:spPr>
          <a:xfrm>
            <a:off x="777240" y="1691640"/>
            <a:ext cx="868680" cy="868680"/>
          </a:xfrm>
          <a:prstGeom prst="ellipse">
            <a:avLst/>
          </a:prstGeom>
          <a:solidFill>
            <a:srgbClr val="F2A007"/>
          </a:solidFill>
          <a:ln/>
        </p:spPr>
      </p:sp>
      <p:pic>
        <p:nvPicPr>
          <p:cNvPr id="6" name="Image 0" descr="/home/claude/icons/peopleGrou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8408" y="1892808"/>
            <a:ext cx="466344" cy="466344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828800" y="1554480"/>
            <a:ext cx="192024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Typically 5–10 people</a:t>
            </a:r>
            <a:endParaRPr lang="en-US" sz="10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Cross-functional: QA testers, Programmers, UI Designers, etc.</a:t>
            </a:r>
            <a:endParaRPr lang="en-US" sz="1050" dirty="0"/>
          </a:p>
          <a:p>
            <a:pPr marL="0" indent="0">
              <a:lnSpc>
                <a:spcPct val="125000"/>
              </a:lnSpc>
              <a:buNone/>
            </a:pPr>
            <a:endParaRPr lang="en-US" sz="10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Members should be full-time (exceptions e.g. System Admin)</a:t>
            </a:r>
            <a:endParaRPr lang="en-US" sz="1050" dirty="0"/>
          </a:p>
          <a:p>
            <a:pPr marL="0" indent="0">
              <a:lnSpc>
                <a:spcPct val="125000"/>
              </a:lnSpc>
              <a:buNone/>
            </a:pPr>
            <a:endParaRPr lang="en-US" sz="10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Teams are self-organizing — ideally no titles, but rarely a possibility</a:t>
            </a:r>
            <a:endParaRPr lang="en-US" sz="1050" dirty="0"/>
          </a:p>
          <a:p>
            <a:pPr marL="0" indent="0">
              <a:lnSpc>
                <a:spcPct val="125000"/>
              </a:lnSpc>
              <a:buNone/>
            </a:pPr>
            <a:endParaRPr lang="en-US" sz="10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Membership can change only between sprints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4023360" y="1417320"/>
            <a:ext cx="3977640" cy="2286000"/>
          </a:xfrm>
          <a:prstGeom prst="roundRect">
            <a:avLst>
              <a:gd name="adj" fmla="val 3600"/>
            </a:avLst>
          </a:prstGeom>
          <a:solidFill>
            <a:srgbClr val="FFFFFF"/>
          </a:solidFill>
          <a:ln w="12700">
            <a:solidFill>
              <a:srgbClr val="CFE3EF"/>
            </a:solidFill>
            <a:prstDash val="solid"/>
          </a:ln>
          <a:effectLst>
            <a:outerShdw blurRad="63500" dist="25400" dir="5400000" algn="bl" rotWithShape="0">
              <a:srgbClr val="9DB6C9">
                <a:alpha val="25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4023360" y="1417320"/>
            <a:ext cx="3977640" cy="457200"/>
          </a:xfrm>
          <a:prstGeom prst="roundRect">
            <a:avLst>
              <a:gd name="adj" fmla="val 18000"/>
            </a:avLst>
          </a:prstGeom>
          <a:solidFill>
            <a:srgbClr val="1C7293"/>
          </a:solidFill>
          <a:ln/>
        </p:spPr>
      </p:sp>
      <p:sp>
        <p:nvSpPr>
          <p:cNvPr id="10" name="Shape 7"/>
          <p:cNvSpPr/>
          <p:nvPr/>
        </p:nvSpPr>
        <p:spPr>
          <a:xfrm>
            <a:off x="4023360" y="1645920"/>
            <a:ext cx="3977640" cy="2286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4206240" y="1417320"/>
            <a:ext cx="3611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Programmers (Developers)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4224528" y="1984248"/>
            <a:ext cx="3575304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Finish HLD &amp; LLDs of the sprint</a:t>
            </a:r>
            <a:endParaRPr lang="en-US" sz="10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Responsible for coding, unit testing</a:t>
            </a:r>
            <a:endParaRPr lang="en-US" sz="1050" dirty="0"/>
          </a:p>
          <a:p>
            <a:pPr marL="0" indent="0">
              <a:lnSpc>
                <a:spcPct val="120000"/>
              </a:lnSpc>
              <a:buNone/>
            </a:pPr>
            <a:endParaRPr lang="en-US" sz="10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Integration &amp; integration testing</a:t>
            </a:r>
            <a:endParaRPr lang="en-US" sz="1050" dirty="0"/>
          </a:p>
          <a:p>
            <a:pPr marL="0" indent="0">
              <a:lnSpc>
                <a:spcPct val="120000"/>
              </a:lnSpc>
              <a:buNone/>
            </a:pPr>
            <a:endParaRPr lang="en-US" sz="10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Sprint release to testers</a:t>
            </a:r>
            <a:endParaRPr lang="en-US" sz="1050" dirty="0"/>
          </a:p>
          <a:p>
            <a:pPr marL="0" indent="0">
              <a:lnSpc>
                <a:spcPct val="120000"/>
              </a:lnSpc>
              <a:buNone/>
            </a:pPr>
            <a:endParaRPr lang="en-US" sz="10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Bugs fixing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8229600" y="1417320"/>
            <a:ext cx="3977640" cy="2286000"/>
          </a:xfrm>
          <a:prstGeom prst="roundRect">
            <a:avLst>
              <a:gd name="adj" fmla="val 3600"/>
            </a:avLst>
          </a:prstGeom>
          <a:solidFill>
            <a:srgbClr val="FFFFFF"/>
          </a:solidFill>
          <a:ln w="12700">
            <a:solidFill>
              <a:srgbClr val="CFE3EF"/>
            </a:solidFill>
            <a:prstDash val="solid"/>
          </a:ln>
          <a:effectLst>
            <a:outerShdw blurRad="63500" dist="25400" dir="5400000" algn="bl" rotWithShape="0">
              <a:srgbClr val="9DB6C9">
                <a:alpha val="25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8229600" y="1417320"/>
            <a:ext cx="3977640" cy="457200"/>
          </a:xfrm>
          <a:prstGeom prst="roundRect">
            <a:avLst>
              <a:gd name="adj" fmla="val 18000"/>
            </a:avLst>
          </a:prstGeom>
          <a:solidFill>
            <a:srgbClr val="F2A007"/>
          </a:solidFill>
          <a:ln/>
        </p:spPr>
      </p:sp>
      <p:sp>
        <p:nvSpPr>
          <p:cNvPr id="15" name="Shape 12"/>
          <p:cNvSpPr/>
          <p:nvPr/>
        </p:nvSpPr>
        <p:spPr>
          <a:xfrm>
            <a:off x="8229600" y="1645920"/>
            <a:ext cx="3977640" cy="228600"/>
          </a:xfrm>
          <a:prstGeom prst="rect">
            <a:avLst/>
          </a:prstGeom>
          <a:solidFill>
            <a:srgbClr val="F2A007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8412480" y="1417320"/>
            <a:ext cx="3611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QA Testers</a:t>
            </a:r>
            <a:endParaRPr lang="en-US" sz="1300" dirty="0"/>
          </a:p>
        </p:txBody>
      </p:sp>
      <p:sp>
        <p:nvSpPr>
          <p:cNvPr id="17" name="Text 14"/>
          <p:cNvSpPr txBox="1"/>
          <p:nvPr/>
        </p:nvSpPr>
        <p:spPr>
          <a:xfrm>
            <a:off x="8430768" y="1984248"/>
            <a:ext cx="3575304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Study sprint user stories and tasks</a:t>
            </a:r>
            <a:endParaRPr lang="en-US" sz="10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Prepare test scenarios and test cases</a:t>
            </a:r>
            <a:endParaRPr lang="en-US" sz="1050" dirty="0"/>
          </a:p>
          <a:p>
            <a:pPr marL="0" indent="0">
              <a:lnSpc>
                <a:spcPct val="120000"/>
              </a:lnSpc>
              <a:buNone/>
            </a:pPr>
            <a:endParaRPr lang="en-US" sz="10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Responsible for test execution</a:t>
            </a:r>
            <a:endParaRPr lang="en-US" sz="1050" dirty="0"/>
          </a:p>
          <a:p>
            <a:pPr marL="0" indent="0">
              <a:lnSpc>
                <a:spcPct val="120000"/>
              </a:lnSpc>
              <a:buNone/>
            </a:pPr>
            <a:endParaRPr lang="en-US" sz="10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Test automation</a:t>
            </a:r>
            <a:endParaRPr lang="en-US" sz="1050" dirty="0"/>
          </a:p>
          <a:p>
            <a:pPr marL="0" indent="0">
              <a:lnSpc>
                <a:spcPct val="120000"/>
              </a:lnSpc>
              <a:buNone/>
            </a:pPr>
            <a:endParaRPr lang="en-US" sz="10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Defect reporting and bug closing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4023360" y="3931920"/>
            <a:ext cx="8183880" cy="2331720"/>
          </a:xfrm>
          <a:prstGeom prst="roundRect">
            <a:avLst>
              <a:gd name="adj" fmla="val 3529"/>
            </a:avLst>
          </a:prstGeom>
          <a:solidFill>
            <a:srgbClr val="EAF2F8"/>
          </a:solidFill>
          <a:ln w="12700">
            <a:solidFill>
              <a:srgbClr val="CFE3EF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4251960" y="4069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B2E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Ceremony Participation</a:t>
            </a:r>
            <a:endParaRPr lang="en-US" sz="1250" dirty="0"/>
          </a:p>
        </p:txBody>
      </p:sp>
      <p:sp>
        <p:nvSpPr>
          <p:cNvPr id="20" name="Text 17"/>
          <p:cNvSpPr txBox="1"/>
          <p:nvPr/>
        </p:nvSpPr>
        <p:spPr>
          <a:xfrm>
            <a:off x="4251960" y="4434840"/>
            <a:ext cx="77266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 participates in the Sprint Planning meeting, Daily Scrum meeting, SRM, Sprint Review meeting, Sprint Retrospective meeting &amp; PBL Refinement meeting. The ST is picked by PO &amp; SM, and gets client approval.</a:t>
            </a:r>
            <a:endParaRPr lang="en-US" sz="1150" dirty="0"/>
          </a:p>
        </p:txBody>
      </p:sp>
      <p:sp>
        <p:nvSpPr>
          <p:cNvPr id="21" name="Text 18"/>
          <p:cNvSpPr txBox="1"/>
          <p:nvPr/>
        </p:nvSpPr>
        <p:spPr>
          <a:xfrm>
            <a:off x="457200" y="6547104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FA9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Testing  ·  Unit 2</a:t>
            </a:r>
            <a:endParaRPr lang="en-US" sz="900" dirty="0"/>
          </a:p>
        </p:txBody>
      </p:sp>
      <p:sp>
        <p:nvSpPr>
          <p:cNvPr id="22" name="Text 19"/>
          <p:cNvSpPr txBox="1"/>
          <p:nvPr/>
        </p:nvSpPr>
        <p:spPr>
          <a:xfrm>
            <a:off x="11277295" y="6547104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FA9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2A0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ROLES · G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76072"/>
            <a:ext cx="9601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2E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Change Control Board (CCB)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3017520" cy="4754880"/>
          </a:xfrm>
          <a:prstGeom prst="roundRect">
            <a:avLst>
              <a:gd name="adj" fmla="val 3030"/>
            </a:avLst>
          </a:prstGeom>
          <a:solidFill>
            <a:srgbClr val="0B2E4F"/>
          </a:solidFill>
          <a:ln/>
        </p:spPr>
      </p:sp>
      <p:sp>
        <p:nvSpPr>
          <p:cNvPr id="5" name="Shape 3"/>
          <p:cNvSpPr/>
          <p:nvPr/>
        </p:nvSpPr>
        <p:spPr>
          <a:xfrm>
            <a:off x="1051560" y="1828800"/>
            <a:ext cx="1828800" cy="1828800"/>
          </a:xfrm>
          <a:prstGeom prst="ellipse">
            <a:avLst/>
          </a:prstGeom>
          <a:solidFill>
            <a:srgbClr val="F2A007"/>
          </a:solidFill>
          <a:ln/>
        </p:spPr>
      </p:sp>
      <p:pic>
        <p:nvPicPr>
          <p:cNvPr id="6" name="Image 0" descr="/home/claude/icons/clipboardChe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72184" y="2249424"/>
            <a:ext cx="987552" cy="98755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457200" y="388620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CCB</a:t>
            </a:r>
            <a:endParaRPr lang="en-US" sz="26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438912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CFE3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Control Board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3749040" y="1536192"/>
            <a:ext cx="7982712" cy="140208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2700">
            <a:solidFill>
              <a:srgbClr val="CFE3EF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3931920" y="1908048"/>
            <a:ext cx="365760" cy="36576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3931920" y="19080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4480560" y="1536192"/>
            <a:ext cx="7022592" cy="1402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0B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team of trained freshers
</a:t>
            </a:r>
            <a:r>
              <a:rPr lang="en-US" sz="115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CCB is staffed by trained freshers, giving new team members a structured entry point into the Scrum process.</a:t>
            </a:r>
            <a:endParaRPr lang="en-US" sz="1350" dirty="0"/>
          </a:p>
        </p:txBody>
      </p:sp>
      <p:sp>
        <p:nvSpPr>
          <p:cNvPr id="13" name="Shape 10"/>
          <p:cNvSpPr/>
          <p:nvPr/>
        </p:nvSpPr>
        <p:spPr>
          <a:xfrm>
            <a:off x="3749040" y="3121152"/>
            <a:ext cx="7982712" cy="140208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2700">
            <a:solidFill>
              <a:srgbClr val="CFE3EF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3931920" y="3493008"/>
            <a:ext cx="365760" cy="36576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3931920" y="349300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3"/>
          <p:cNvSpPr txBox="1"/>
          <p:nvPr/>
        </p:nvSpPr>
        <p:spPr>
          <a:xfrm>
            <a:off x="4480560" y="3121152"/>
            <a:ext cx="7022592" cy="1402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0B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Handles change requests
</a:t>
            </a:r>
            <a:r>
              <a:rPr lang="en-US" sz="115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Responsible to handle change requests raised on released sprints — keeping scope changes controlled and traceable.</a:t>
            </a:r>
            <a:endParaRPr lang="en-US" sz="1350" dirty="0"/>
          </a:p>
        </p:txBody>
      </p:sp>
      <p:sp>
        <p:nvSpPr>
          <p:cNvPr id="17" name="Shape 14"/>
          <p:cNvSpPr/>
          <p:nvPr/>
        </p:nvSpPr>
        <p:spPr>
          <a:xfrm>
            <a:off x="3749040" y="4706112"/>
            <a:ext cx="7982712" cy="140208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2700">
            <a:solidFill>
              <a:srgbClr val="CFE3EF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3931920" y="5077968"/>
            <a:ext cx="365760" cy="36576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3931920" y="50779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300" dirty="0"/>
          </a:p>
        </p:txBody>
      </p:sp>
      <p:sp>
        <p:nvSpPr>
          <p:cNvPr id="20" name="Text 17"/>
          <p:cNvSpPr txBox="1"/>
          <p:nvPr/>
        </p:nvSpPr>
        <p:spPr>
          <a:xfrm>
            <a:off x="4480560" y="4706112"/>
            <a:ext cx="7022592" cy="1402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0B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under the PO
</a:t>
            </a:r>
            <a:r>
              <a:rPr lang="en-US" sz="115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CCB team works under the Product Owner, who remains the final decision-maker for accepted changes.</a:t>
            </a:r>
            <a:endParaRPr lang="en-US" sz="1350" dirty="0"/>
          </a:p>
        </p:txBody>
      </p:sp>
      <p:sp>
        <p:nvSpPr>
          <p:cNvPr id="21" name="Text 18"/>
          <p:cNvSpPr txBox="1"/>
          <p:nvPr/>
        </p:nvSpPr>
        <p:spPr>
          <a:xfrm>
            <a:off x="457200" y="6547104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FA9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Testing  ·  Unit 2</a:t>
            </a:r>
            <a:endParaRPr lang="en-US" sz="900" dirty="0"/>
          </a:p>
        </p:txBody>
      </p:sp>
      <p:sp>
        <p:nvSpPr>
          <p:cNvPr id="22" name="Text 19"/>
          <p:cNvSpPr txBox="1"/>
          <p:nvPr/>
        </p:nvSpPr>
        <p:spPr>
          <a:xfrm>
            <a:off x="11277295" y="6547104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FA9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2A0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CEREMONIES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76072"/>
            <a:ext cx="9601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2E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Meeting Cycle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078992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C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Ceremonies = the “Meetings” component of Scrum — seven recurring meetings that drive the sprint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80848" y="1920240"/>
            <a:ext cx="1691640" cy="1188720"/>
          </a:xfrm>
          <a:prstGeom prst="roundRect">
            <a:avLst>
              <a:gd name="adj" fmla="val 6154"/>
            </a:avLst>
          </a:prstGeom>
          <a:solidFill>
            <a:srgbClr val="0E3B63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454000" y="1920240"/>
            <a:ext cx="154533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Kick-off</a:t>
            </a:r>
            <a:endParaRPr lang="en-US" sz="115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Meeting (KOM)</a:t>
            </a:r>
            <a:endParaRPr lang="en-US" sz="1150" dirty="0"/>
          </a:p>
        </p:txBody>
      </p:sp>
      <p:sp>
        <p:nvSpPr>
          <p:cNvPr id="7" name="Text 5"/>
          <p:cNvSpPr txBox="1"/>
          <p:nvPr/>
        </p:nvSpPr>
        <p:spPr>
          <a:xfrm>
            <a:off x="2054200" y="2313432"/>
            <a:ext cx="2926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5C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2328520" y="1920240"/>
            <a:ext cx="1691640" cy="1188720"/>
          </a:xfrm>
          <a:prstGeom prst="roundRect">
            <a:avLst>
              <a:gd name="adj" fmla="val 6154"/>
            </a:avLst>
          </a:prstGeom>
          <a:solidFill>
            <a:srgbClr val="0E3B63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2401672" y="1920240"/>
            <a:ext cx="154533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PBL Grooming</a:t>
            </a:r>
            <a:endParaRPr lang="en-US" sz="115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Meeting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4001872" y="2313432"/>
            <a:ext cx="2926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5C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4276192" y="1920240"/>
            <a:ext cx="1691640" cy="1188720"/>
          </a:xfrm>
          <a:prstGeom prst="roundRect">
            <a:avLst>
              <a:gd name="adj" fmla="val 6154"/>
            </a:avLst>
          </a:prstGeom>
          <a:solidFill>
            <a:srgbClr val="0E3B63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349344" y="1920240"/>
            <a:ext cx="154533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Sprint Planning</a:t>
            </a:r>
            <a:endParaRPr lang="en-US" sz="115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Meeting</a:t>
            </a:r>
            <a:endParaRPr lang="en-US" sz="1150" dirty="0"/>
          </a:p>
        </p:txBody>
      </p:sp>
      <p:sp>
        <p:nvSpPr>
          <p:cNvPr id="13" name="Text 11"/>
          <p:cNvSpPr txBox="1"/>
          <p:nvPr/>
        </p:nvSpPr>
        <p:spPr>
          <a:xfrm>
            <a:off x="5949544" y="2313432"/>
            <a:ext cx="2926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5C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6223864" y="1920240"/>
            <a:ext cx="1691640" cy="1188720"/>
          </a:xfrm>
          <a:prstGeom prst="roundRect">
            <a:avLst>
              <a:gd name="adj" fmla="val 6154"/>
            </a:avLst>
          </a:prstGeom>
          <a:solidFill>
            <a:srgbClr val="F2A007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297016" y="1920240"/>
            <a:ext cx="154533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0B2E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Daily Scrum</a:t>
            </a:r>
            <a:endParaRPr lang="en-US" sz="115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0B2E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Meet (loop)</a:t>
            </a:r>
            <a:endParaRPr lang="en-US" sz="1150" dirty="0"/>
          </a:p>
        </p:txBody>
      </p:sp>
      <p:sp>
        <p:nvSpPr>
          <p:cNvPr id="16" name="Text 14"/>
          <p:cNvSpPr txBox="1"/>
          <p:nvPr/>
        </p:nvSpPr>
        <p:spPr>
          <a:xfrm>
            <a:off x="7897216" y="2313432"/>
            <a:ext cx="2926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5C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6749644" y="1417320"/>
            <a:ext cx="640080" cy="411480"/>
          </a:xfrm>
          <a:prstGeom prst="ellipse">
            <a:avLst/>
          </a:prstGeom>
          <a:ln w="25400">
            <a:solidFill>
              <a:srgbClr val="F2A007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171536" y="1920240"/>
            <a:ext cx="1691640" cy="1188720"/>
          </a:xfrm>
          <a:prstGeom prst="roundRect">
            <a:avLst>
              <a:gd name="adj" fmla="val 6154"/>
            </a:avLst>
          </a:prstGeom>
          <a:solidFill>
            <a:srgbClr val="0E3B63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8244688" y="1920240"/>
            <a:ext cx="154533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Sprint Review</a:t>
            </a:r>
            <a:endParaRPr lang="en-US" sz="115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Meeting</a:t>
            </a:r>
            <a:endParaRPr lang="en-US" sz="1150" dirty="0"/>
          </a:p>
        </p:txBody>
      </p:sp>
      <p:sp>
        <p:nvSpPr>
          <p:cNvPr id="20" name="Text 18"/>
          <p:cNvSpPr txBox="1"/>
          <p:nvPr/>
        </p:nvSpPr>
        <p:spPr>
          <a:xfrm>
            <a:off x="9844888" y="2313432"/>
            <a:ext cx="2926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5C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000" dirty="0"/>
          </a:p>
        </p:txBody>
      </p:sp>
      <p:sp>
        <p:nvSpPr>
          <p:cNvPr id="21" name="Shape 19"/>
          <p:cNvSpPr/>
          <p:nvPr/>
        </p:nvSpPr>
        <p:spPr>
          <a:xfrm>
            <a:off x="10119208" y="1920240"/>
            <a:ext cx="1691640" cy="1188720"/>
          </a:xfrm>
          <a:prstGeom prst="roundRect">
            <a:avLst>
              <a:gd name="adj" fmla="val 6154"/>
            </a:avLst>
          </a:prstGeom>
          <a:solidFill>
            <a:srgbClr val="0E3B63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10192360" y="1920240"/>
            <a:ext cx="154533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Sprint Retrospective</a:t>
            </a:r>
            <a:endParaRPr lang="en-US" sz="115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Meeting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380848" y="3566160"/>
            <a:ext cx="11430000" cy="777240"/>
          </a:xfrm>
          <a:prstGeom prst="roundRect">
            <a:avLst>
              <a:gd name="adj" fmla="val 8235"/>
            </a:avLst>
          </a:prstGeom>
          <a:solidFill>
            <a:srgbClr val="EAF2F8"/>
          </a:solidFill>
          <a:ln w="12700">
            <a:solidFill>
              <a:srgbClr val="CFE3EF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55168" y="3566160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0B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Backlog Refinement Meeting  </a:t>
            </a:r>
            <a:r>
              <a:rPr lang="en-US" sz="110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(client, PO, SHs, SM &amp; ST) loops the cycle back — carrying updated requirements from Retrospective into the next Sprint Planning Meeting.</a:t>
            </a:r>
            <a:endParaRPr lang="en-US" sz="1250" dirty="0"/>
          </a:p>
        </p:txBody>
      </p:sp>
      <p:sp>
        <p:nvSpPr>
          <p:cNvPr id="25" name="Text 23"/>
          <p:cNvSpPr txBox="1"/>
          <p:nvPr/>
        </p:nvSpPr>
        <p:spPr>
          <a:xfrm>
            <a:off x="380848" y="4617720"/>
            <a:ext cx="11430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5C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up: the detail, participants and time-box of each of these seven meetings.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457200" y="6547104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FA9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Testing  ·  Unit 2</a:t>
            </a:r>
            <a:endParaRPr lang="en-US" sz="900" dirty="0"/>
          </a:p>
        </p:txBody>
      </p:sp>
      <p:sp>
        <p:nvSpPr>
          <p:cNvPr id="27" name="Text 25"/>
          <p:cNvSpPr txBox="1"/>
          <p:nvPr/>
        </p:nvSpPr>
        <p:spPr>
          <a:xfrm>
            <a:off x="11277295" y="6547104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FA9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2A0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CEREMONIES · 1 &amp; 2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76072"/>
            <a:ext cx="9601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2E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Kick-off Meeting &amp; PBL Grooming Meeting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5394960" cy="288036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CFE3EF"/>
            </a:solidFill>
            <a:prstDash val="solid"/>
          </a:ln>
          <a:effectLst>
            <a:outerShdw blurRad="63500" dist="25400" dir="5400000" algn="bl" rotWithShape="0">
              <a:srgbClr val="9DB6C9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463040"/>
            <a:ext cx="5394960" cy="502920"/>
          </a:xfrm>
          <a:prstGeom prst="roundRect">
            <a:avLst>
              <a:gd name="adj" fmla="val 16364"/>
            </a:avLst>
          </a:prstGeom>
          <a:solidFill>
            <a:srgbClr val="0E3B63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737360"/>
            <a:ext cx="5394960" cy="228600"/>
          </a:xfrm>
          <a:prstGeom prst="rect">
            <a:avLst/>
          </a:prstGeom>
          <a:solidFill>
            <a:srgbClr val="0E3B63"/>
          </a:solidFill>
          <a:ln/>
        </p:spPr>
      </p:sp>
      <p:sp>
        <p:nvSpPr>
          <p:cNvPr id="7" name="Shape 5"/>
          <p:cNvSpPr/>
          <p:nvPr/>
        </p:nvSpPr>
        <p:spPr>
          <a:xfrm>
            <a:off x="594360" y="1536192"/>
            <a:ext cx="365760" cy="36576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8" name="Image 0" descr="/home/claude/icons/rocke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512" y="1609344"/>
            <a:ext cx="219456" cy="219456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051560" y="1463040"/>
            <a:ext cx="4617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a) Kick-off Meeting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658368" y="2084832"/>
            <a:ext cx="49926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0B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Participants:  </a:t>
            </a:r>
            <a:r>
              <a:rPr lang="en-US" sz="105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Management (CEO), Client &amp; SHs (real / model)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658368" y="2487168"/>
            <a:ext cx="2011680" cy="292608"/>
          </a:xfrm>
          <a:prstGeom prst="roundRect">
            <a:avLst>
              <a:gd name="adj" fmla="val 50000"/>
            </a:avLst>
          </a:prstGeom>
          <a:solidFill>
            <a:srgbClr val="EAF2F8"/>
          </a:solidFill>
          <a:ln w="12700">
            <a:solidFill>
              <a:srgbClr val="0E3B63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658368" y="2487168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E3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time-box</a:t>
            </a:r>
            <a:endParaRPr lang="en-US" sz="950" dirty="0"/>
          </a:p>
        </p:txBody>
      </p:sp>
      <p:sp>
        <p:nvSpPr>
          <p:cNvPr id="13" name="Text 10"/>
          <p:cNvSpPr txBox="1"/>
          <p:nvPr/>
        </p:nvSpPr>
        <p:spPr>
          <a:xfrm>
            <a:off x="658368" y="2889504"/>
            <a:ext cx="4992624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Purpose: to select a PO (Product Owner). The CEO conducts this meeting, and gets approval from the client and Stake Holders on the PO selection.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6245352" y="1463040"/>
            <a:ext cx="5394960" cy="288036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CFE3EF"/>
            </a:solidFill>
            <a:prstDash val="solid"/>
          </a:ln>
          <a:effectLst>
            <a:outerShdw blurRad="63500" dist="25400" dir="5400000" algn="bl" rotWithShape="0">
              <a:srgbClr val="9DB6C9">
                <a:alpha val="25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6245352" y="1463040"/>
            <a:ext cx="5394960" cy="502920"/>
          </a:xfrm>
          <a:prstGeom prst="roundRect">
            <a:avLst>
              <a:gd name="adj" fmla="val 16364"/>
            </a:avLst>
          </a:prstGeom>
          <a:solidFill>
            <a:srgbClr val="1C7293"/>
          </a:solidFill>
          <a:ln/>
        </p:spPr>
      </p:sp>
      <p:sp>
        <p:nvSpPr>
          <p:cNvPr id="16" name="Shape 13"/>
          <p:cNvSpPr/>
          <p:nvPr/>
        </p:nvSpPr>
        <p:spPr>
          <a:xfrm>
            <a:off x="6245352" y="1737360"/>
            <a:ext cx="5394960" cy="2286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7" name="Shape 14"/>
          <p:cNvSpPr/>
          <p:nvPr/>
        </p:nvSpPr>
        <p:spPr>
          <a:xfrm>
            <a:off x="6382512" y="1536192"/>
            <a:ext cx="365760" cy="36576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8" name="Image 1" descr="/home/claude/icons/listChe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55664" y="1609344"/>
            <a:ext cx="219456" cy="219456"/>
          </a:xfrm>
          <a:prstGeom prst="rect">
            <a:avLst/>
          </a:prstGeom>
        </p:spPr>
      </p:pic>
      <p:sp>
        <p:nvSpPr>
          <p:cNvPr id="19" name="Text 15"/>
          <p:cNvSpPr txBox="1"/>
          <p:nvPr/>
        </p:nvSpPr>
        <p:spPr>
          <a:xfrm>
            <a:off x="6839712" y="1463040"/>
            <a:ext cx="4617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b) PBL Grooming Meeting</a:t>
            </a:r>
            <a:endParaRPr lang="en-US" sz="1300" dirty="0"/>
          </a:p>
        </p:txBody>
      </p:sp>
      <p:sp>
        <p:nvSpPr>
          <p:cNvPr id="20" name="Text 16"/>
          <p:cNvSpPr txBox="1"/>
          <p:nvPr/>
        </p:nvSpPr>
        <p:spPr>
          <a:xfrm>
            <a:off x="6446520" y="2084832"/>
            <a:ext cx="49926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0B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Participants:  </a:t>
            </a:r>
            <a:r>
              <a:rPr lang="en-US" sz="105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PO, Clients &amp; SHs</a:t>
            </a:r>
            <a:endParaRPr lang="en-US" sz="1050" dirty="0"/>
          </a:p>
        </p:txBody>
      </p:sp>
      <p:sp>
        <p:nvSpPr>
          <p:cNvPr id="21" name="Shape 17"/>
          <p:cNvSpPr/>
          <p:nvPr/>
        </p:nvSpPr>
        <p:spPr>
          <a:xfrm>
            <a:off x="6446520" y="2487168"/>
            <a:ext cx="2011680" cy="292608"/>
          </a:xfrm>
          <a:prstGeom prst="roundRect">
            <a:avLst>
              <a:gd name="adj" fmla="val 50000"/>
            </a:avLst>
          </a:prstGeom>
          <a:solidFill>
            <a:srgbClr val="EAF2F8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2" name="Text 18"/>
          <p:cNvSpPr txBox="1"/>
          <p:nvPr/>
        </p:nvSpPr>
        <p:spPr>
          <a:xfrm>
            <a:off x="6446520" y="2487168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time-box</a:t>
            </a:r>
            <a:endParaRPr lang="en-US" sz="950" dirty="0"/>
          </a:p>
        </p:txBody>
      </p:sp>
      <p:sp>
        <p:nvSpPr>
          <p:cNvPr id="23" name="Text 19"/>
          <p:cNvSpPr txBox="1"/>
          <p:nvPr/>
        </p:nvSpPr>
        <p:spPr>
          <a:xfrm>
            <a:off x="6446520" y="2889504"/>
            <a:ext cx="4992624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Purpose: to gather all requirements and to prepare user stories (Uss). The PO can take the help of an SME or an external BA.</a:t>
            </a:r>
            <a:endParaRPr lang="en-US" sz="1100" dirty="0"/>
          </a:p>
        </p:txBody>
      </p:sp>
      <p:sp>
        <p:nvSpPr>
          <p:cNvPr id="24" name="Shape 20"/>
          <p:cNvSpPr/>
          <p:nvPr/>
        </p:nvSpPr>
        <p:spPr>
          <a:xfrm>
            <a:off x="457200" y="4617720"/>
            <a:ext cx="11274552" cy="1691640"/>
          </a:xfrm>
          <a:prstGeom prst="roundRect">
            <a:avLst>
              <a:gd name="adj" fmla="val 4865"/>
            </a:avLst>
          </a:prstGeom>
          <a:solidFill>
            <a:srgbClr val="0B2E4F"/>
          </a:solidFill>
          <a:ln/>
        </p:spPr>
      </p:sp>
      <p:sp>
        <p:nvSpPr>
          <p:cNvPr id="25" name="Text 21"/>
          <p:cNvSpPr txBox="1"/>
          <p:nvPr/>
        </p:nvSpPr>
        <p:spPr>
          <a:xfrm>
            <a:off x="777240" y="4800600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2A00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Outputs</a:t>
            </a:r>
            <a:endParaRPr lang="en-US" sz="1400" dirty="0"/>
          </a:p>
        </p:txBody>
      </p:sp>
      <p:sp>
        <p:nvSpPr>
          <p:cNvPr id="26" name="Text 22"/>
          <p:cNvSpPr txBox="1"/>
          <p:nvPr/>
        </p:nvSpPr>
        <p:spPr>
          <a:xfrm>
            <a:off x="777240" y="5166360"/>
            <a:ext cx="10607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Kick-off Meeting  →  </a:t>
            </a:r>
            <a:r>
              <a:rPr lang="en-US" sz="1200" dirty="0">
                <a:solidFill>
                  <a:srgbClr val="CFE3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confirmed Product Owner (PO), approved by the client and Stake Holders.
</a:t>
            </a: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PBL Grooming Meeting  →  </a:t>
            </a:r>
            <a:r>
              <a:rPr lang="en-US" sz="1200" dirty="0">
                <a:solidFill>
                  <a:srgbClr val="CFE3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complete Product Backlog (PBL) — every requirement captured as a user story, ready to be picked in Sprint Planning.</a:t>
            </a:r>
            <a:endParaRPr lang="en-US" sz="1250" dirty="0"/>
          </a:p>
        </p:txBody>
      </p:sp>
      <p:sp>
        <p:nvSpPr>
          <p:cNvPr id="27" name="Text 23"/>
          <p:cNvSpPr txBox="1"/>
          <p:nvPr/>
        </p:nvSpPr>
        <p:spPr>
          <a:xfrm>
            <a:off x="457200" y="6547104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FA9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Testing  ·  Unit 2</a:t>
            </a:r>
            <a:endParaRPr lang="en-US" sz="900" dirty="0"/>
          </a:p>
        </p:txBody>
      </p:sp>
      <p:sp>
        <p:nvSpPr>
          <p:cNvPr id="28" name="Text 24"/>
          <p:cNvSpPr txBox="1"/>
          <p:nvPr/>
        </p:nvSpPr>
        <p:spPr>
          <a:xfrm>
            <a:off x="11277295" y="6547104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FA9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5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2A0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CEREMONIES · 3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76072"/>
            <a:ext cx="9601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2E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Sprint Planning Meeting (SPM)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11274552" cy="1737360"/>
          </a:xfrm>
          <a:prstGeom prst="roundRect">
            <a:avLst>
              <a:gd name="adj" fmla="val 4737"/>
            </a:avLst>
          </a:prstGeom>
          <a:solidFill>
            <a:srgbClr val="FFFFFF"/>
          </a:solidFill>
          <a:ln w="12700">
            <a:solidFill>
              <a:srgbClr val="CFE3EF"/>
            </a:solidFill>
            <a:prstDash val="solid"/>
          </a:ln>
          <a:effectLst>
            <a:outerShdw blurRad="63500" dist="25400" dir="5400000" algn="bl" rotWithShape="0">
              <a:srgbClr val="9DB6C9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463040"/>
            <a:ext cx="11274552" cy="502920"/>
          </a:xfrm>
          <a:prstGeom prst="roundRect">
            <a:avLst>
              <a:gd name="adj" fmla="val 16364"/>
            </a:avLst>
          </a:prstGeom>
          <a:solidFill>
            <a:srgbClr val="F2A007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737360"/>
            <a:ext cx="11274552" cy="228600"/>
          </a:xfrm>
          <a:prstGeom prst="rect">
            <a:avLst/>
          </a:prstGeom>
          <a:solidFill>
            <a:srgbClr val="F2A007"/>
          </a:solidFill>
          <a:ln/>
        </p:spPr>
      </p:sp>
      <p:sp>
        <p:nvSpPr>
          <p:cNvPr id="7" name="Shape 5"/>
          <p:cNvSpPr/>
          <p:nvPr/>
        </p:nvSpPr>
        <p:spPr>
          <a:xfrm>
            <a:off x="594360" y="1536192"/>
            <a:ext cx="365760" cy="36576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8" name="Image 0" descr="/home/claude/icons/calendarDay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512" y="1609344"/>
            <a:ext cx="219456" cy="219456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051560" y="1463040"/>
            <a:ext cx="104973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c) Sprint Planning Meeting (SPM)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658368" y="2084832"/>
            <a:ext cx="108722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0B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Participants:  </a:t>
            </a:r>
            <a:r>
              <a:rPr lang="en-US" sz="105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PO, SHs, SM &amp; ST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658368" y="2487168"/>
            <a:ext cx="2011680" cy="292608"/>
          </a:xfrm>
          <a:prstGeom prst="roundRect">
            <a:avLst>
              <a:gd name="adj" fmla="val 50000"/>
            </a:avLst>
          </a:prstGeom>
          <a:solidFill>
            <a:srgbClr val="EAF2F8"/>
          </a:solidFill>
          <a:ln w="12700">
            <a:solidFill>
              <a:srgbClr val="F2A007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658368" y="2487168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2A0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to 3 hours</a:t>
            </a:r>
            <a:endParaRPr lang="en-US" sz="950" dirty="0"/>
          </a:p>
        </p:txBody>
      </p:sp>
      <p:sp>
        <p:nvSpPr>
          <p:cNvPr id="13" name="Text 10"/>
          <p:cNvSpPr txBox="1"/>
          <p:nvPr/>
        </p:nvSpPr>
        <p:spPr>
          <a:xfrm>
            <a:off x="658368" y="2889504"/>
            <a:ext cx="108722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Purpose: to select some user stories from all the user stories in the PBL, depending on the size of the user stories, their importance, and their complexity.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457200" y="3520440"/>
            <a:ext cx="3611880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 w="12700">
            <a:solidFill>
              <a:srgbClr val="CFE3EF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658368" y="3721608"/>
            <a:ext cx="457200" cy="457200"/>
          </a:xfrm>
          <a:prstGeom prst="ellipse">
            <a:avLst/>
          </a:prstGeom>
          <a:solidFill>
            <a:srgbClr val="0E3B63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658368" y="37216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300" dirty="0"/>
          </a:p>
        </p:txBody>
      </p:sp>
      <p:sp>
        <p:nvSpPr>
          <p:cNvPr id="17" name="Text 14"/>
          <p:cNvSpPr txBox="1"/>
          <p:nvPr/>
        </p:nvSpPr>
        <p:spPr>
          <a:xfrm>
            <a:off x="1280160" y="3685032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2E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Size</a:t>
            </a:r>
            <a:endParaRPr lang="en-US" sz="1500" dirty="0"/>
          </a:p>
        </p:txBody>
      </p:sp>
      <p:sp>
        <p:nvSpPr>
          <p:cNvPr id="18" name="Text 15"/>
          <p:cNvSpPr txBox="1"/>
          <p:nvPr/>
        </p:nvSpPr>
        <p:spPr>
          <a:xfrm>
            <a:off x="1280160" y="4050792"/>
            <a:ext cx="2606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large the user story is (T-shirt size)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288536" y="3520440"/>
            <a:ext cx="3611880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 w="12700">
            <a:solidFill>
              <a:srgbClr val="CFE3EF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4489704" y="3721608"/>
            <a:ext cx="457200" cy="457200"/>
          </a:xfrm>
          <a:prstGeom prst="ellipse">
            <a:avLst/>
          </a:prstGeom>
          <a:solidFill>
            <a:srgbClr val="0E3B63"/>
          </a:solidFill>
          <a:ln/>
        </p:spPr>
      </p:sp>
      <p:sp>
        <p:nvSpPr>
          <p:cNvPr id="21" name="Text 18"/>
          <p:cNvSpPr txBox="1"/>
          <p:nvPr/>
        </p:nvSpPr>
        <p:spPr>
          <a:xfrm>
            <a:off x="4489704" y="37216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300" dirty="0"/>
          </a:p>
        </p:txBody>
      </p:sp>
      <p:sp>
        <p:nvSpPr>
          <p:cNvPr id="22" name="Text 19"/>
          <p:cNvSpPr txBox="1"/>
          <p:nvPr/>
        </p:nvSpPr>
        <p:spPr>
          <a:xfrm>
            <a:off x="5111496" y="3685032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2E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Importance</a:t>
            </a:r>
            <a:endParaRPr lang="en-US" sz="1500" dirty="0"/>
          </a:p>
        </p:txBody>
      </p:sp>
      <p:sp>
        <p:nvSpPr>
          <p:cNvPr id="23" name="Text 20"/>
          <p:cNvSpPr txBox="1"/>
          <p:nvPr/>
        </p:nvSpPr>
        <p:spPr>
          <a:xfrm>
            <a:off x="5111496" y="4050792"/>
            <a:ext cx="2606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to the client / business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8119872" y="3520440"/>
            <a:ext cx="3611880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 w="12700">
            <a:solidFill>
              <a:srgbClr val="CFE3EF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8321040" y="3721608"/>
            <a:ext cx="457200" cy="457200"/>
          </a:xfrm>
          <a:prstGeom prst="ellipse">
            <a:avLst/>
          </a:prstGeom>
          <a:solidFill>
            <a:srgbClr val="0E3B63"/>
          </a:solidFill>
          <a:ln/>
        </p:spPr>
      </p:sp>
      <p:sp>
        <p:nvSpPr>
          <p:cNvPr id="26" name="Text 23"/>
          <p:cNvSpPr txBox="1"/>
          <p:nvPr/>
        </p:nvSpPr>
        <p:spPr>
          <a:xfrm>
            <a:off x="8321040" y="37216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300" dirty="0"/>
          </a:p>
        </p:txBody>
      </p:sp>
      <p:sp>
        <p:nvSpPr>
          <p:cNvPr id="27" name="Text 24"/>
          <p:cNvSpPr txBox="1"/>
          <p:nvPr/>
        </p:nvSpPr>
        <p:spPr>
          <a:xfrm>
            <a:off x="8942832" y="3685032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2E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Complexity</a:t>
            </a:r>
            <a:endParaRPr lang="en-US" sz="1500" dirty="0"/>
          </a:p>
        </p:txBody>
      </p:sp>
      <p:sp>
        <p:nvSpPr>
          <p:cNvPr id="28" name="Text 25"/>
          <p:cNvSpPr txBox="1"/>
          <p:nvPr/>
        </p:nvSpPr>
        <p:spPr>
          <a:xfrm>
            <a:off x="8942832" y="4050792"/>
            <a:ext cx="2606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difficult the story is to build &amp; test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457200" y="5166360"/>
            <a:ext cx="11274552" cy="1051560"/>
          </a:xfrm>
          <a:prstGeom prst="roundRect">
            <a:avLst>
              <a:gd name="adj" fmla="val 6957"/>
            </a:avLst>
          </a:prstGeom>
          <a:solidFill>
            <a:srgbClr val="0B2E4F"/>
          </a:solidFill>
          <a:ln/>
        </p:spPr>
      </p:sp>
      <p:sp>
        <p:nvSpPr>
          <p:cNvPr id="30" name="Text 27"/>
          <p:cNvSpPr txBox="1"/>
          <p:nvPr/>
        </p:nvSpPr>
        <p:spPr>
          <a:xfrm>
            <a:off x="777240" y="5166360"/>
            <a:ext cx="10607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F2A0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Selected stories become the Sprint Backlog (SBL)  </a:t>
            </a:r>
            <a:r>
              <a:rPr lang="en-US" sz="1150" dirty="0">
                <a:solidFill>
                  <a:srgbClr val="CFE3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the “some user stories” chosen here are what the Scrum Team commits to build and test in the coming 30-day sprint.</a:t>
            </a:r>
            <a:endParaRPr lang="en-US" sz="1300" dirty="0"/>
          </a:p>
        </p:txBody>
      </p:sp>
      <p:sp>
        <p:nvSpPr>
          <p:cNvPr id="31" name="Text 28"/>
          <p:cNvSpPr txBox="1"/>
          <p:nvPr/>
        </p:nvSpPr>
        <p:spPr>
          <a:xfrm>
            <a:off x="457200" y="6547104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FA9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Testing  ·  Unit 2</a:t>
            </a:r>
            <a:endParaRPr lang="en-US" sz="900" dirty="0"/>
          </a:p>
        </p:txBody>
      </p:sp>
      <p:sp>
        <p:nvSpPr>
          <p:cNvPr id="32" name="Text 29"/>
          <p:cNvSpPr txBox="1"/>
          <p:nvPr/>
        </p:nvSpPr>
        <p:spPr>
          <a:xfrm>
            <a:off x="11277295" y="6547104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FA9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5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2A0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CEREMONIES · 4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76072"/>
            <a:ext cx="9601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2E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Daily Scrum Meet (Standup)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5394960" cy="196596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 w="12700">
            <a:solidFill>
              <a:srgbClr val="CFE3EF"/>
            </a:solidFill>
            <a:prstDash val="solid"/>
          </a:ln>
          <a:effectLst>
            <a:outerShdw blurRad="63500" dist="25400" dir="5400000" algn="bl" rotWithShape="0">
              <a:srgbClr val="9DB6C9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463040"/>
            <a:ext cx="5394960" cy="502920"/>
          </a:xfrm>
          <a:prstGeom prst="roundRect">
            <a:avLst>
              <a:gd name="adj" fmla="val 16364"/>
            </a:avLst>
          </a:prstGeom>
          <a:solidFill>
            <a:srgbClr val="1C7293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737360"/>
            <a:ext cx="5394960" cy="2286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7" name="Shape 5"/>
          <p:cNvSpPr/>
          <p:nvPr/>
        </p:nvSpPr>
        <p:spPr>
          <a:xfrm>
            <a:off x="594360" y="1536192"/>
            <a:ext cx="365760" cy="36576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8" name="Image 0" descr="/home/claude/icons/commentsDot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512" y="1609344"/>
            <a:ext cx="219456" cy="219456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051560" y="1463040"/>
            <a:ext cx="4617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d) Daily Scrum Meet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658368" y="2084832"/>
            <a:ext cx="49926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0B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Participants:  </a:t>
            </a:r>
            <a:r>
              <a:rPr lang="en-US" sz="105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PO, SM, ST &amp; SHs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658368" y="2487168"/>
            <a:ext cx="2011680" cy="292608"/>
          </a:xfrm>
          <a:prstGeom prst="roundRect">
            <a:avLst>
              <a:gd name="adj" fmla="val 50000"/>
            </a:avLst>
          </a:prstGeom>
          <a:solidFill>
            <a:srgbClr val="EAF2F8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658368" y="2487168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minutes</a:t>
            </a:r>
            <a:endParaRPr lang="en-US" sz="950" dirty="0"/>
          </a:p>
        </p:txBody>
      </p:sp>
      <p:sp>
        <p:nvSpPr>
          <p:cNvPr id="13" name="Text 10"/>
          <p:cNvSpPr txBox="1"/>
          <p:nvPr/>
        </p:nvSpPr>
        <p:spPr>
          <a:xfrm>
            <a:off x="658368" y="2889504"/>
            <a:ext cx="49926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Purpose: to know problems, not to solve them. A quick, focused status check held every day of the 30-day sprint.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6245352" y="1463040"/>
            <a:ext cx="5477256" cy="4846320"/>
          </a:xfrm>
          <a:prstGeom prst="roundRect">
            <a:avLst>
              <a:gd name="adj" fmla="val 1887"/>
            </a:avLst>
          </a:prstGeom>
          <a:solidFill>
            <a:srgbClr val="0B2E4F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6565392" y="1737360"/>
            <a:ext cx="48371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2A0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THREE STANDUP QUESTIONS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6565392" y="2240280"/>
            <a:ext cx="548640" cy="548640"/>
          </a:xfrm>
          <a:prstGeom prst="ellipse">
            <a:avLst/>
          </a:prstGeom>
          <a:solidFill>
            <a:srgbClr val="F2A007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6565392" y="22402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2E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300" dirty="0"/>
          </a:p>
        </p:txBody>
      </p:sp>
      <p:sp>
        <p:nvSpPr>
          <p:cNvPr id="18" name="Text 15"/>
          <p:cNvSpPr txBox="1"/>
          <p:nvPr/>
        </p:nvSpPr>
        <p:spPr>
          <a:xfrm>
            <a:off x="7296912" y="2240280"/>
            <a:ext cx="41056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did you do today?</a:t>
            </a:r>
            <a:endParaRPr lang="en-US" sz="1600" dirty="0"/>
          </a:p>
        </p:txBody>
      </p:sp>
      <p:sp>
        <p:nvSpPr>
          <p:cNvPr id="19" name="Shape 16"/>
          <p:cNvSpPr/>
          <p:nvPr/>
        </p:nvSpPr>
        <p:spPr>
          <a:xfrm>
            <a:off x="6565392" y="3017520"/>
            <a:ext cx="4837176" cy="0"/>
          </a:xfrm>
          <a:prstGeom prst="line">
            <a:avLst/>
          </a:prstGeom>
          <a:noFill/>
          <a:ln w="19050">
            <a:solidFill>
              <a:srgbClr val="0E3B63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6565392" y="3474720"/>
            <a:ext cx="548640" cy="548640"/>
          </a:xfrm>
          <a:prstGeom prst="ellipse">
            <a:avLst/>
          </a:prstGeom>
          <a:solidFill>
            <a:srgbClr val="F2A007"/>
          </a:solidFill>
          <a:ln/>
        </p:spPr>
      </p:sp>
      <p:sp>
        <p:nvSpPr>
          <p:cNvPr id="21" name="Text 18"/>
          <p:cNvSpPr txBox="1"/>
          <p:nvPr/>
        </p:nvSpPr>
        <p:spPr>
          <a:xfrm>
            <a:off x="6565392" y="34747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2E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300" dirty="0"/>
          </a:p>
        </p:txBody>
      </p:sp>
      <p:sp>
        <p:nvSpPr>
          <p:cNvPr id="22" name="Text 19"/>
          <p:cNvSpPr txBox="1"/>
          <p:nvPr/>
        </p:nvSpPr>
        <p:spPr>
          <a:xfrm>
            <a:off x="7296912" y="3474720"/>
            <a:ext cx="41056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will you do tomorrow?</a:t>
            </a:r>
            <a:endParaRPr lang="en-US" sz="1600" dirty="0"/>
          </a:p>
        </p:txBody>
      </p:sp>
      <p:sp>
        <p:nvSpPr>
          <p:cNvPr id="23" name="Shape 20"/>
          <p:cNvSpPr/>
          <p:nvPr/>
        </p:nvSpPr>
        <p:spPr>
          <a:xfrm>
            <a:off x="6565392" y="4251960"/>
            <a:ext cx="4837176" cy="0"/>
          </a:xfrm>
          <a:prstGeom prst="line">
            <a:avLst/>
          </a:prstGeom>
          <a:noFill/>
          <a:ln w="19050">
            <a:solidFill>
              <a:srgbClr val="0E3B63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6565392" y="4709160"/>
            <a:ext cx="548640" cy="548640"/>
          </a:xfrm>
          <a:prstGeom prst="ellipse">
            <a:avLst/>
          </a:prstGeom>
          <a:solidFill>
            <a:srgbClr val="F2A007"/>
          </a:solidFill>
          <a:ln/>
        </p:spPr>
      </p:sp>
      <p:sp>
        <p:nvSpPr>
          <p:cNvPr id="25" name="Text 22"/>
          <p:cNvSpPr txBox="1"/>
          <p:nvPr/>
        </p:nvSpPr>
        <p:spPr>
          <a:xfrm>
            <a:off x="6565392" y="47091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2E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300" dirty="0"/>
          </a:p>
        </p:txBody>
      </p:sp>
      <p:sp>
        <p:nvSpPr>
          <p:cNvPr id="26" name="Text 23"/>
          <p:cNvSpPr txBox="1"/>
          <p:nvPr/>
        </p:nvSpPr>
        <p:spPr>
          <a:xfrm>
            <a:off x="7296912" y="4709160"/>
            <a:ext cx="41056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issues are in your way?</a:t>
            </a:r>
            <a:endParaRPr lang="en-US" sz="1600" dirty="0"/>
          </a:p>
        </p:txBody>
      </p:sp>
      <p:sp>
        <p:nvSpPr>
          <p:cNvPr id="27" name="Shape 24"/>
          <p:cNvSpPr/>
          <p:nvPr/>
        </p:nvSpPr>
        <p:spPr>
          <a:xfrm>
            <a:off x="457200" y="3657600"/>
            <a:ext cx="5394960" cy="2651760"/>
          </a:xfrm>
          <a:prstGeom prst="roundRect">
            <a:avLst>
              <a:gd name="adj" fmla="val 3103"/>
            </a:avLst>
          </a:prstGeom>
          <a:solidFill>
            <a:srgbClr val="FFFFFF"/>
          </a:solidFill>
          <a:ln w="12700">
            <a:solidFill>
              <a:srgbClr val="CFE3EF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685800" y="384048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2E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Sprint Duration</a:t>
            </a:r>
            <a:endParaRPr lang="en-US" sz="1400" dirty="0"/>
          </a:p>
        </p:txBody>
      </p:sp>
      <p:sp>
        <p:nvSpPr>
          <p:cNvPr id="29" name="Text 26"/>
          <p:cNvSpPr txBox="1"/>
          <p:nvPr/>
        </p:nvSpPr>
        <p:spPr>
          <a:xfrm>
            <a:off x="685800" y="4251960"/>
            <a:ext cx="49377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3000" b="1" dirty="0">
                <a:solidFill>
                  <a:srgbClr val="F2A0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days  </a:t>
            </a:r>
            <a:r>
              <a:rPr lang="en-US" sz="120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the suitable duration for one sprint — covering development &amp; testing together.
</a:t>
            </a:r>
            <a:r>
              <a:rPr lang="en-US" sz="115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Daily Scrum meet runs every day across these 30 days, so the whole team always knows the current status of work.</a:t>
            </a:r>
            <a:endParaRPr lang="en-US" sz="3000" dirty="0"/>
          </a:p>
        </p:txBody>
      </p:sp>
      <p:sp>
        <p:nvSpPr>
          <p:cNvPr id="30" name="Text 27"/>
          <p:cNvSpPr txBox="1"/>
          <p:nvPr/>
        </p:nvSpPr>
        <p:spPr>
          <a:xfrm>
            <a:off x="457200" y="6547104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FA9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Testing  ·  Unit 2</a:t>
            </a:r>
            <a:endParaRPr lang="en-US" sz="900" dirty="0"/>
          </a:p>
        </p:txBody>
      </p:sp>
      <p:sp>
        <p:nvSpPr>
          <p:cNvPr id="31" name="Text 28"/>
          <p:cNvSpPr txBox="1"/>
          <p:nvPr/>
        </p:nvSpPr>
        <p:spPr>
          <a:xfrm>
            <a:off x="11277295" y="6547104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FA9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5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2A0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CEREMONIES · 5 &amp; 6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76072"/>
            <a:ext cx="9601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2E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Sprint Review &amp; Retrospective Meetings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5394960" cy="288036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CFE3EF"/>
            </a:solidFill>
            <a:prstDash val="solid"/>
          </a:ln>
          <a:effectLst>
            <a:outerShdw blurRad="63500" dist="25400" dir="5400000" algn="bl" rotWithShape="0">
              <a:srgbClr val="9DB6C9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463040"/>
            <a:ext cx="5394960" cy="502920"/>
          </a:xfrm>
          <a:prstGeom prst="roundRect">
            <a:avLst>
              <a:gd name="adj" fmla="val 16364"/>
            </a:avLst>
          </a:prstGeom>
          <a:solidFill>
            <a:srgbClr val="F2A007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737360"/>
            <a:ext cx="5394960" cy="228600"/>
          </a:xfrm>
          <a:prstGeom prst="rect">
            <a:avLst/>
          </a:prstGeom>
          <a:solidFill>
            <a:srgbClr val="F2A007"/>
          </a:solidFill>
          <a:ln/>
        </p:spPr>
      </p:sp>
      <p:sp>
        <p:nvSpPr>
          <p:cNvPr id="7" name="Shape 5"/>
          <p:cNvSpPr/>
          <p:nvPr/>
        </p:nvSpPr>
        <p:spPr>
          <a:xfrm>
            <a:off x="594360" y="1536192"/>
            <a:ext cx="365760" cy="36576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8" name="Image 0" descr="/home/claude/icons/ey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512" y="1609344"/>
            <a:ext cx="219456" cy="219456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051560" y="1463040"/>
            <a:ext cx="4617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e) Sprint Review Meeting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658368" y="2084832"/>
            <a:ext cx="49926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0B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Participants:  </a:t>
            </a:r>
            <a:r>
              <a:rPr lang="en-US" sz="105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Client, SHs, PO, SM &amp; ST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658368" y="2487168"/>
            <a:ext cx="2011680" cy="292608"/>
          </a:xfrm>
          <a:prstGeom prst="roundRect">
            <a:avLst>
              <a:gd name="adj" fmla="val 50000"/>
            </a:avLst>
          </a:prstGeom>
          <a:solidFill>
            <a:srgbClr val="EAF2F8"/>
          </a:solidFill>
          <a:ln w="12700">
            <a:solidFill>
              <a:srgbClr val="F2A007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658368" y="2487168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2A0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hours</a:t>
            </a:r>
            <a:endParaRPr lang="en-US" sz="950" dirty="0"/>
          </a:p>
        </p:txBody>
      </p:sp>
      <p:sp>
        <p:nvSpPr>
          <p:cNvPr id="13" name="Text 10"/>
          <p:cNvSpPr txBox="1"/>
          <p:nvPr/>
        </p:nvSpPr>
        <p:spPr>
          <a:xfrm>
            <a:off x="658368" y="2889504"/>
            <a:ext cx="4992624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Purpose: sprint demo to the client, to collect feedback on the working software built in the sprint.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6245352" y="1463040"/>
            <a:ext cx="5394960" cy="288036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CFE3EF"/>
            </a:solidFill>
            <a:prstDash val="solid"/>
          </a:ln>
          <a:effectLst>
            <a:outerShdw blurRad="63500" dist="25400" dir="5400000" algn="bl" rotWithShape="0">
              <a:srgbClr val="9DB6C9">
                <a:alpha val="25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6245352" y="1463040"/>
            <a:ext cx="5394960" cy="502920"/>
          </a:xfrm>
          <a:prstGeom prst="roundRect">
            <a:avLst>
              <a:gd name="adj" fmla="val 16364"/>
            </a:avLst>
          </a:prstGeom>
          <a:solidFill>
            <a:srgbClr val="0E3B63"/>
          </a:solidFill>
          <a:ln/>
        </p:spPr>
      </p:sp>
      <p:sp>
        <p:nvSpPr>
          <p:cNvPr id="16" name="Shape 13"/>
          <p:cNvSpPr/>
          <p:nvPr/>
        </p:nvSpPr>
        <p:spPr>
          <a:xfrm>
            <a:off x="6245352" y="1737360"/>
            <a:ext cx="5394960" cy="228600"/>
          </a:xfrm>
          <a:prstGeom prst="rect">
            <a:avLst/>
          </a:prstGeom>
          <a:solidFill>
            <a:srgbClr val="0E3B63"/>
          </a:solidFill>
          <a:ln/>
        </p:spPr>
      </p:sp>
      <p:sp>
        <p:nvSpPr>
          <p:cNvPr id="17" name="Shape 14"/>
          <p:cNvSpPr/>
          <p:nvPr/>
        </p:nvSpPr>
        <p:spPr>
          <a:xfrm>
            <a:off x="6382512" y="1536192"/>
            <a:ext cx="365760" cy="36576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8" name="Image 1" descr="/home/claude/icons/arrowsRota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55664" y="1609344"/>
            <a:ext cx="219456" cy="219456"/>
          </a:xfrm>
          <a:prstGeom prst="rect">
            <a:avLst/>
          </a:prstGeom>
        </p:spPr>
      </p:pic>
      <p:sp>
        <p:nvSpPr>
          <p:cNvPr id="19" name="Text 15"/>
          <p:cNvSpPr txBox="1"/>
          <p:nvPr/>
        </p:nvSpPr>
        <p:spPr>
          <a:xfrm>
            <a:off x="6839712" y="1463040"/>
            <a:ext cx="4617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f) Sprint Retrospective Meeting</a:t>
            </a:r>
            <a:endParaRPr lang="en-US" sz="1300" dirty="0"/>
          </a:p>
        </p:txBody>
      </p:sp>
      <p:sp>
        <p:nvSpPr>
          <p:cNvPr id="20" name="Text 16"/>
          <p:cNvSpPr txBox="1"/>
          <p:nvPr/>
        </p:nvSpPr>
        <p:spPr>
          <a:xfrm>
            <a:off x="6446520" y="2084832"/>
            <a:ext cx="49926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0B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Participants:  </a:t>
            </a:r>
            <a:r>
              <a:rPr lang="en-US" sz="105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Scrum Master &amp; ST</a:t>
            </a:r>
            <a:endParaRPr lang="en-US" sz="1050" dirty="0"/>
          </a:p>
        </p:txBody>
      </p:sp>
      <p:sp>
        <p:nvSpPr>
          <p:cNvPr id="21" name="Shape 17"/>
          <p:cNvSpPr/>
          <p:nvPr/>
        </p:nvSpPr>
        <p:spPr>
          <a:xfrm>
            <a:off x="6446520" y="2487168"/>
            <a:ext cx="2011680" cy="292608"/>
          </a:xfrm>
          <a:prstGeom prst="roundRect">
            <a:avLst>
              <a:gd name="adj" fmla="val 50000"/>
            </a:avLst>
          </a:prstGeom>
          <a:solidFill>
            <a:srgbClr val="EAF2F8"/>
          </a:solidFill>
          <a:ln w="12700">
            <a:solidFill>
              <a:srgbClr val="0E3B63"/>
            </a:solidFill>
            <a:prstDash val="solid"/>
          </a:ln>
        </p:spPr>
      </p:sp>
      <p:sp>
        <p:nvSpPr>
          <p:cNvPr id="22" name="Text 18"/>
          <p:cNvSpPr txBox="1"/>
          <p:nvPr/>
        </p:nvSpPr>
        <p:spPr>
          <a:xfrm>
            <a:off x="6446520" y="2487168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E3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hours</a:t>
            </a:r>
            <a:endParaRPr lang="en-US" sz="950" dirty="0"/>
          </a:p>
        </p:txBody>
      </p:sp>
      <p:sp>
        <p:nvSpPr>
          <p:cNvPr id="23" name="Text 19"/>
          <p:cNvSpPr txBox="1"/>
          <p:nvPr/>
        </p:nvSpPr>
        <p:spPr>
          <a:xfrm>
            <a:off x="6446520" y="2889504"/>
            <a:ext cx="4992624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Purpose: to solve team-level changes and issues, and to make the Scrum Team ready for the next sprint.</a:t>
            </a:r>
            <a:endParaRPr lang="en-US" sz="1100" dirty="0"/>
          </a:p>
        </p:txBody>
      </p:sp>
      <p:sp>
        <p:nvSpPr>
          <p:cNvPr id="24" name="Shape 20"/>
          <p:cNvSpPr/>
          <p:nvPr/>
        </p:nvSpPr>
        <p:spPr>
          <a:xfrm>
            <a:off x="457200" y="4617720"/>
            <a:ext cx="11274552" cy="1691640"/>
          </a:xfrm>
          <a:prstGeom prst="roundRect">
            <a:avLst>
              <a:gd name="adj" fmla="val 4865"/>
            </a:avLst>
          </a:prstGeom>
          <a:solidFill>
            <a:srgbClr val="0B2E4F"/>
          </a:solidFill>
          <a:ln/>
        </p:spPr>
      </p:sp>
      <p:sp>
        <p:nvSpPr>
          <p:cNvPr id="25" name="Text 21"/>
          <p:cNvSpPr txBox="1"/>
          <p:nvPr/>
        </p:nvSpPr>
        <p:spPr>
          <a:xfrm>
            <a:off x="777240" y="4800600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2A00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Outward-Facing vs. Inward-Facing</a:t>
            </a:r>
            <a:endParaRPr lang="en-US" sz="1400" dirty="0"/>
          </a:p>
        </p:txBody>
      </p:sp>
      <p:sp>
        <p:nvSpPr>
          <p:cNvPr id="26" name="Text 22"/>
          <p:cNvSpPr txBox="1"/>
          <p:nvPr/>
        </p:nvSpPr>
        <p:spPr>
          <a:xfrm>
            <a:off x="777240" y="5166360"/>
            <a:ext cx="10607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Review  </a:t>
            </a:r>
            <a:r>
              <a:rPr lang="en-US" sz="1200" dirty="0">
                <a:solidFill>
                  <a:srgbClr val="CFE3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looks outward — the client sees the sprint and reacts to it.  </a:t>
            </a: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Retrospective  </a:t>
            </a:r>
            <a:r>
              <a:rPr lang="en-US" sz="1200" dirty="0">
                <a:solidFill>
                  <a:srgbClr val="CFE3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looks inward — only the team reflects on how it worked together, with no client or PO in the room.</a:t>
            </a:r>
            <a:endParaRPr lang="en-US" sz="1250" dirty="0"/>
          </a:p>
        </p:txBody>
      </p:sp>
      <p:sp>
        <p:nvSpPr>
          <p:cNvPr id="27" name="Text 23"/>
          <p:cNvSpPr txBox="1"/>
          <p:nvPr/>
        </p:nvSpPr>
        <p:spPr>
          <a:xfrm>
            <a:off x="457200" y="6547104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FA9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Testing  ·  Unit 2</a:t>
            </a:r>
            <a:endParaRPr lang="en-US" sz="900" dirty="0"/>
          </a:p>
        </p:txBody>
      </p:sp>
      <p:sp>
        <p:nvSpPr>
          <p:cNvPr id="28" name="Text 24"/>
          <p:cNvSpPr txBox="1"/>
          <p:nvPr/>
        </p:nvSpPr>
        <p:spPr>
          <a:xfrm>
            <a:off x="11277295" y="6547104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FA9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5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2A0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CEREMONIES · 7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76072"/>
            <a:ext cx="9601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2E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Product Backlog Refinement Meeting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11274552" cy="18288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CFE3EF"/>
            </a:solidFill>
            <a:prstDash val="solid"/>
          </a:ln>
          <a:effectLst>
            <a:outerShdw blurRad="63500" dist="25400" dir="5400000" algn="bl" rotWithShape="0">
              <a:srgbClr val="9DB6C9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463040"/>
            <a:ext cx="11274552" cy="502920"/>
          </a:xfrm>
          <a:prstGeom prst="roundRect">
            <a:avLst>
              <a:gd name="adj" fmla="val 16364"/>
            </a:avLst>
          </a:prstGeom>
          <a:solidFill>
            <a:srgbClr val="1C7293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737360"/>
            <a:ext cx="11274552" cy="2286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7" name="Shape 5"/>
          <p:cNvSpPr/>
          <p:nvPr/>
        </p:nvSpPr>
        <p:spPr>
          <a:xfrm>
            <a:off x="594360" y="1536192"/>
            <a:ext cx="365760" cy="36576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8" name="Image 0" descr="/home/claude/icons/listChe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512" y="1609344"/>
            <a:ext cx="219456" cy="219456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051560" y="1463040"/>
            <a:ext cx="104973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g) Product Backlog Refinement Meeting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658368" y="2084832"/>
            <a:ext cx="108722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0B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Participants:  </a:t>
            </a:r>
            <a:r>
              <a:rPr lang="en-US" sz="105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Client, PO, SHs, SM &amp; ST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658368" y="2487168"/>
            <a:ext cx="2011680" cy="292608"/>
          </a:xfrm>
          <a:prstGeom prst="roundRect">
            <a:avLst>
              <a:gd name="adj" fmla="val 50000"/>
            </a:avLst>
          </a:prstGeom>
          <a:solidFill>
            <a:srgbClr val="EAF2F8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658368" y="2487168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hours</a:t>
            </a:r>
            <a:endParaRPr lang="en-US" sz="950" dirty="0"/>
          </a:p>
        </p:txBody>
      </p:sp>
      <p:sp>
        <p:nvSpPr>
          <p:cNvPr id="13" name="Text 10"/>
          <p:cNvSpPr txBox="1"/>
          <p:nvPr/>
        </p:nvSpPr>
        <p:spPr>
          <a:xfrm>
            <a:off x="658368" y="2889504"/>
            <a:ext cx="10872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Purpose: to perform changes / updates to the user stories inside the Product Backlog (PBL) — keeping the backlog current before the next Sprint Planning Meeting selects from it.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457200" y="3611880"/>
            <a:ext cx="11274552" cy="2697480"/>
          </a:xfrm>
          <a:prstGeom prst="roundRect">
            <a:avLst>
              <a:gd name="adj" fmla="val 3051"/>
            </a:avLst>
          </a:prstGeom>
          <a:solidFill>
            <a:srgbClr val="0B2E4F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777240" y="3794760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2A00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this meeting sits in the cycle</a:t>
            </a:r>
            <a:endParaRPr lang="en-US" sz="1400" dirty="0"/>
          </a:p>
        </p:txBody>
      </p:sp>
      <p:sp>
        <p:nvSpPr>
          <p:cNvPr id="16" name="Text 13"/>
          <p:cNvSpPr txBox="1"/>
          <p:nvPr/>
        </p:nvSpPr>
        <p:spPr>
          <a:xfrm>
            <a:off x="777240" y="4160520"/>
            <a:ext cx="106070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CFE3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PBL Refinement meeting is the loop-back point of the whole Scrum process — it takes feedback and changes gathered after the Sprint Review &amp; Retrospective, and folds them back into the Product Backlog. From here, the cycle restarts at the next Sprint Planning Meeting, for as many sprints as the project or product needs.</a:t>
            </a:r>
            <a:endParaRPr lang="en-US" sz="1300" dirty="0"/>
          </a:p>
        </p:txBody>
      </p:sp>
      <p:sp>
        <p:nvSpPr>
          <p:cNvPr id="17" name="Text 14"/>
          <p:cNvSpPr txBox="1"/>
          <p:nvPr/>
        </p:nvSpPr>
        <p:spPr>
          <a:xfrm>
            <a:off x="457200" y="6547104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FA9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Testing  ·  Unit 2</a:t>
            </a:r>
            <a:endParaRPr lang="en-US" sz="900" dirty="0"/>
          </a:p>
        </p:txBody>
      </p:sp>
      <p:sp>
        <p:nvSpPr>
          <p:cNvPr id="18" name="Text 15"/>
          <p:cNvSpPr txBox="1"/>
          <p:nvPr/>
        </p:nvSpPr>
        <p:spPr>
          <a:xfrm>
            <a:off x="11277295" y="6547104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FA9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5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2A0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REVISION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76072"/>
            <a:ext cx="9601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2E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Ceremonies at a Glance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2331720" cy="603504"/>
          </a:xfrm>
          <a:prstGeom prst="rect">
            <a:avLst/>
          </a:prstGeom>
          <a:solidFill>
            <a:srgbClr val="0B2E4F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94360" y="1463040"/>
            <a:ext cx="20574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Meeting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2788920" y="1463040"/>
            <a:ext cx="2606040" cy="603504"/>
          </a:xfrm>
          <a:prstGeom prst="rect">
            <a:avLst/>
          </a:prstGeom>
          <a:solidFill>
            <a:srgbClr val="0B2E4F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2926080" y="1463040"/>
            <a:ext cx="23317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Participants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394960" y="1463040"/>
            <a:ext cx="1417320" cy="603504"/>
          </a:xfrm>
          <a:prstGeom prst="rect">
            <a:avLst/>
          </a:prstGeom>
          <a:solidFill>
            <a:srgbClr val="0B2E4F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532120" y="1463040"/>
            <a:ext cx="11430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Time-box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812280" y="1463040"/>
            <a:ext cx="4919472" cy="603504"/>
          </a:xfrm>
          <a:prstGeom prst="rect">
            <a:avLst/>
          </a:prstGeom>
          <a:solidFill>
            <a:srgbClr val="0B2E4F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949440" y="1463040"/>
            <a:ext cx="464515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Purpose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457200" y="2066544"/>
            <a:ext cx="2331720" cy="603504"/>
          </a:xfrm>
          <a:prstGeom prst="rect">
            <a:avLst/>
          </a:prstGeom>
          <a:solidFill>
            <a:srgbClr val="FFFFFF"/>
          </a:solidFill>
          <a:ln w="9525">
            <a:solidFill>
              <a:srgbClr val="CFE3E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94360" y="2066544"/>
            <a:ext cx="21031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0B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Kick-off Meeting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2788920" y="2066544"/>
            <a:ext cx="2606040" cy="603504"/>
          </a:xfrm>
          <a:prstGeom prst="rect">
            <a:avLst/>
          </a:prstGeom>
          <a:solidFill>
            <a:srgbClr val="FFFFFF"/>
          </a:solidFill>
          <a:ln w="9525">
            <a:solidFill>
              <a:srgbClr val="CFE3E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2926080" y="2066544"/>
            <a:ext cx="23774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CEO, Client, SHs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394960" y="2066544"/>
            <a:ext cx="1417320" cy="603504"/>
          </a:xfrm>
          <a:prstGeom prst="rect">
            <a:avLst/>
          </a:prstGeom>
          <a:solidFill>
            <a:srgbClr val="FFFFFF"/>
          </a:solidFill>
          <a:ln w="9525">
            <a:solidFill>
              <a:srgbClr val="CFE3E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532120" y="2066544"/>
            <a:ext cx="11887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time-box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812280" y="2066544"/>
            <a:ext cx="4919472" cy="603504"/>
          </a:xfrm>
          <a:prstGeom prst="rect">
            <a:avLst/>
          </a:prstGeom>
          <a:solidFill>
            <a:srgbClr val="FFFFFF"/>
          </a:solidFill>
          <a:ln w="9525">
            <a:solidFill>
              <a:srgbClr val="CFE3EF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949440" y="2066544"/>
            <a:ext cx="469087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the PO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57200" y="2670048"/>
            <a:ext cx="2331720" cy="603504"/>
          </a:xfrm>
          <a:prstGeom prst="rect">
            <a:avLst/>
          </a:prstGeom>
          <a:solidFill>
            <a:srgbClr val="EAF2F8"/>
          </a:solidFill>
          <a:ln w="9525">
            <a:solidFill>
              <a:srgbClr val="CFE3EF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94360" y="2670048"/>
            <a:ext cx="21031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0B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PBL Grooming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2788920" y="2670048"/>
            <a:ext cx="2606040" cy="603504"/>
          </a:xfrm>
          <a:prstGeom prst="rect">
            <a:avLst/>
          </a:prstGeom>
          <a:solidFill>
            <a:srgbClr val="EAF2F8"/>
          </a:solidFill>
          <a:ln w="9525">
            <a:solidFill>
              <a:srgbClr val="CFE3EF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2926080" y="2670048"/>
            <a:ext cx="23774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PO, Client, SHs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394960" y="2670048"/>
            <a:ext cx="1417320" cy="603504"/>
          </a:xfrm>
          <a:prstGeom prst="rect">
            <a:avLst/>
          </a:prstGeom>
          <a:solidFill>
            <a:srgbClr val="EAF2F8"/>
          </a:solidFill>
          <a:ln w="9525">
            <a:solidFill>
              <a:srgbClr val="CFE3EF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5532120" y="2670048"/>
            <a:ext cx="11887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time-box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6812280" y="2670048"/>
            <a:ext cx="4919472" cy="603504"/>
          </a:xfrm>
          <a:prstGeom prst="rect">
            <a:avLst/>
          </a:prstGeom>
          <a:solidFill>
            <a:srgbClr val="EAF2F8"/>
          </a:solidFill>
          <a:ln w="9525">
            <a:solidFill>
              <a:srgbClr val="CFE3EF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949440" y="2670048"/>
            <a:ext cx="469087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Gather all requirements as user stories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457200" y="3273552"/>
            <a:ext cx="2331720" cy="603504"/>
          </a:xfrm>
          <a:prstGeom prst="rect">
            <a:avLst/>
          </a:prstGeom>
          <a:solidFill>
            <a:srgbClr val="FFFFFF"/>
          </a:solidFill>
          <a:ln w="9525">
            <a:solidFill>
              <a:srgbClr val="CFE3EF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594360" y="3273552"/>
            <a:ext cx="21031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0B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Planning (SPM)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2788920" y="3273552"/>
            <a:ext cx="2606040" cy="603504"/>
          </a:xfrm>
          <a:prstGeom prst="rect">
            <a:avLst/>
          </a:prstGeom>
          <a:solidFill>
            <a:srgbClr val="FFFFFF"/>
          </a:solidFill>
          <a:ln w="9525">
            <a:solidFill>
              <a:srgbClr val="CFE3EF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2926080" y="3273552"/>
            <a:ext cx="23774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PO, SHs, SM, ST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5394960" y="3273552"/>
            <a:ext cx="1417320" cy="603504"/>
          </a:xfrm>
          <a:prstGeom prst="rect">
            <a:avLst/>
          </a:prstGeom>
          <a:solidFill>
            <a:srgbClr val="FFFFFF"/>
          </a:solidFill>
          <a:ln w="9525">
            <a:solidFill>
              <a:srgbClr val="CFE3EF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5532120" y="3273552"/>
            <a:ext cx="11887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2–3 hours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6812280" y="3273552"/>
            <a:ext cx="4919472" cy="603504"/>
          </a:xfrm>
          <a:prstGeom prst="rect">
            <a:avLst/>
          </a:prstGeom>
          <a:solidFill>
            <a:srgbClr val="FFFFFF"/>
          </a:solidFill>
          <a:ln w="9525">
            <a:solidFill>
              <a:srgbClr val="CFE3EF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6949440" y="3273552"/>
            <a:ext cx="469087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some user stories for the sprint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457200" y="3877056"/>
            <a:ext cx="2331720" cy="603504"/>
          </a:xfrm>
          <a:prstGeom prst="rect">
            <a:avLst/>
          </a:prstGeom>
          <a:solidFill>
            <a:srgbClr val="EAF2F8"/>
          </a:solidFill>
          <a:ln w="9525">
            <a:solidFill>
              <a:srgbClr val="CFE3EF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594360" y="3877056"/>
            <a:ext cx="21031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0B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Scrum</a:t>
            </a:r>
            <a:endParaRPr lang="en-US" sz="1150" dirty="0"/>
          </a:p>
        </p:txBody>
      </p:sp>
      <p:sp>
        <p:nvSpPr>
          <p:cNvPr id="38" name="Shape 36"/>
          <p:cNvSpPr/>
          <p:nvPr/>
        </p:nvSpPr>
        <p:spPr>
          <a:xfrm>
            <a:off x="2788920" y="3877056"/>
            <a:ext cx="2606040" cy="603504"/>
          </a:xfrm>
          <a:prstGeom prst="rect">
            <a:avLst/>
          </a:prstGeom>
          <a:solidFill>
            <a:srgbClr val="EAF2F8"/>
          </a:solidFill>
          <a:ln w="9525">
            <a:solidFill>
              <a:srgbClr val="CFE3EF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2926080" y="3877056"/>
            <a:ext cx="23774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PO, SM, ST, SHs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5394960" y="3877056"/>
            <a:ext cx="1417320" cy="603504"/>
          </a:xfrm>
          <a:prstGeom prst="rect">
            <a:avLst/>
          </a:prstGeom>
          <a:solidFill>
            <a:srgbClr val="EAF2F8"/>
          </a:solidFill>
          <a:ln w="9525">
            <a:solidFill>
              <a:srgbClr val="CFE3EF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5532120" y="3877056"/>
            <a:ext cx="11887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minutes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6812280" y="3877056"/>
            <a:ext cx="4919472" cy="603504"/>
          </a:xfrm>
          <a:prstGeom prst="rect">
            <a:avLst/>
          </a:prstGeom>
          <a:solidFill>
            <a:srgbClr val="EAF2F8"/>
          </a:solidFill>
          <a:ln w="9525">
            <a:solidFill>
              <a:srgbClr val="CFE3EF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6949440" y="3877056"/>
            <a:ext cx="469087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 problems — not to solve them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457200" y="4480560"/>
            <a:ext cx="2331720" cy="603504"/>
          </a:xfrm>
          <a:prstGeom prst="rect">
            <a:avLst/>
          </a:prstGeom>
          <a:solidFill>
            <a:srgbClr val="FFFFFF"/>
          </a:solidFill>
          <a:ln w="9525">
            <a:solidFill>
              <a:srgbClr val="CFE3EF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594360" y="4480560"/>
            <a:ext cx="21031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0B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Review</a:t>
            </a:r>
            <a:endParaRPr lang="en-US" sz="1150" dirty="0"/>
          </a:p>
        </p:txBody>
      </p:sp>
      <p:sp>
        <p:nvSpPr>
          <p:cNvPr id="46" name="Shape 44"/>
          <p:cNvSpPr/>
          <p:nvPr/>
        </p:nvSpPr>
        <p:spPr>
          <a:xfrm>
            <a:off x="2788920" y="4480560"/>
            <a:ext cx="2606040" cy="603504"/>
          </a:xfrm>
          <a:prstGeom prst="rect">
            <a:avLst/>
          </a:prstGeom>
          <a:solidFill>
            <a:srgbClr val="FFFFFF"/>
          </a:solidFill>
          <a:ln w="9525">
            <a:solidFill>
              <a:srgbClr val="CFE3EF"/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2926080" y="4480560"/>
            <a:ext cx="23774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Client, SHs, PO, SM, ST</a:t>
            </a:r>
            <a:endParaRPr lang="en-US" sz="1050" dirty="0"/>
          </a:p>
        </p:txBody>
      </p:sp>
      <p:sp>
        <p:nvSpPr>
          <p:cNvPr id="48" name="Shape 46"/>
          <p:cNvSpPr/>
          <p:nvPr/>
        </p:nvSpPr>
        <p:spPr>
          <a:xfrm>
            <a:off x="5394960" y="4480560"/>
            <a:ext cx="1417320" cy="603504"/>
          </a:xfrm>
          <a:prstGeom prst="rect">
            <a:avLst/>
          </a:prstGeom>
          <a:solidFill>
            <a:srgbClr val="FFFFFF"/>
          </a:solidFill>
          <a:ln w="9525">
            <a:solidFill>
              <a:srgbClr val="CFE3EF"/>
            </a:solidFill>
            <a:prstDash val="solid"/>
          </a:ln>
        </p:spPr>
      </p:sp>
      <p:sp>
        <p:nvSpPr>
          <p:cNvPr id="49" name="Text 47"/>
          <p:cNvSpPr txBox="1"/>
          <p:nvPr/>
        </p:nvSpPr>
        <p:spPr>
          <a:xfrm>
            <a:off x="5532120" y="4480560"/>
            <a:ext cx="11887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hours</a:t>
            </a:r>
            <a:endParaRPr lang="en-US" sz="1050" dirty="0"/>
          </a:p>
        </p:txBody>
      </p:sp>
      <p:sp>
        <p:nvSpPr>
          <p:cNvPr id="50" name="Shape 48"/>
          <p:cNvSpPr/>
          <p:nvPr/>
        </p:nvSpPr>
        <p:spPr>
          <a:xfrm>
            <a:off x="6812280" y="4480560"/>
            <a:ext cx="4919472" cy="603504"/>
          </a:xfrm>
          <a:prstGeom prst="rect">
            <a:avLst/>
          </a:prstGeom>
          <a:solidFill>
            <a:srgbClr val="FFFFFF"/>
          </a:solidFill>
          <a:ln w="9525">
            <a:solidFill>
              <a:srgbClr val="CFE3EF"/>
            </a:solidFill>
            <a:prstDash val="solid"/>
          </a:ln>
        </p:spPr>
      </p:sp>
      <p:sp>
        <p:nvSpPr>
          <p:cNvPr id="51" name="Text 49"/>
          <p:cNvSpPr txBox="1"/>
          <p:nvPr/>
        </p:nvSpPr>
        <p:spPr>
          <a:xfrm>
            <a:off x="6949440" y="4480560"/>
            <a:ext cx="469087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demo to client for feedback</a:t>
            </a:r>
            <a:endParaRPr lang="en-US" sz="1050" dirty="0"/>
          </a:p>
        </p:txBody>
      </p:sp>
      <p:sp>
        <p:nvSpPr>
          <p:cNvPr id="52" name="Shape 50"/>
          <p:cNvSpPr/>
          <p:nvPr/>
        </p:nvSpPr>
        <p:spPr>
          <a:xfrm>
            <a:off x="457200" y="5084064"/>
            <a:ext cx="2331720" cy="603504"/>
          </a:xfrm>
          <a:prstGeom prst="rect">
            <a:avLst/>
          </a:prstGeom>
          <a:solidFill>
            <a:srgbClr val="EAF2F8"/>
          </a:solidFill>
          <a:ln w="9525">
            <a:solidFill>
              <a:srgbClr val="CFE3EF"/>
            </a:solidFill>
            <a:prstDash val="solid"/>
          </a:ln>
        </p:spPr>
      </p:sp>
      <p:sp>
        <p:nvSpPr>
          <p:cNvPr id="53" name="Text 51"/>
          <p:cNvSpPr txBox="1"/>
          <p:nvPr/>
        </p:nvSpPr>
        <p:spPr>
          <a:xfrm>
            <a:off x="594360" y="5084064"/>
            <a:ext cx="21031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0B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Retrospective</a:t>
            </a:r>
            <a:endParaRPr lang="en-US" sz="1150" dirty="0"/>
          </a:p>
        </p:txBody>
      </p:sp>
      <p:sp>
        <p:nvSpPr>
          <p:cNvPr id="54" name="Shape 52"/>
          <p:cNvSpPr/>
          <p:nvPr/>
        </p:nvSpPr>
        <p:spPr>
          <a:xfrm>
            <a:off x="2788920" y="5084064"/>
            <a:ext cx="2606040" cy="603504"/>
          </a:xfrm>
          <a:prstGeom prst="rect">
            <a:avLst/>
          </a:prstGeom>
          <a:solidFill>
            <a:srgbClr val="EAF2F8"/>
          </a:solidFill>
          <a:ln w="9525">
            <a:solidFill>
              <a:srgbClr val="CFE3EF"/>
            </a:solidFill>
            <a:prstDash val="solid"/>
          </a:ln>
        </p:spPr>
      </p:sp>
      <p:sp>
        <p:nvSpPr>
          <p:cNvPr id="55" name="Text 53"/>
          <p:cNvSpPr txBox="1"/>
          <p:nvPr/>
        </p:nvSpPr>
        <p:spPr>
          <a:xfrm>
            <a:off x="2926080" y="5084064"/>
            <a:ext cx="23774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 &amp; ST</a:t>
            </a:r>
            <a:endParaRPr lang="en-US" sz="1050" dirty="0"/>
          </a:p>
        </p:txBody>
      </p:sp>
      <p:sp>
        <p:nvSpPr>
          <p:cNvPr id="56" name="Shape 54"/>
          <p:cNvSpPr/>
          <p:nvPr/>
        </p:nvSpPr>
        <p:spPr>
          <a:xfrm>
            <a:off x="5394960" y="5084064"/>
            <a:ext cx="1417320" cy="603504"/>
          </a:xfrm>
          <a:prstGeom prst="rect">
            <a:avLst/>
          </a:prstGeom>
          <a:solidFill>
            <a:srgbClr val="EAF2F8"/>
          </a:solidFill>
          <a:ln w="9525">
            <a:solidFill>
              <a:srgbClr val="CFE3EF"/>
            </a:solidFill>
            <a:prstDash val="solid"/>
          </a:ln>
        </p:spPr>
      </p:sp>
      <p:sp>
        <p:nvSpPr>
          <p:cNvPr id="57" name="Text 55"/>
          <p:cNvSpPr txBox="1"/>
          <p:nvPr/>
        </p:nvSpPr>
        <p:spPr>
          <a:xfrm>
            <a:off x="5532120" y="5084064"/>
            <a:ext cx="11887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hours</a:t>
            </a:r>
            <a:endParaRPr lang="en-US" sz="1050" dirty="0"/>
          </a:p>
        </p:txBody>
      </p:sp>
      <p:sp>
        <p:nvSpPr>
          <p:cNvPr id="58" name="Shape 56"/>
          <p:cNvSpPr/>
          <p:nvPr/>
        </p:nvSpPr>
        <p:spPr>
          <a:xfrm>
            <a:off x="6812280" y="5084064"/>
            <a:ext cx="4919472" cy="603504"/>
          </a:xfrm>
          <a:prstGeom prst="rect">
            <a:avLst/>
          </a:prstGeom>
          <a:solidFill>
            <a:srgbClr val="EAF2F8"/>
          </a:solidFill>
          <a:ln w="9525">
            <a:solidFill>
              <a:srgbClr val="CFE3EF"/>
            </a:solidFill>
            <a:prstDash val="solid"/>
          </a:ln>
        </p:spPr>
      </p:sp>
      <p:sp>
        <p:nvSpPr>
          <p:cNvPr id="59" name="Text 57"/>
          <p:cNvSpPr txBox="1"/>
          <p:nvPr/>
        </p:nvSpPr>
        <p:spPr>
          <a:xfrm>
            <a:off x="6949440" y="5084064"/>
            <a:ext cx="469087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Solve team-level issues; prep next sprint</a:t>
            </a:r>
            <a:endParaRPr lang="en-US" sz="1050" dirty="0"/>
          </a:p>
        </p:txBody>
      </p:sp>
      <p:sp>
        <p:nvSpPr>
          <p:cNvPr id="60" name="Shape 58"/>
          <p:cNvSpPr/>
          <p:nvPr/>
        </p:nvSpPr>
        <p:spPr>
          <a:xfrm>
            <a:off x="457200" y="5687568"/>
            <a:ext cx="2331720" cy="603504"/>
          </a:xfrm>
          <a:prstGeom prst="rect">
            <a:avLst/>
          </a:prstGeom>
          <a:solidFill>
            <a:srgbClr val="FFFFFF"/>
          </a:solidFill>
          <a:ln w="9525">
            <a:solidFill>
              <a:srgbClr val="CFE3EF"/>
            </a:solidFill>
            <a:prstDash val="solid"/>
          </a:ln>
        </p:spPr>
      </p:sp>
      <p:sp>
        <p:nvSpPr>
          <p:cNvPr id="61" name="Text 59"/>
          <p:cNvSpPr txBox="1"/>
          <p:nvPr/>
        </p:nvSpPr>
        <p:spPr>
          <a:xfrm>
            <a:off x="594360" y="5687568"/>
            <a:ext cx="21031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0B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PBL Refinement</a:t>
            </a:r>
            <a:endParaRPr lang="en-US" sz="1150" dirty="0"/>
          </a:p>
        </p:txBody>
      </p:sp>
      <p:sp>
        <p:nvSpPr>
          <p:cNvPr id="62" name="Shape 60"/>
          <p:cNvSpPr/>
          <p:nvPr/>
        </p:nvSpPr>
        <p:spPr>
          <a:xfrm>
            <a:off x="2788920" y="5687568"/>
            <a:ext cx="2606040" cy="603504"/>
          </a:xfrm>
          <a:prstGeom prst="rect">
            <a:avLst/>
          </a:prstGeom>
          <a:solidFill>
            <a:srgbClr val="FFFFFF"/>
          </a:solidFill>
          <a:ln w="9525">
            <a:solidFill>
              <a:srgbClr val="CFE3EF"/>
            </a:solidFill>
            <a:prstDash val="solid"/>
          </a:ln>
        </p:spPr>
      </p:sp>
      <p:sp>
        <p:nvSpPr>
          <p:cNvPr id="63" name="Text 61"/>
          <p:cNvSpPr txBox="1"/>
          <p:nvPr/>
        </p:nvSpPr>
        <p:spPr>
          <a:xfrm>
            <a:off x="2926080" y="5687568"/>
            <a:ext cx="23774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Client, PO, SHs, SM, ST</a:t>
            </a:r>
            <a:endParaRPr lang="en-US" sz="1050" dirty="0"/>
          </a:p>
        </p:txBody>
      </p:sp>
      <p:sp>
        <p:nvSpPr>
          <p:cNvPr id="64" name="Shape 62"/>
          <p:cNvSpPr/>
          <p:nvPr/>
        </p:nvSpPr>
        <p:spPr>
          <a:xfrm>
            <a:off x="5394960" y="5687568"/>
            <a:ext cx="1417320" cy="603504"/>
          </a:xfrm>
          <a:prstGeom prst="rect">
            <a:avLst/>
          </a:prstGeom>
          <a:solidFill>
            <a:srgbClr val="FFFFFF"/>
          </a:solidFill>
          <a:ln w="9525">
            <a:solidFill>
              <a:srgbClr val="CFE3EF"/>
            </a:solidFill>
            <a:prstDash val="solid"/>
          </a:ln>
        </p:spPr>
      </p:sp>
      <p:sp>
        <p:nvSpPr>
          <p:cNvPr id="65" name="Text 63"/>
          <p:cNvSpPr txBox="1"/>
          <p:nvPr/>
        </p:nvSpPr>
        <p:spPr>
          <a:xfrm>
            <a:off x="5532120" y="5687568"/>
            <a:ext cx="11887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hours</a:t>
            </a:r>
            <a:endParaRPr lang="en-US" sz="1050" dirty="0"/>
          </a:p>
        </p:txBody>
      </p:sp>
      <p:sp>
        <p:nvSpPr>
          <p:cNvPr id="66" name="Shape 64"/>
          <p:cNvSpPr/>
          <p:nvPr/>
        </p:nvSpPr>
        <p:spPr>
          <a:xfrm>
            <a:off x="6812280" y="5687568"/>
            <a:ext cx="4919472" cy="603504"/>
          </a:xfrm>
          <a:prstGeom prst="rect">
            <a:avLst/>
          </a:prstGeom>
          <a:solidFill>
            <a:srgbClr val="FFFFFF"/>
          </a:solidFill>
          <a:ln w="9525">
            <a:solidFill>
              <a:srgbClr val="CFE3EF"/>
            </a:solidFill>
            <a:prstDash val="solid"/>
          </a:ln>
        </p:spPr>
      </p:sp>
      <p:sp>
        <p:nvSpPr>
          <p:cNvPr id="67" name="Text 65"/>
          <p:cNvSpPr txBox="1"/>
          <p:nvPr/>
        </p:nvSpPr>
        <p:spPr>
          <a:xfrm>
            <a:off x="6949440" y="5687568"/>
            <a:ext cx="469087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user stories in the PBL</a:t>
            </a:r>
            <a:endParaRPr lang="en-US" sz="1050" dirty="0"/>
          </a:p>
        </p:txBody>
      </p:sp>
      <p:sp>
        <p:nvSpPr>
          <p:cNvPr id="68" name="Text 66"/>
          <p:cNvSpPr txBox="1"/>
          <p:nvPr/>
        </p:nvSpPr>
        <p:spPr>
          <a:xfrm>
            <a:off x="457200" y="6547104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FA9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Testing  ·  Unit 2</a:t>
            </a:r>
            <a:endParaRPr lang="en-US" sz="900" dirty="0"/>
          </a:p>
        </p:txBody>
      </p:sp>
      <p:sp>
        <p:nvSpPr>
          <p:cNvPr id="69" name="Text 67"/>
          <p:cNvSpPr txBox="1"/>
          <p:nvPr/>
        </p:nvSpPr>
        <p:spPr>
          <a:xfrm>
            <a:off x="11277295" y="6547104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FA9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5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2A0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ARTIFACTS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76072"/>
            <a:ext cx="9601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2E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Documents &amp; Deliverables in Agile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078992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C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Artifacts = the “Documents” component of Scrum — every artifact belongs to a specific role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554480"/>
            <a:ext cx="2724912" cy="4709160"/>
          </a:xfrm>
          <a:prstGeom prst="roundRect">
            <a:avLst>
              <a:gd name="adj" fmla="val 3020"/>
            </a:avLst>
          </a:prstGeom>
          <a:solidFill>
            <a:srgbClr val="FFFFFF"/>
          </a:solidFill>
          <a:ln w="12700">
            <a:solidFill>
              <a:srgbClr val="CFE3EF"/>
            </a:solidFill>
            <a:prstDash val="solid"/>
          </a:ln>
          <a:effectLst>
            <a:outerShdw blurRad="63500" dist="25400" dir="5400000" algn="bl" rotWithShape="0">
              <a:srgbClr val="9DB6C9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554480"/>
            <a:ext cx="2724912" cy="914400"/>
          </a:xfrm>
          <a:prstGeom prst="roundRect">
            <a:avLst>
              <a:gd name="adj" fmla="val 9000"/>
            </a:avLst>
          </a:prstGeom>
          <a:solidFill>
            <a:srgbClr val="0E3B63"/>
          </a:solidFill>
          <a:ln/>
        </p:spPr>
      </p:sp>
      <p:sp>
        <p:nvSpPr>
          <p:cNvPr id="7" name="Shape 5"/>
          <p:cNvSpPr/>
          <p:nvPr/>
        </p:nvSpPr>
        <p:spPr>
          <a:xfrm>
            <a:off x="457200" y="2011680"/>
            <a:ext cx="2724912" cy="457200"/>
          </a:xfrm>
          <a:prstGeom prst="rect">
            <a:avLst/>
          </a:prstGeom>
          <a:solidFill>
            <a:srgbClr val="0E3B63"/>
          </a:solidFill>
          <a:ln/>
        </p:spPr>
      </p:sp>
      <p:sp>
        <p:nvSpPr>
          <p:cNvPr id="8" name="Shape 6"/>
          <p:cNvSpPr/>
          <p:nvPr/>
        </p:nvSpPr>
        <p:spPr>
          <a:xfrm>
            <a:off x="1545336" y="1664208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9" name="Image 0" descr="/home/claude/icons/crow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64208" y="1783080"/>
            <a:ext cx="310896" cy="310896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548640" y="2212848"/>
            <a:ext cx="25420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Product Owner</a:t>
            </a:r>
            <a:endParaRPr lang="en-US" sz="1150" dirty="0"/>
          </a:p>
        </p:txBody>
      </p:sp>
      <p:sp>
        <p:nvSpPr>
          <p:cNvPr id="11" name="Text 8"/>
          <p:cNvSpPr txBox="1"/>
          <p:nvPr/>
        </p:nvSpPr>
        <p:spPr>
          <a:xfrm>
            <a:off x="640080" y="2651760"/>
            <a:ext cx="2359152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Product Backlog — PBL (all user stories)</a:t>
            </a:r>
            <a:endParaRPr lang="en-US" sz="1050" dirty="0"/>
          </a:p>
          <a:p>
            <a:pPr marL="0" indent="0">
              <a:lnSpc>
                <a:spcPct val="115000"/>
              </a:lnSpc>
              <a:buNone/>
            </a:pPr>
            <a:endParaRPr lang="en-US" sz="10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Sprint Backlog — SBL (some user stories)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3319272" y="1554480"/>
            <a:ext cx="2724912" cy="4709160"/>
          </a:xfrm>
          <a:prstGeom prst="roundRect">
            <a:avLst>
              <a:gd name="adj" fmla="val 3020"/>
            </a:avLst>
          </a:prstGeom>
          <a:solidFill>
            <a:srgbClr val="FFFFFF"/>
          </a:solidFill>
          <a:ln w="12700">
            <a:solidFill>
              <a:srgbClr val="CFE3EF"/>
            </a:solidFill>
            <a:prstDash val="solid"/>
          </a:ln>
          <a:effectLst>
            <a:outerShdw blurRad="63500" dist="25400" dir="5400000" algn="bl" rotWithShape="0">
              <a:srgbClr val="9DB6C9">
                <a:alpha val="25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3319272" y="1554480"/>
            <a:ext cx="2724912" cy="914400"/>
          </a:xfrm>
          <a:prstGeom prst="roundRect">
            <a:avLst>
              <a:gd name="adj" fmla="val 9000"/>
            </a:avLst>
          </a:prstGeom>
          <a:solidFill>
            <a:srgbClr val="1C7293"/>
          </a:solidFill>
          <a:ln/>
        </p:spPr>
      </p:sp>
      <p:sp>
        <p:nvSpPr>
          <p:cNvPr id="14" name="Shape 11"/>
          <p:cNvSpPr/>
          <p:nvPr/>
        </p:nvSpPr>
        <p:spPr>
          <a:xfrm>
            <a:off x="3319272" y="2011680"/>
            <a:ext cx="2724912" cy="4572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5" name="Shape 12"/>
          <p:cNvSpPr/>
          <p:nvPr/>
        </p:nvSpPr>
        <p:spPr>
          <a:xfrm>
            <a:off x="4407408" y="1664208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6" name="Image 1" descr="/home/claude/icons/peopleGrou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26280" y="1783080"/>
            <a:ext cx="310896" cy="310896"/>
          </a:xfrm>
          <a:prstGeom prst="rect">
            <a:avLst/>
          </a:prstGeom>
        </p:spPr>
      </p:pic>
      <p:sp>
        <p:nvSpPr>
          <p:cNvPr id="17" name="Text 13"/>
          <p:cNvSpPr txBox="1"/>
          <p:nvPr/>
        </p:nvSpPr>
        <p:spPr>
          <a:xfrm>
            <a:off x="3410712" y="2212848"/>
            <a:ext cx="25420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Scrum Team (Developers)</a:t>
            </a:r>
            <a:endParaRPr lang="en-US" sz="1150" dirty="0"/>
          </a:p>
        </p:txBody>
      </p:sp>
      <p:sp>
        <p:nvSpPr>
          <p:cNvPr id="18" name="Text 14"/>
          <p:cNvSpPr txBox="1"/>
          <p:nvPr/>
        </p:nvSpPr>
        <p:spPr>
          <a:xfrm>
            <a:off x="3502152" y="2651760"/>
            <a:ext cx="2359152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HLD &amp; LLDs</a:t>
            </a:r>
            <a:endParaRPr lang="en-US" sz="1050" dirty="0"/>
          </a:p>
          <a:p>
            <a:pPr marL="0" indent="0">
              <a:lnSpc>
                <a:spcPct val="115000"/>
              </a:lnSpc>
              <a:buNone/>
            </a:pPr>
            <a:endParaRPr lang="en-US" sz="10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Code (programs), Unit test cases</a:t>
            </a:r>
            <a:endParaRPr lang="en-US" sz="1050" dirty="0"/>
          </a:p>
          <a:p>
            <a:pPr marL="0" indent="0">
              <a:lnSpc>
                <a:spcPct val="115000"/>
              </a:lnSpc>
              <a:buNone/>
            </a:pPr>
            <a:endParaRPr lang="en-US" sz="1050" dirty="0"/>
          </a:p>
          <a:p>
            <a:pPr marL="0" indent="0">
              <a:lnSpc>
                <a:spcPct val="115000"/>
              </a:lnSpc>
              <a:buNone/>
            </a:pPr>
            <a:endParaRPr lang="en-US" sz="10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Integration programs, Integration test cases</a:t>
            </a:r>
            <a:endParaRPr lang="en-US" sz="1050" dirty="0"/>
          </a:p>
        </p:txBody>
      </p:sp>
      <p:sp>
        <p:nvSpPr>
          <p:cNvPr id="19" name="Shape 15"/>
          <p:cNvSpPr/>
          <p:nvPr/>
        </p:nvSpPr>
        <p:spPr>
          <a:xfrm>
            <a:off x="6181344" y="1554480"/>
            <a:ext cx="2724912" cy="4709160"/>
          </a:xfrm>
          <a:prstGeom prst="roundRect">
            <a:avLst>
              <a:gd name="adj" fmla="val 3020"/>
            </a:avLst>
          </a:prstGeom>
          <a:solidFill>
            <a:srgbClr val="FFFFFF"/>
          </a:solidFill>
          <a:ln w="12700">
            <a:solidFill>
              <a:srgbClr val="CFE3EF"/>
            </a:solidFill>
            <a:prstDash val="solid"/>
          </a:ln>
          <a:effectLst>
            <a:outerShdw blurRad="63500" dist="25400" dir="5400000" algn="bl" rotWithShape="0">
              <a:srgbClr val="9DB6C9">
                <a:alpha val="25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6181344" y="1554480"/>
            <a:ext cx="2724912" cy="914400"/>
          </a:xfrm>
          <a:prstGeom prst="roundRect">
            <a:avLst>
              <a:gd name="adj" fmla="val 9000"/>
            </a:avLst>
          </a:prstGeom>
          <a:solidFill>
            <a:srgbClr val="1C7293"/>
          </a:solidFill>
          <a:ln/>
        </p:spPr>
      </p:sp>
      <p:sp>
        <p:nvSpPr>
          <p:cNvPr id="21" name="Shape 17"/>
          <p:cNvSpPr/>
          <p:nvPr/>
        </p:nvSpPr>
        <p:spPr>
          <a:xfrm>
            <a:off x="6181344" y="2011680"/>
            <a:ext cx="2724912" cy="4572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22" name="Shape 18"/>
          <p:cNvSpPr/>
          <p:nvPr/>
        </p:nvSpPr>
        <p:spPr>
          <a:xfrm>
            <a:off x="7269480" y="1664208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3" name="Image 2" descr="/home/claude/icons/bug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88352" y="1783080"/>
            <a:ext cx="310896" cy="310896"/>
          </a:xfrm>
          <a:prstGeom prst="rect">
            <a:avLst/>
          </a:prstGeom>
        </p:spPr>
      </p:pic>
      <p:sp>
        <p:nvSpPr>
          <p:cNvPr id="24" name="Text 19"/>
          <p:cNvSpPr txBox="1"/>
          <p:nvPr/>
        </p:nvSpPr>
        <p:spPr>
          <a:xfrm>
            <a:off x="6272784" y="2212848"/>
            <a:ext cx="25420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Scrum Team (Testers)</a:t>
            </a:r>
            <a:endParaRPr lang="en-US" sz="1150" dirty="0"/>
          </a:p>
        </p:txBody>
      </p:sp>
      <p:sp>
        <p:nvSpPr>
          <p:cNvPr id="25" name="Text 20"/>
          <p:cNvSpPr txBox="1"/>
          <p:nvPr/>
        </p:nvSpPr>
        <p:spPr>
          <a:xfrm>
            <a:off x="6364224" y="2651760"/>
            <a:ext cx="2359152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Sprint test scenarios, Test cases</a:t>
            </a:r>
            <a:endParaRPr lang="en-US" sz="1050" dirty="0"/>
          </a:p>
          <a:p>
            <a:pPr marL="0" indent="0">
              <a:lnSpc>
                <a:spcPct val="115000"/>
              </a:lnSpc>
              <a:buNone/>
            </a:pPr>
            <a:endParaRPr lang="en-US" sz="10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Automation test scripts</a:t>
            </a:r>
            <a:endParaRPr lang="en-US" sz="1050" dirty="0"/>
          </a:p>
          <a:p>
            <a:pPr marL="0" indent="0">
              <a:lnSpc>
                <a:spcPct val="115000"/>
              </a:lnSpc>
              <a:buNone/>
            </a:pPr>
            <a:endParaRPr lang="en-US" sz="1050" dirty="0"/>
          </a:p>
          <a:p>
            <a:pPr marL="0" indent="0">
              <a:lnSpc>
                <a:spcPct val="115000"/>
              </a:lnSpc>
              <a:buNone/>
            </a:pPr>
            <a:endParaRPr lang="en-US" sz="10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Defect reports &amp; test logs</a:t>
            </a:r>
            <a:endParaRPr lang="en-US" sz="1050" dirty="0"/>
          </a:p>
        </p:txBody>
      </p:sp>
      <p:sp>
        <p:nvSpPr>
          <p:cNvPr id="26" name="Shape 21"/>
          <p:cNvSpPr/>
          <p:nvPr/>
        </p:nvSpPr>
        <p:spPr>
          <a:xfrm>
            <a:off x="9043416" y="1554480"/>
            <a:ext cx="2724912" cy="4709160"/>
          </a:xfrm>
          <a:prstGeom prst="roundRect">
            <a:avLst>
              <a:gd name="adj" fmla="val 3020"/>
            </a:avLst>
          </a:prstGeom>
          <a:solidFill>
            <a:srgbClr val="FFFFFF"/>
          </a:solidFill>
          <a:ln w="12700">
            <a:solidFill>
              <a:srgbClr val="CFE3EF"/>
            </a:solidFill>
            <a:prstDash val="solid"/>
          </a:ln>
          <a:effectLst>
            <a:outerShdw blurRad="63500" dist="25400" dir="5400000" algn="bl" rotWithShape="0">
              <a:srgbClr val="9DB6C9">
                <a:alpha val="25000"/>
              </a:srgbClr>
            </a:outerShdw>
          </a:effectLst>
        </p:spPr>
      </p:sp>
      <p:sp>
        <p:nvSpPr>
          <p:cNvPr id="27" name="Shape 22"/>
          <p:cNvSpPr/>
          <p:nvPr/>
        </p:nvSpPr>
        <p:spPr>
          <a:xfrm>
            <a:off x="9043416" y="1554480"/>
            <a:ext cx="2724912" cy="914400"/>
          </a:xfrm>
          <a:prstGeom prst="roundRect">
            <a:avLst>
              <a:gd name="adj" fmla="val 9000"/>
            </a:avLst>
          </a:prstGeom>
          <a:solidFill>
            <a:srgbClr val="F2A007"/>
          </a:solidFill>
          <a:ln/>
        </p:spPr>
      </p:sp>
      <p:sp>
        <p:nvSpPr>
          <p:cNvPr id="28" name="Shape 23"/>
          <p:cNvSpPr/>
          <p:nvPr/>
        </p:nvSpPr>
        <p:spPr>
          <a:xfrm>
            <a:off x="9043416" y="2011680"/>
            <a:ext cx="2724912" cy="457200"/>
          </a:xfrm>
          <a:prstGeom prst="rect">
            <a:avLst/>
          </a:prstGeom>
          <a:solidFill>
            <a:srgbClr val="F2A007"/>
          </a:solidFill>
          <a:ln/>
        </p:spPr>
      </p:sp>
      <p:sp>
        <p:nvSpPr>
          <p:cNvPr id="29" name="Shape 24"/>
          <p:cNvSpPr/>
          <p:nvPr/>
        </p:nvSpPr>
        <p:spPr>
          <a:xfrm>
            <a:off x="10131552" y="1664208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30" name="Image 3" descr="/home/claude/icons/shieldHalv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250424" y="1783080"/>
            <a:ext cx="310896" cy="310896"/>
          </a:xfrm>
          <a:prstGeom prst="rect">
            <a:avLst/>
          </a:prstGeom>
        </p:spPr>
      </p:pic>
      <p:sp>
        <p:nvSpPr>
          <p:cNvPr id="31" name="Text 25"/>
          <p:cNvSpPr txBox="1"/>
          <p:nvPr/>
        </p:nvSpPr>
        <p:spPr>
          <a:xfrm>
            <a:off x="9134856" y="2212848"/>
            <a:ext cx="25420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Scrum Master</a:t>
            </a:r>
            <a:endParaRPr lang="en-US" sz="1150" dirty="0"/>
          </a:p>
        </p:txBody>
      </p:sp>
      <p:sp>
        <p:nvSpPr>
          <p:cNvPr id="32" name="Text 26"/>
          <p:cNvSpPr txBox="1"/>
          <p:nvPr/>
        </p:nvSpPr>
        <p:spPr>
          <a:xfrm>
            <a:off x="9226296" y="2651760"/>
            <a:ext cx="2359152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Sprint Burndown chart</a:t>
            </a:r>
            <a:endParaRPr lang="en-US" sz="1050" dirty="0"/>
          </a:p>
          <a:p>
            <a:pPr marL="0" indent="0">
              <a:lnSpc>
                <a:spcPct val="115000"/>
              </a:lnSpc>
              <a:buNone/>
            </a:pPr>
            <a:endParaRPr lang="en-US" sz="10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Traceability Matrix</a:t>
            </a:r>
            <a:endParaRPr lang="en-US" sz="1050" dirty="0"/>
          </a:p>
        </p:txBody>
      </p:sp>
      <p:sp>
        <p:nvSpPr>
          <p:cNvPr id="33" name="Text 27"/>
          <p:cNvSpPr txBox="1"/>
          <p:nvPr/>
        </p:nvSpPr>
        <p:spPr>
          <a:xfrm>
            <a:off x="457200" y="6547104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FA9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Testing  ·  Unit 2</a:t>
            </a:r>
            <a:endParaRPr lang="en-US" sz="900" dirty="0"/>
          </a:p>
        </p:txBody>
      </p:sp>
      <p:sp>
        <p:nvSpPr>
          <p:cNvPr id="34" name="Text 28"/>
          <p:cNvSpPr txBox="1"/>
          <p:nvPr/>
        </p:nvSpPr>
        <p:spPr>
          <a:xfrm>
            <a:off x="11277295" y="6547104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FA9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5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2A0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ARTIFACTS · A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76072"/>
            <a:ext cx="9601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2E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Product Backlog (PBL) — User Story Format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078992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C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 can prepare all requirements as user stories, having every field below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508760"/>
            <a:ext cx="1005840" cy="457200"/>
          </a:xfrm>
          <a:prstGeom prst="rect">
            <a:avLst/>
          </a:prstGeom>
          <a:solidFill>
            <a:srgbClr val="0B2E4F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30352" y="1508760"/>
            <a:ext cx="8595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ID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1463040" y="1508760"/>
            <a:ext cx="1600200" cy="457200"/>
          </a:xfrm>
          <a:prstGeom prst="rect">
            <a:avLst/>
          </a:prstGeom>
          <a:solidFill>
            <a:srgbClr val="0B2E4F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536192" y="1508760"/>
            <a:ext cx="14538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 a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063240" y="1508760"/>
            <a:ext cx="3749040" cy="457200"/>
          </a:xfrm>
          <a:prstGeom prst="rect">
            <a:avLst/>
          </a:prstGeom>
          <a:solidFill>
            <a:srgbClr val="0B2E4F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136392" y="1508760"/>
            <a:ext cx="36027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 would like to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812280" y="1508760"/>
            <a:ext cx="3291840" cy="457200"/>
          </a:xfrm>
          <a:prstGeom prst="rect">
            <a:avLst/>
          </a:prstGeom>
          <a:solidFill>
            <a:srgbClr val="0B2E4F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885432" y="1508760"/>
            <a:ext cx="31455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 that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10104120" y="1508760"/>
            <a:ext cx="1627632" cy="457200"/>
          </a:xfrm>
          <a:prstGeom prst="rect">
            <a:avLst/>
          </a:prstGeom>
          <a:solidFill>
            <a:srgbClr val="0B2E4F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0177272" y="1508760"/>
            <a:ext cx="14813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Acceptance Criteria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1965960"/>
            <a:ext cx="1005840" cy="1920240"/>
          </a:xfrm>
          <a:prstGeom prst="rect">
            <a:avLst/>
          </a:prstGeom>
          <a:solidFill>
            <a:srgbClr val="EAF2F8"/>
          </a:solidFill>
          <a:ln w="9525">
            <a:solidFill>
              <a:srgbClr val="CFE3E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30352" y="2011680"/>
            <a:ext cx="859536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950" b="1" dirty="0">
                <a:solidFill>
                  <a:srgbClr val="0B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US-1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1463040" y="1965960"/>
            <a:ext cx="1600200" cy="1920240"/>
          </a:xfrm>
          <a:prstGeom prst="rect">
            <a:avLst/>
          </a:prstGeom>
          <a:solidFill>
            <a:srgbClr val="FFFFFF"/>
          </a:solidFill>
          <a:ln w="9525">
            <a:solidFill>
              <a:srgbClr val="CFE3E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1536192" y="2011680"/>
            <a:ext cx="1453896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95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(existing) registered user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3063240" y="1965960"/>
            <a:ext cx="3749040" cy="1920240"/>
          </a:xfrm>
          <a:prstGeom prst="rect">
            <a:avLst/>
          </a:prstGeom>
          <a:solidFill>
            <a:srgbClr val="EAF2F8"/>
          </a:solidFill>
          <a:ln w="9525">
            <a:solidFill>
              <a:srgbClr val="CFE3EF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3136392" y="2011680"/>
            <a:ext cx="3602736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95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site; enter user-id (alphanumeric, 4–16 chars); enter password (alphabet, 4–8 chars); click sign-in button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6812280" y="1965960"/>
            <a:ext cx="3291840" cy="1920240"/>
          </a:xfrm>
          <a:prstGeom prst="rect">
            <a:avLst/>
          </a:prstGeom>
          <a:solidFill>
            <a:srgbClr val="FFFFFF"/>
          </a:solidFill>
          <a:ln w="9525">
            <a:solidFill>
              <a:srgbClr val="CFE3EF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885432" y="2011680"/>
            <a:ext cx="3145536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95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page displays for valid user-id &amp; password; error message displays for invalid user-id &amp; password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10104120" y="1965960"/>
            <a:ext cx="1627632" cy="1920240"/>
          </a:xfrm>
          <a:prstGeom prst="rect">
            <a:avLst/>
          </a:prstGeom>
          <a:solidFill>
            <a:srgbClr val="EAF2F8"/>
          </a:solidFill>
          <a:ln w="9525">
            <a:solidFill>
              <a:srgbClr val="CFE3EF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10177272" y="2011680"/>
            <a:ext cx="148132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95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is user-friendly; login using any browser on any computer / mobile; 1000 users can use at a time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57200" y="4160520"/>
            <a:ext cx="11274552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 w="12700">
            <a:solidFill>
              <a:srgbClr val="CFE3EF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731520" y="4297680"/>
            <a:ext cx="106984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  </a:t>
            </a:r>
            <a:r>
              <a:rPr lang="en-US" sz="110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the “As a / I would like to / so that” columns — what the user needs and why.
</a:t>
            </a:r>
            <a:r>
              <a:rPr lang="en-US" sz="1250" b="1" dirty="0">
                <a:solidFill>
                  <a:srgbClr val="F2A0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Expectations  </a:t>
            </a:r>
            <a:r>
              <a:rPr lang="en-US" sz="110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the “Acceptance Criteria” column — the measurable conditions that confirm the story is done.</a:t>
            </a:r>
            <a:endParaRPr lang="en-US" sz="1250" dirty="0"/>
          </a:p>
        </p:txBody>
      </p:sp>
      <p:sp>
        <p:nvSpPr>
          <p:cNvPr id="27" name="Text 25"/>
          <p:cNvSpPr txBox="1"/>
          <p:nvPr/>
        </p:nvSpPr>
        <p:spPr>
          <a:xfrm>
            <a:off x="457200" y="6547104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FA9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Testing  ·  Unit 2</a:t>
            </a:r>
            <a:endParaRPr lang="en-US" sz="900" dirty="0"/>
          </a:p>
        </p:txBody>
      </p:sp>
      <p:sp>
        <p:nvSpPr>
          <p:cNvPr id="28" name="Text 26"/>
          <p:cNvSpPr txBox="1"/>
          <p:nvPr/>
        </p:nvSpPr>
        <p:spPr>
          <a:xfrm>
            <a:off x="11277295" y="6547104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FA9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5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2A0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ARTIFACTS · B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76072"/>
            <a:ext cx="9601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2E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Sprint Backlog (SBL) &amp; T-Shirt Sizing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4160520" cy="4846320"/>
          </a:xfrm>
          <a:prstGeom prst="roundRect">
            <a:avLst>
              <a:gd name="adj" fmla="val 1978"/>
            </a:avLst>
          </a:prstGeom>
          <a:solidFill>
            <a:srgbClr val="FFFFFF"/>
          </a:solidFill>
          <a:ln w="12700">
            <a:solidFill>
              <a:srgbClr val="CFE3E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164592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2E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b) Sprint Backlog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2103120"/>
            <a:ext cx="37033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PO can select some user stories from all user stories (Uss)</a:t>
            </a:r>
            <a:endParaRPr lang="en-US" sz="1150" dirty="0"/>
          </a:p>
          <a:p>
            <a:pPr marL="0" indent="0">
              <a:lnSpc>
                <a:spcPct val="120000"/>
              </a:lnSpc>
              <a:buNone/>
            </a:pPr>
            <a:endParaRPr lang="en-US" sz="11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PO can take suggestions from SM, SHs &amp; ST in the selection process</a:t>
            </a:r>
            <a:endParaRPr lang="en-US" sz="1150" dirty="0"/>
          </a:p>
          <a:p>
            <a:pPr marL="0" indent="0">
              <a:lnSpc>
                <a:spcPct val="120000"/>
              </a:lnSpc>
              <a:buNone/>
            </a:pPr>
            <a:endParaRPr lang="en-US" sz="1150" dirty="0"/>
          </a:p>
          <a:p>
            <a:pPr marL="0" indent="0">
              <a:lnSpc>
                <a:spcPct val="120000"/>
              </a:lnSpc>
              <a:buNone/>
            </a:pPr>
            <a:endParaRPr lang="en-US" sz="11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PO decides based on size (T-shirt terminology) of Uss, importance of Uss, and complexity in Uss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685800" y="4892040"/>
            <a:ext cx="3703320" cy="1234440"/>
          </a:xfrm>
          <a:prstGeom prst="roundRect">
            <a:avLst>
              <a:gd name="adj" fmla="val 5185"/>
            </a:avLst>
          </a:prstGeom>
          <a:solidFill>
            <a:srgbClr val="EAF2F8"/>
          </a:solidFill>
          <a:ln w="12700">
            <a:solidFill>
              <a:srgbClr val="F2A007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68680" y="4892040"/>
            <a:ext cx="33375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i="1" dirty="0">
                <a:solidFill>
                  <a:srgbClr val="0B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PBL → some Uss selected in SPM → Sprint Backlog (SBL) → developed &amp; tested in 30 days</a:t>
            </a:r>
            <a:endParaRPr lang="en-US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4892040" y="146304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B2E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Example: T-Shirt Sizing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4892040" y="1874520"/>
            <a:ext cx="1828800" cy="338328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892040" y="1874520"/>
            <a:ext cx="18288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775704" y="1874520"/>
            <a:ext cx="5010912" cy="338328"/>
          </a:xfrm>
          <a:prstGeom prst="rect">
            <a:avLst/>
          </a:prstGeom>
          <a:solidFill>
            <a:srgbClr val="FFFFFF"/>
          </a:solidFill>
          <a:ln w="9525">
            <a:solidFill>
              <a:srgbClr val="CFE3E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903720" y="1874520"/>
            <a:ext cx="473659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892040" y="2258568"/>
            <a:ext cx="1828800" cy="338328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4892040" y="2258568"/>
            <a:ext cx="18288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775704" y="2258568"/>
            <a:ext cx="5010912" cy="338328"/>
          </a:xfrm>
          <a:prstGeom prst="rect">
            <a:avLst/>
          </a:prstGeom>
          <a:solidFill>
            <a:srgbClr val="FFFFFF"/>
          </a:solidFill>
          <a:ln w="9525">
            <a:solidFill>
              <a:srgbClr val="CFE3E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903720" y="2258568"/>
            <a:ext cx="473659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logout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892040" y="2642616"/>
            <a:ext cx="1828800" cy="338328"/>
          </a:xfrm>
          <a:prstGeom prst="rect">
            <a:avLst/>
          </a:prstGeom>
          <a:solidFill>
            <a:srgbClr val="0E3B63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4892040" y="2642616"/>
            <a:ext cx="18288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775704" y="2642616"/>
            <a:ext cx="5010912" cy="338328"/>
          </a:xfrm>
          <a:prstGeom prst="rect">
            <a:avLst/>
          </a:prstGeom>
          <a:solidFill>
            <a:srgbClr val="FFFFFF"/>
          </a:solidFill>
          <a:ln w="9525">
            <a:solidFill>
              <a:srgbClr val="CFE3EF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903720" y="2642616"/>
            <a:ext cx="473659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 enquiry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892040" y="3026664"/>
            <a:ext cx="1828800" cy="338328"/>
          </a:xfrm>
          <a:prstGeom prst="rect">
            <a:avLst/>
          </a:prstGeom>
          <a:solidFill>
            <a:srgbClr val="0E3B63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4892040" y="3026664"/>
            <a:ext cx="18288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775704" y="3026664"/>
            <a:ext cx="5010912" cy="338328"/>
          </a:xfrm>
          <a:prstGeom prst="rect">
            <a:avLst/>
          </a:prstGeom>
          <a:solidFill>
            <a:srgbClr val="FFFFFF"/>
          </a:solidFill>
          <a:ln w="9525">
            <a:solidFill>
              <a:srgbClr val="CFE3EF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903720" y="3026664"/>
            <a:ext cx="473659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 statement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892040" y="3410712"/>
            <a:ext cx="1828800" cy="338328"/>
          </a:xfrm>
          <a:prstGeom prst="rect">
            <a:avLst/>
          </a:prstGeom>
          <a:solidFill>
            <a:srgbClr val="F2A007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4892040" y="3410712"/>
            <a:ext cx="18288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XL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775704" y="3410712"/>
            <a:ext cx="5010912" cy="338328"/>
          </a:xfrm>
          <a:prstGeom prst="rect">
            <a:avLst/>
          </a:prstGeom>
          <a:solidFill>
            <a:srgbClr val="FFFFFF"/>
          </a:solidFill>
          <a:ln w="9525">
            <a:solidFill>
              <a:srgbClr val="CFE3EF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6903720" y="3410712"/>
            <a:ext cx="473659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Money transfer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892040" y="3794760"/>
            <a:ext cx="1828800" cy="338328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4892040" y="3794760"/>
            <a:ext cx="18288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XXL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6775704" y="3794760"/>
            <a:ext cx="5010912" cy="338328"/>
          </a:xfrm>
          <a:prstGeom prst="rect">
            <a:avLst/>
          </a:prstGeom>
          <a:solidFill>
            <a:srgbClr val="FFFFFF"/>
          </a:solidFill>
          <a:ln w="9525">
            <a:solidFill>
              <a:srgbClr val="CFE3EF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6903720" y="3794760"/>
            <a:ext cx="473659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loans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4892040" y="4178808"/>
            <a:ext cx="1828800" cy="338328"/>
          </a:xfrm>
          <a:prstGeom prst="rect">
            <a:avLst/>
          </a:prstGeom>
          <a:solidFill>
            <a:srgbClr val="F2A007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4892040" y="4178808"/>
            <a:ext cx="18288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6775704" y="4178808"/>
            <a:ext cx="5010912" cy="338328"/>
          </a:xfrm>
          <a:prstGeom prst="rect">
            <a:avLst/>
          </a:prstGeom>
          <a:solidFill>
            <a:srgbClr val="FFFFFF"/>
          </a:solidFill>
          <a:ln w="9525">
            <a:solidFill>
              <a:srgbClr val="CFE3EF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6903720" y="4178808"/>
            <a:ext cx="473659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cheque deposit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4892040" y="4700016"/>
            <a:ext cx="6894576" cy="960120"/>
          </a:xfrm>
          <a:prstGeom prst="roundRect">
            <a:avLst>
              <a:gd name="adj" fmla="val 6667"/>
            </a:avLst>
          </a:prstGeom>
          <a:solidFill>
            <a:srgbClr val="0B2E4F"/>
          </a:solidFill>
          <a:ln/>
        </p:spPr>
      </p:sp>
      <p:sp>
        <p:nvSpPr>
          <p:cNvPr id="39" name="Text 37"/>
          <p:cNvSpPr txBox="1"/>
          <p:nvPr/>
        </p:nvSpPr>
        <p:spPr>
          <a:xfrm>
            <a:off x="5093208" y="4700016"/>
            <a:ext cx="647395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F2A0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1 Backlog (30 days):  </a:t>
            </a:r>
            <a:r>
              <a:rPr lang="en-US" sz="1050" dirty="0">
                <a:solidFill>
                  <a:srgbClr val="CFE3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login, logout, Balance enquiry selected — chosen based on size, importance &amp; complexity in development.</a:t>
            </a:r>
            <a:endParaRPr lang="en-US" sz="1150" dirty="0"/>
          </a:p>
        </p:txBody>
      </p:sp>
      <p:sp>
        <p:nvSpPr>
          <p:cNvPr id="40" name="Text 38"/>
          <p:cNvSpPr txBox="1"/>
          <p:nvPr/>
        </p:nvSpPr>
        <p:spPr>
          <a:xfrm>
            <a:off x="457200" y="6547104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FA9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Testing  ·  Unit 2</a:t>
            </a:r>
            <a:endParaRPr lang="en-US" sz="900" dirty="0"/>
          </a:p>
        </p:txBody>
      </p:sp>
      <p:sp>
        <p:nvSpPr>
          <p:cNvPr id="41" name="Text 39"/>
          <p:cNvSpPr txBox="1"/>
          <p:nvPr/>
        </p:nvSpPr>
        <p:spPr>
          <a:xfrm>
            <a:off x="11277295" y="6547104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FA9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5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2A0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ARTIFACTS · C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76072"/>
            <a:ext cx="9601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2E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Sprint Burndown Chart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3566160" cy="4846320"/>
          </a:xfrm>
          <a:prstGeom prst="roundRect">
            <a:avLst>
              <a:gd name="adj" fmla="val 2308"/>
            </a:avLst>
          </a:prstGeom>
          <a:solidFill>
            <a:srgbClr val="0B2E4F"/>
          </a:solidFill>
          <a:ln/>
        </p:spPr>
      </p:sp>
      <p:sp>
        <p:nvSpPr>
          <p:cNvPr id="5" name="Shape 3"/>
          <p:cNvSpPr/>
          <p:nvPr/>
        </p:nvSpPr>
        <p:spPr>
          <a:xfrm>
            <a:off x="777240" y="1737360"/>
            <a:ext cx="868680" cy="868680"/>
          </a:xfrm>
          <a:prstGeom prst="ellipse">
            <a:avLst/>
          </a:prstGeom>
          <a:solidFill>
            <a:srgbClr val="F2A007"/>
          </a:solidFill>
          <a:ln/>
        </p:spPr>
      </p:sp>
      <p:pic>
        <p:nvPicPr>
          <p:cNvPr id="6" name="Image 0" descr="/home/claude/icons/chartLin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8408" y="1938528"/>
            <a:ext cx="466344" cy="466344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640080" y="274320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c) Sprint</a:t>
            </a:r>
            <a:endParaRPr lang="en-US" sz="15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Burndown Chart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685800" y="342900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CFE3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 can prepare this during the 30-day sprint process, to know the status of work.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685800" y="4343400"/>
            <a:ext cx="3108960" cy="1737360"/>
          </a:xfrm>
          <a:prstGeom prst="roundRect">
            <a:avLst>
              <a:gd name="adj" fmla="val 3684"/>
            </a:avLst>
          </a:prstGeom>
          <a:solidFill>
            <a:srgbClr val="0E3B63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868680" y="4526280"/>
            <a:ext cx="27432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CFE3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working hours
</a:t>
            </a:r>
            <a:r>
              <a:rPr lang="en-US" sz="2000" b="1" dirty="0">
                <a:solidFill>
                  <a:srgbClr val="F2A0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× 30 × 8 = 2400
</a:t>
            </a:r>
            <a:r>
              <a:rPr lang="en-US" sz="900" i="1" dirty="0">
                <a:solidFill>
                  <a:srgbClr val="CFE3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members × sprint duration × hours/day</a:t>
            </a:r>
            <a:endParaRPr lang="en-US" sz="1050" dirty="0"/>
          </a:p>
        </p:txBody>
      </p:sp>
      <p:sp>
        <p:nvSpPr>
          <p:cNvPr id="11" name="Text 8"/>
          <p:cNvSpPr txBox="1"/>
          <p:nvPr/>
        </p:nvSpPr>
        <p:spPr>
          <a:xfrm>
            <a:off x="4297680" y="1554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2E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Working hours in pending  vs.  Time</a:t>
            </a:r>
            <a:endParaRPr lang="en-US" sz="1300" dirty="0"/>
          </a:p>
        </p:txBody>
      </p:sp>
      <p:graphicFrame>
        <p:nvGraphicFramePr>
          <p:cNvPr id="12" name="Chart 0"/>
          <p:cNvGraphicFramePr/>
          <p:nvPr/>
        </p:nvGraphicFramePr>
        <p:xfrm>
          <a:off x="4206240" y="1920240"/>
          <a:ext cx="7498080" cy="4206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3" name="Text 9"/>
          <p:cNvSpPr txBox="1"/>
          <p:nvPr/>
        </p:nvSpPr>
        <p:spPr>
          <a:xfrm>
            <a:off x="457200" y="6547104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FA9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Testing  ·  Unit 2</a:t>
            </a:r>
            <a:endParaRPr lang="en-US" sz="900" dirty="0"/>
          </a:p>
        </p:txBody>
      </p:sp>
      <p:sp>
        <p:nvSpPr>
          <p:cNvPr id="14" name="Text 10"/>
          <p:cNvSpPr txBox="1"/>
          <p:nvPr/>
        </p:nvSpPr>
        <p:spPr>
          <a:xfrm>
            <a:off x="11277295" y="6547104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FA9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5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2A0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ARTIFACTS · D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76072"/>
            <a:ext cx="9601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2E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Traceability Matrix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078992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C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 can prepare this after the 30-day sprint process, to give a testing summary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508760"/>
            <a:ext cx="1005840" cy="457200"/>
          </a:xfrm>
          <a:prstGeom prst="rect">
            <a:avLst/>
          </a:prstGeom>
          <a:solidFill>
            <a:srgbClr val="0B2E4F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150876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1463040" y="1508760"/>
            <a:ext cx="1737360" cy="457200"/>
          </a:xfrm>
          <a:prstGeom prst="rect">
            <a:avLst/>
          </a:prstGeom>
          <a:solidFill>
            <a:srgbClr val="0B2E4F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554480" y="150876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 Cases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00400" y="1508760"/>
            <a:ext cx="2103120" cy="457200"/>
          </a:xfrm>
          <a:prstGeom prst="rect">
            <a:avLst/>
          </a:prstGeom>
          <a:solidFill>
            <a:srgbClr val="0B2E4F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291840" y="150876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Passed / Failed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303520" y="1508760"/>
            <a:ext cx="1737360" cy="457200"/>
          </a:xfrm>
          <a:prstGeom prst="rect">
            <a:avLst/>
          </a:prstGeom>
          <a:solidFill>
            <a:srgbClr val="0B2E4F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394960" y="150876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Defect ID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040880" y="1508760"/>
            <a:ext cx="2423160" cy="457200"/>
          </a:xfrm>
          <a:prstGeom prst="rect">
            <a:avLst/>
          </a:prstGeom>
          <a:solidFill>
            <a:srgbClr val="0B2E4F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132320" y="150876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Closed / Deferred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9464040" y="1508760"/>
            <a:ext cx="2267712" cy="457200"/>
          </a:xfrm>
          <a:prstGeom prst="rect">
            <a:avLst/>
          </a:prstGeom>
          <a:solidFill>
            <a:srgbClr val="0B2E4F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9555480" y="1508760"/>
            <a:ext cx="20848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Comments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1965960"/>
            <a:ext cx="100584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CFE3E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48640" y="196596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1463040" y="1965960"/>
            <a:ext cx="173736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CFE3EF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1554480" y="196596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TC1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200400" y="1965960"/>
            <a:ext cx="210312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CFE3EF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3291840" y="196596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Passed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303520" y="1965960"/>
            <a:ext cx="173736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CFE3EF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5394960" y="196596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7040880" y="1965960"/>
            <a:ext cx="242316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CFE3EF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7132320" y="196596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9464040" y="1965960"/>
            <a:ext cx="2267712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CFE3EF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9555480" y="1965960"/>
            <a:ext cx="20848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57200" y="2423160"/>
            <a:ext cx="1005840" cy="457200"/>
          </a:xfrm>
          <a:prstGeom prst="rect">
            <a:avLst/>
          </a:prstGeom>
          <a:solidFill>
            <a:srgbClr val="EAF2F8"/>
          </a:solidFill>
          <a:ln w="9525">
            <a:solidFill>
              <a:srgbClr val="CFE3EF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548640" y="242316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1463040" y="2423160"/>
            <a:ext cx="1737360" cy="457200"/>
          </a:xfrm>
          <a:prstGeom prst="rect">
            <a:avLst/>
          </a:prstGeom>
          <a:solidFill>
            <a:srgbClr val="EAF2F8"/>
          </a:solidFill>
          <a:ln w="9525">
            <a:solidFill>
              <a:srgbClr val="CFE3EF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1554480" y="242316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TC2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3200400" y="2423160"/>
            <a:ext cx="2103120" cy="457200"/>
          </a:xfrm>
          <a:prstGeom prst="rect">
            <a:avLst/>
          </a:prstGeom>
          <a:solidFill>
            <a:srgbClr val="EAF2F8"/>
          </a:solidFill>
          <a:ln w="9525">
            <a:solidFill>
              <a:srgbClr val="CFE3EF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3291840" y="242316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Passed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5303520" y="2423160"/>
            <a:ext cx="1737360" cy="457200"/>
          </a:xfrm>
          <a:prstGeom prst="rect">
            <a:avLst/>
          </a:prstGeom>
          <a:solidFill>
            <a:srgbClr val="EAF2F8"/>
          </a:solidFill>
          <a:ln w="9525">
            <a:solidFill>
              <a:srgbClr val="CFE3EF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5394960" y="242316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7040880" y="2423160"/>
            <a:ext cx="2423160" cy="457200"/>
          </a:xfrm>
          <a:prstGeom prst="rect">
            <a:avLst/>
          </a:prstGeom>
          <a:solidFill>
            <a:srgbClr val="EAF2F8"/>
          </a:solidFill>
          <a:ln w="9525">
            <a:solidFill>
              <a:srgbClr val="CFE3EF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7132320" y="242316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9464040" y="2423160"/>
            <a:ext cx="2267712" cy="457200"/>
          </a:xfrm>
          <a:prstGeom prst="rect">
            <a:avLst/>
          </a:prstGeom>
          <a:solidFill>
            <a:srgbClr val="EAF2F8"/>
          </a:solidFill>
          <a:ln w="9525">
            <a:solidFill>
              <a:srgbClr val="CFE3EF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9555480" y="2423160"/>
            <a:ext cx="20848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457200" y="2880360"/>
            <a:ext cx="100584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CFE3EF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548640" y="288036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1463040" y="2880360"/>
            <a:ext cx="173736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CFE3EF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1554480" y="288036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TC3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3200400" y="2880360"/>
            <a:ext cx="210312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CFE3EF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3291840" y="288036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Passed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5303520" y="2880360"/>
            <a:ext cx="173736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CFE3EF"/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5394960" y="288036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7040880" y="2880360"/>
            <a:ext cx="242316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CFE3EF"/>
            </a:solidFill>
            <a:prstDash val="solid"/>
          </a:ln>
        </p:spPr>
      </p:sp>
      <p:sp>
        <p:nvSpPr>
          <p:cNvPr id="50" name="Text 48"/>
          <p:cNvSpPr txBox="1"/>
          <p:nvPr/>
        </p:nvSpPr>
        <p:spPr>
          <a:xfrm>
            <a:off x="7132320" y="288036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9464040" y="2880360"/>
            <a:ext cx="2267712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CFE3EF"/>
            </a:solidFill>
            <a:prstDash val="solid"/>
          </a:ln>
        </p:spPr>
      </p:sp>
      <p:sp>
        <p:nvSpPr>
          <p:cNvPr id="52" name="Text 50"/>
          <p:cNvSpPr txBox="1"/>
          <p:nvPr/>
        </p:nvSpPr>
        <p:spPr>
          <a:xfrm>
            <a:off x="9555480" y="2880360"/>
            <a:ext cx="20848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100" dirty="0"/>
          </a:p>
        </p:txBody>
      </p:sp>
      <p:sp>
        <p:nvSpPr>
          <p:cNvPr id="53" name="Shape 51"/>
          <p:cNvSpPr/>
          <p:nvPr/>
        </p:nvSpPr>
        <p:spPr>
          <a:xfrm>
            <a:off x="457200" y="3337560"/>
            <a:ext cx="1005840" cy="457200"/>
          </a:xfrm>
          <a:prstGeom prst="rect">
            <a:avLst/>
          </a:prstGeom>
          <a:solidFill>
            <a:srgbClr val="EAF2F8"/>
          </a:solidFill>
          <a:ln w="9525">
            <a:solidFill>
              <a:srgbClr val="CFE3EF"/>
            </a:solidFill>
            <a:prstDash val="solid"/>
          </a:ln>
        </p:spPr>
      </p:sp>
      <p:sp>
        <p:nvSpPr>
          <p:cNvPr id="54" name="Text 52"/>
          <p:cNvSpPr txBox="1"/>
          <p:nvPr/>
        </p:nvSpPr>
        <p:spPr>
          <a:xfrm>
            <a:off x="548640" y="333756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55" name="Shape 53"/>
          <p:cNvSpPr/>
          <p:nvPr/>
        </p:nvSpPr>
        <p:spPr>
          <a:xfrm>
            <a:off x="1463040" y="3337560"/>
            <a:ext cx="1737360" cy="457200"/>
          </a:xfrm>
          <a:prstGeom prst="rect">
            <a:avLst/>
          </a:prstGeom>
          <a:solidFill>
            <a:srgbClr val="EAF2F8"/>
          </a:solidFill>
          <a:ln w="9525">
            <a:solidFill>
              <a:srgbClr val="CFE3EF"/>
            </a:solidFill>
            <a:prstDash val="solid"/>
          </a:ln>
        </p:spPr>
      </p:sp>
      <p:sp>
        <p:nvSpPr>
          <p:cNvPr id="56" name="Text 54"/>
          <p:cNvSpPr txBox="1"/>
          <p:nvPr/>
        </p:nvSpPr>
        <p:spPr>
          <a:xfrm>
            <a:off x="1554480" y="333756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TC4</a:t>
            </a:r>
            <a:endParaRPr lang="en-US" sz="1100" dirty="0"/>
          </a:p>
        </p:txBody>
      </p:sp>
      <p:sp>
        <p:nvSpPr>
          <p:cNvPr id="57" name="Shape 55"/>
          <p:cNvSpPr/>
          <p:nvPr/>
        </p:nvSpPr>
        <p:spPr>
          <a:xfrm>
            <a:off x="3200400" y="3337560"/>
            <a:ext cx="2103120" cy="457200"/>
          </a:xfrm>
          <a:prstGeom prst="rect">
            <a:avLst/>
          </a:prstGeom>
          <a:solidFill>
            <a:srgbClr val="EAF2F8"/>
          </a:solidFill>
          <a:ln w="9525">
            <a:solidFill>
              <a:srgbClr val="CFE3EF"/>
            </a:solidFill>
            <a:prstDash val="solid"/>
          </a:ln>
        </p:spPr>
      </p:sp>
      <p:sp>
        <p:nvSpPr>
          <p:cNvPr id="58" name="Text 56"/>
          <p:cNvSpPr txBox="1"/>
          <p:nvPr/>
        </p:nvSpPr>
        <p:spPr>
          <a:xfrm>
            <a:off x="3291840" y="333756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Passed</a:t>
            </a:r>
            <a:endParaRPr lang="en-US" sz="1100" dirty="0"/>
          </a:p>
        </p:txBody>
      </p:sp>
      <p:sp>
        <p:nvSpPr>
          <p:cNvPr id="59" name="Shape 57"/>
          <p:cNvSpPr/>
          <p:nvPr/>
        </p:nvSpPr>
        <p:spPr>
          <a:xfrm>
            <a:off x="5303520" y="3337560"/>
            <a:ext cx="1737360" cy="457200"/>
          </a:xfrm>
          <a:prstGeom prst="rect">
            <a:avLst/>
          </a:prstGeom>
          <a:solidFill>
            <a:srgbClr val="EAF2F8"/>
          </a:solidFill>
          <a:ln w="9525">
            <a:solidFill>
              <a:srgbClr val="CFE3EF"/>
            </a:solidFill>
            <a:prstDash val="solid"/>
          </a:ln>
        </p:spPr>
      </p:sp>
      <p:sp>
        <p:nvSpPr>
          <p:cNvPr id="60" name="Text 58"/>
          <p:cNvSpPr txBox="1"/>
          <p:nvPr/>
        </p:nvSpPr>
        <p:spPr>
          <a:xfrm>
            <a:off x="5394960" y="333756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100" dirty="0"/>
          </a:p>
        </p:txBody>
      </p:sp>
      <p:sp>
        <p:nvSpPr>
          <p:cNvPr id="61" name="Shape 59"/>
          <p:cNvSpPr/>
          <p:nvPr/>
        </p:nvSpPr>
        <p:spPr>
          <a:xfrm>
            <a:off x="7040880" y="3337560"/>
            <a:ext cx="2423160" cy="457200"/>
          </a:xfrm>
          <a:prstGeom prst="rect">
            <a:avLst/>
          </a:prstGeom>
          <a:solidFill>
            <a:srgbClr val="EAF2F8"/>
          </a:solidFill>
          <a:ln w="9525">
            <a:solidFill>
              <a:srgbClr val="CFE3EF"/>
            </a:solidFill>
            <a:prstDash val="solid"/>
          </a:ln>
        </p:spPr>
      </p:sp>
      <p:sp>
        <p:nvSpPr>
          <p:cNvPr id="62" name="Text 60"/>
          <p:cNvSpPr txBox="1"/>
          <p:nvPr/>
        </p:nvSpPr>
        <p:spPr>
          <a:xfrm>
            <a:off x="7132320" y="333756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100" dirty="0"/>
          </a:p>
        </p:txBody>
      </p:sp>
      <p:sp>
        <p:nvSpPr>
          <p:cNvPr id="63" name="Shape 61"/>
          <p:cNvSpPr/>
          <p:nvPr/>
        </p:nvSpPr>
        <p:spPr>
          <a:xfrm>
            <a:off x="9464040" y="3337560"/>
            <a:ext cx="2267712" cy="457200"/>
          </a:xfrm>
          <a:prstGeom prst="rect">
            <a:avLst/>
          </a:prstGeom>
          <a:solidFill>
            <a:srgbClr val="EAF2F8"/>
          </a:solidFill>
          <a:ln w="9525">
            <a:solidFill>
              <a:srgbClr val="CFE3EF"/>
            </a:solidFill>
            <a:prstDash val="solid"/>
          </a:ln>
        </p:spPr>
      </p:sp>
      <p:sp>
        <p:nvSpPr>
          <p:cNvPr id="64" name="Text 62"/>
          <p:cNvSpPr txBox="1"/>
          <p:nvPr/>
        </p:nvSpPr>
        <p:spPr>
          <a:xfrm>
            <a:off x="9555480" y="3337560"/>
            <a:ext cx="20848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100" dirty="0"/>
          </a:p>
        </p:txBody>
      </p:sp>
      <p:sp>
        <p:nvSpPr>
          <p:cNvPr id="65" name="Shape 63"/>
          <p:cNvSpPr/>
          <p:nvPr/>
        </p:nvSpPr>
        <p:spPr>
          <a:xfrm>
            <a:off x="457200" y="3794760"/>
            <a:ext cx="100584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CFE3EF"/>
            </a:solidFill>
            <a:prstDash val="solid"/>
          </a:ln>
        </p:spPr>
      </p:sp>
      <p:sp>
        <p:nvSpPr>
          <p:cNvPr id="66" name="Text 64"/>
          <p:cNvSpPr txBox="1"/>
          <p:nvPr/>
        </p:nvSpPr>
        <p:spPr>
          <a:xfrm>
            <a:off x="548640" y="379476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67" name="Shape 65"/>
          <p:cNvSpPr/>
          <p:nvPr/>
        </p:nvSpPr>
        <p:spPr>
          <a:xfrm>
            <a:off x="1463040" y="3794760"/>
            <a:ext cx="173736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CFE3EF"/>
            </a:solidFill>
            <a:prstDash val="solid"/>
          </a:ln>
        </p:spPr>
      </p:sp>
      <p:sp>
        <p:nvSpPr>
          <p:cNvPr id="68" name="Text 66"/>
          <p:cNvSpPr txBox="1"/>
          <p:nvPr/>
        </p:nvSpPr>
        <p:spPr>
          <a:xfrm>
            <a:off x="1554480" y="379476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TC5</a:t>
            </a:r>
            <a:endParaRPr lang="en-US" sz="1100" dirty="0"/>
          </a:p>
        </p:txBody>
      </p:sp>
      <p:sp>
        <p:nvSpPr>
          <p:cNvPr id="69" name="Shape 67"/>
          <p:cNvSpPr/>
          <p:nvPr/>
        </p:nvSpPr>
        <p:spPr>
          <a:xfrm>
            <a:off x="3200400" y="3794760"/>
            <a:ext cx="2103120" cy="457200"/>
          </a:xfrm>
          <a:prstGeom prst="rect">
            <a:avLst/>
          </a:prstGeom>
          <a:solidFill>
            <a:srgbClr val="FBE7E4"/>
          </a:solidFill>
          <a:ln w="9525">
            <a:solidFill>
              <a:srgbClr val="CFE3EF"/>
            </a:solidFill>
            <a:prstDash val="solid"/>
          </a:ln>
        </p:spPr>
      </p:sp>
      <p:sp>
        <p:nvSpPr>
          <p:cNvPr id="70" name="Text 68"/>
          <p:cNvSpPr txBox="1"/>
          <p:nvPr/>
        </p:nvSpPr>
        <p:spPr>
          <a:xfrm>
            <a:off x="3291840" y="379476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Failed</a:t>
            </a:r>
            <a:endParaRPr lang="en-US" sz="1100" dirty="0"/>
          </a:p>
        </p:txBody>
      </p:sp>
      <p:sp>
        <p:nvSpPr>
          <p:cNvPr id="71" name="Shape 69"/>
          <p:cNvSpPr/>
          <p:nvPr/>
        </p:nvSpPr>
        <p:spPr>
          <a:xfrm>
            <a:off x="5303520" y="3794760"/>
            <a:ext cx="173736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CFE3EF"/>
            </a:solidFill>
            <a:prstDash val="solid"/>
          </a:ln>
        </p:spPr>
      </p:sp>
      <p:sp>
        <p:nvSpPr>
          <p:cNvPr id="72" name="Text 70"/>
          <p:cNvSpPr txBox="1"/>
          <p:nvPr/>
        </p:nvSpPr>
        <p:spPr>
          <a:xfrm>
            <a:off x="5394960" y="379476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DR1</a:t>
            </a:r>
            <a:endParaRPr lang="en-US" sz="1100" dirty="0"/>
          </a:p>
        </p:txBody>
      </p:sp>
      <p:sp>
        <p:nvSpPr>
          <p:cNvPr id="73" name="Shape 71"/>
          <p:cNvSpPr/>
          <p:nvPr/>
        </p:nvSpPr>
        <p:spPr>
          <a:xfrm>
            <a:off x="7040880" y="3794760"/>
            <a:ext cx="242316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CFE3EF"/>
            </a:solidFill>
            <a:prstDash val="solid"/>
          </a:ln>
        </p:spPr>
      </p:sp>
      <p:sp>
        <p:nvSpPr>
          <p:cNvPr id="74" name="Text 72"/>
          <p:cNvSpPr txBox="1"/>
          <p:nvPr/>
        </p:nvSpPr>
        <p:spPr>
          <a:xfrm>
            <a:off x="7132320" y="379476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Closed</a:t>
            </a:r>
            <a:endParaRPr lang="en-US" sz="1100" dirty="0"/>
          </a:p>
        </p:txBody>
      </p:sp>
      <p:sp>
        <p:nvSpPr>
          <p:cNvPr id="75" name="Shape 73"/>
          <p:cNvSpPr/>
          <p:nvPr/>
        </p:nvSpPr>
        <p:spPr>
          <a:xfrm>
            <a:off x="9464040" y="3794760"/>
            <a:ext cx="2267712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CFE3EF"/>
            </a:solidFill>
            <a:prstDash val="solid"/>
          </a:ln>
        </p:spPr>
      </p:sp>
      <p:sp>
        <p:nvSpPr>
          <p:cNvPr id="76" name="Text 74"/>
          <p:cNvSpPr txBox="1"/>
          <p:nvPr/>
        </p:nvSpPr>
        <p:spPr>
          <a:xfrm>
            <a:off x="9555480" y="3794760"/>
            <a:ext cx="20848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100" dirty="0"/>
          </a:p>
        </p:txBody>
      </p:sp>
      <p:sp>
        <p:nvSpPr>
          <p:cNvPr id="77" name="Shape 75"/>
          <p:cNvSpPr/>
          <p:nvPr/>
        </p:nvSpPr>
        <p:spPr>
          <a:xfrm>
            <a:off x="457200" y="4617720"/>
            <a:ext cx="11274552" cy="1371600"/>
          </a:xfrm>
          <a:prstGeom prst="roundRect">
            <a:avLst>
              <a:gd name="adj" fmla="val 6000"/>
            </a:avLst>
          </a:prstGeom>
          <a:solidFill>
            <a:srgbClr val="EAF2F8"/>
          </a:solidFill>
          <a:ln w="12700">
            <a:solidFill>
              <a:srgbClr val="CFE3EF"/>
            </a:solidFill>
            <a:prstDash val="solid"/>
          </a:ln>
        </p:spPr>
      </p:sp>
      <p:sp>
        <p:nvSpPr>
          <p:cNvPr id="78" name="Text 76"/>
          <p:cNvSpPr txBox="1"/>
          <p:nvPr/>
        </p:nvSpPr>
        <p:spPr>
          <a:xfrm>
            <a:off x="731520" y="4754880"/>
            <a:ext cx="10698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 1:  </a:t>
            </a:r>
            <a:r>
              <a:rPr lang="en-US" sz="120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Whenever a project / product is big, we are able to follow a multi-Scrum process — see next slide.</a:t>
            </a:r>
            <a:endParaRPr lang="en-US" sz="1250" dirty="0"/>
          </a:p>
        </p:txBody>
      </p:sp>
      <p:sp>
        <p:nvSpPr>
          <p:cNvPr id="79" name="Text 77"/>
          <p:cNvSpPr txBox="1"/>
          <p:nvPr/>
        </p:nvSpPr>
        <p:spPr>
          <a:xfrm>
            <a:off x="457200" y="6547104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FA9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Testing  ·  Unit 2</a:t>
            </a:r>
            <a:endParaRPr lang="en-US" sz="900" dirty="0"/>
          </a:p>
        </p:txBody>
      </p:sp>
      <p:sp>
        <p:nvSpPr>
          <p:cNvPr id="80" name="Text 78"/>
          <p:cNvSpPr txBox="1"/>
          <p:nvPr/>
        </p:nvSpPr>
        <p:spPr>
          <a:xfrm>
            <a:off x="11277295" y="6547104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FA9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5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2A0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 1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76072"/>
            <a:ext cx="9601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2E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Multi-Scrum Process for Big Projects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078992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C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Whenever a project / product is big, we are able to follow a multi-Scrum process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998568" y="1600200"/>
            <a:ext cx="2194560" cy="594360"/>
          </a:xfrm>
          <a:prstGeom prst="roundRect">
            <a:avLst>
              <a:gd name="adj" fmla="val 12308"/>
            </a:avLst>
          </a:prstGeom>
          <a:solidFill>
            <a:srgbClr val="0B2E4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4998568" y="1600200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7421728" y="1645920"/>
            <a:ext cx="2377440" cy="502920"/>
          </a:xfrm>
          <a:prstGeom prst="roundRect">
            <a:avLst>
              <a:gd name="adj" fmla="val 12727"/>
            </a:avLst>
          </a:prstGeom>
          <a:solidFill>
            <a:srgbClr val="EAF2F8"/>
          </a:solidFill>
          <a:ln w="12700">
            <a:solidFill>
              <a:srgbClr val="F2A007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513168" y="164592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950" i="1" dirty="0">
                <a:solidFill>
                  <a:srgbClr val="0B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Coordination: Master PO, Chief SM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6095848" y="2194560"/>
            <a:ext cx="0" cy="822960"/>
          </a:xfrm>
          <a:prstGeom prst="line">
            <a:avLst/>
          </a:prstGeom>
          <a:noFill/>
          <a:ln w="19050">
            <a:solidFill>
              <a:srgbClr val="8FA9B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74040" y="3017520"/>
            <a:ext cx="246888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FE3EF"/>
            </a:solidFill>
            <a:prstDash val="solid"/>
          </a:ln>
          <a:effectLst>
            <a:outerShdw blurRad="63500" dist="25400" dir="5400000" algn="bl" rotWithShape="0">
              <a:srgbClr val="9DB6C9">
                <a:alpha val="2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774040" y="3017520"/>
            <a:ext cx="2468880" cy="384048"/>
          </a:xfrm>
          <a:prstGeom prst="roundRect">
            <a:avLst>
              <a:gd name="adj" fmla="val 19048"/>
            </a:avLst>
          </a:prstGeom>
          <a:solidFill>
            <a:srgbClr val="0E3B63"/>
          </a:solidFill>
          <a:ln/>
        </p:spPr>
      </p:sp>
      <p:sp>
        <p:nvSpPr>
          <p:cNvPr id="12" name="Shape 10"/>
          <p:cNvSpPr/>
          <p:nvPr/>
        </p:nvSpPr>
        <p:spPr>
          <a:xfrm>
            <a:off x="774040" y="3209544"/>
            <a:ext cx="2468880" cy="192024"/>
          </a:xfrm>
          <a:prstGeom prst="rect">
            <a:avLst/>
          </a:prstGeom>
          <a:solidFill>
            <a:srgbClr val="0E3B63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774040" y="3017520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Sub-Project 1</a:t>
            </a:r>
            <a:endParaRPr lang="en-US" sz="1150" dirty="0"/>
          </a:p>
        </p:txBody>
      </p:sp>
      <p:sp>
        <p:nvSpPr>
          <p:cNvPr id="14" name="Text 12"/>
          <p:cNvSpPr txBox="1"/>
          <p:nvPr/>
        </p:nvSpPr>
        <p:spPr>
          <a:xfrm>
            <a:off x="774040" y="352044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10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   ·   SM   ·   ST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095848" y="2194560"/>
            <a:ext cx="0" cy="822960"/>
          </a:xfrm>
          <a:prstGeom prst="line">
            <a:avLst/>
          </a:prstGeom>
          <a:noFill/>
          <a:ln w="19050">
            <a:solidFill>
              <a:srgbClr val="8FA9B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498952" y="3017520"/>
            <a:ext cx="246888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FE3EF"/>
            </a:solidFill>
            <a:prstDash val="solid"/>
          </a:ln>
          <a:effectLst>
            <a:outerShdw blurRad="63500" dist="25400" dir="5400000" algn="bl" rotWithShape="0">
              <a:srgbClr val="9DB6C9">
                <a:alpha val="2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498952" y="3017520"/>
            <a:ext cx="2468880" cy="384048"/>
          </a:xfrm>
          <a:prstGeom prst="roundRect">
            <a:avLst>
              <a:gd name="adj" fmla="val 19048"/>
            </a:avLst>
          </a:prstGeom>
          <a:solidFill>
            <a:srgbClr val="1C7293"/>
          </a:solidFill>
          <a:ln/>
        </p:spPr>
      </p:sp>
      <p:sp>
        <p:nvSpPr>
          <p:cNvPr id="18" name="Shape 16"/>
          <p:cNvSpPr/>
          <p:nvPr/>
        </p:nvSpPr>
        <p:spPr>
          <a:xfrm>
            <a:off x="3498952" y="3209544"/>
            <a:ext cx="2468880" cy="192024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3498952" y="3017520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Sub-Project 2</a:t>
            </a:r>
            <a:endParaRPr lang="en-US" sz="1150" dirty="0"/>
          </a:p>
        </p:txBody>
      </p:sp>
      <p:sp>
        <p:nvSpPr>
          <p:cNvPr id="20" name="Text 18"/>
          <p:cNvSpPr txBox="1"/>
          <p:nvPr/>
        </p:nvSpPr>
        <p:spPr>
          <a:xfrm>
            <a:off x="3498952" y="352044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10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   ·   SM   ·   ST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095848" y="2194560"/>
            <a:ext cx="1362456" cy="822960"/>
          </a:xfrm>
          <a:prstGeom prst="line">
            <a:avLst/>
          </a:prstGeom>
          <a:noFill/>
          <a:ln w="19050">
            <a:solidFill>
              <a:srgbClr val="8FA9BE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223864" y="3017520"/>
            <a:ext cx="246888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FE3EF"/>
            </a:solidFill>
            <a:prstDash val="solid"/>
          </a:ln>
          <a:effectLst>
            <a:outerShdw blurRad="63500" dist="25400" dir="5400000" algn="bl" rotWithShape="0">
              <a:srgbClr val="9DB6C9">
                <a:alpha val="2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223864" y="3017520"/>
            <a:ext cx="2468880" cy="384048"/>
          </a:xfrm>
          <a:prstGeom prst="roundRect">
            <a:avLst>
              <a:gd name="adj" fmla="val 19048"/>
            </a:avLst>
          </a:prstGeom>
          <a:solidFill>
            <a:srgbClr val="F2A007"/>
          </a:solidFill>
          <a:ln/>
        </p:spPr>
      </p:sp>
      <p:sp>
        <p:nvSpPr>
          <p:cNvPr id="24" name="Shape 22"/>
          <p:cNvSpPr/>
          <p:nvPr/>
        </p:nvSpPr>
        <p:spPr>
          <a:xfrm>
            <a:off x="6223864" y="3209544"/>
            <a:ext cx="2468880" cy="192024"/>
          </a:xfrm>
          <a:prstGeom prst="rect">
            <a:avLst/>
          </a:prstGeom>
          <a:solidFill>
            <a:srgbClr val="F2A007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6223864" y="3017520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B2E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Sub-Project 3</a:t>
            </a:r>
            <a:endParaRPr lang="en-US" sz="1150" dirty="0"/>
          </a:p>
        </p:txBody>
      </p:sp>
      <p:sp>
        <p:nvSpPr>
          <p:cNvPr id="26" name="Text 24"/>
          <p:cNvSpPr txBox="1"/>
          <p:nvPr/>
        </p:nvSpPr>
        <p:spPr>
          <a:xfrm>
            <a:off x="6223864" y="352044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10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   ·   SM   ·   ST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095848" y="2194560"/>
            <a:ext cx="4087368" cy="822960"/>
          </a:xfrm>
          <a:prstGeom prst="line">
            <a:avLst/>
          </a:prstGeom>
          <a:noFill/>
          <a:ln w="19050">
            <a:solidFill>
              <a:srgbClr val="8FA9BE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948776" y="3017520"/>
            <a:ext cx="246888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FE3EF"/>
            </a:solidFill>
            <a:prstDash val="solid"/>
          </a:ln>
          <a:effectLst>
            <a:outerShdw blurRad="63500" dist="25400" dir="5400000" algn="bl" rotWithShape="0">
              <a:srgbClr val="9DB6C9">
                <a:alpha val="25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8948776" y="3017520"/>
            <a:ext cx="2468880" cy="384048"/>
          </a:xfrm>
          <a:prstGeom prst="roundRect">
            <a:avLst>
              <a:gd name="adj" fmla="val 19048"/>
            </a:avLst>
          </a:prstGeom>
          <a:solidFill>
            <a:srgbClr val="0E3B63"/>
          </a:solidFill>
          <a:ln/>
        </p:spPr>
      </p:sp>
      <p:sp>
        <p:nvSpPr>
          <p:cNvPr id="30" name="Shape 28"/>
          <p:cNvSpPr/>
          <p:nvPr/>
        </p:nvSpPr>
        <p:spPr>
          <a:xfrm>
            <a:off x="8948776" y="3209544"/>
            <a:ext cx="2468880" cy="192024"/>
          </a:xfrm>
          <a:prstGeom prst="rect">
            <a:avLst/>
          </a:prstGeom>
          <a:solidFill>
            <a:srgbClr val="0E3B63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8948776" y="3017520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Sub-Project 4</a:t>
            </a:r>
            <a:endParaRPr lang="en-US" sz="1150" dirty="0"/>
          </a:p>
        </p:txBody>
      </p:sp>
      <p:sp>
        <p:nvSpPr>
          <p:cNvPr id="32" name="Text 30"/>
          <p:cNvSpPr txBox="1"/>
          <p:nvPr/>
        </p:nvSpPr>
        <p:spPr>
          <a:xfrm>
            <a:off x="8948776" y="352044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10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   ·   SM   ·   ST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774040" y="4754880"/>
            <a:ext cx="10643616" cy="548640"/>
          </a:xfrm>
          <a:prstGeom prst="roundRect">
            <a:avLst>
              <a:gd name="adj" fmla="val 50000"/>
            </a:avLst>
          </a:prstGeom>
          <a:solidFill>
            <a:srgbClr val="0B2E4F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774040" y="4754880"/>
            <a:ext cx="106436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2A00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Integration of Sprint Releases</a:t>
            </a:r>
            <a:endParaRPr lang="en-US" sz="1400" dirty="0"/>
          </a:p>
        </p:txBody>
      </p:sp>
      <p:sp>
        <p:nvSpPr>
          <p:cNvPr id="35" name="Text 33"/>
          <p:cNvSpPr txBox="1"/>
          <p:nvPr/>
        </p:nvSpPr>
        <p:spPr>
          <a:xfrm>
            <a:off x="457200" y="6547104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FA9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Testing  ·  Unit 2</a:t>
            </a:r>
            <a:endParaRPr lang="en-US" sz="900" dirty="0"/>
          </a:p>
        </p:txBody>
      </p:sp>
      <p:sp>
        <p:nvSpPr>
          <p:cNvPr id="36" name="Text 34"/>
          <p:cNvSpPr txBox="1"/>
          <p:nvPr/>
        </p:nvSpPr>
        <p:spPr>
          <a:xfrm>
            <a:off x="11277295" y="6547104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FA9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5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2A0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 2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76072"/>
            <a:ext cx="9601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2E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ScrumStudy Certification — How to Register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691640"/>
            <a:ext cx="548640" cy="548640"/>
          </a:xfrm>
          <a:prstGeom prst="ellipse">
            <a:avLst/>
          </a:prstGeom>
          <a:solidFill>
            <a:srgbClr val="0E3B63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457200" y="16916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2240280"/>
            <a:ext cx="0" cy="365760"/>
          </a:xfrm>
          <a:prstGeom prst="line">
            <a:avLst/>
          </a:prstGeom>
          <a:noFill/>
          <a:ln w="19050">
            <a:solidFill>
              <a:srgbClr val="8FA9BE"/>
            </a:solidFill>
            <a:prstDash val="dash"/>
          </a:ln>
        </p:spPr>
      </p:sp>
      <p:sp>
        <p:nvSpPr>
          <p:cNvPr id="7" name="Shape 5"/>
          <p:cNvSpPr/>
          <p:nvPr/>
        </p:nvSpPr>
        <p:spPr>
          <a:xfrm>
            <a:off x="1234440" y="1673352"/>
            <a:ext cx="9966960" cy="768096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CFE3E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463040" y="1673352"/>
            <a:ext cx="29260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B2E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Launch the site</a:t>
            </a:r>
            <a:endParaRPr lang="en-US" sz="1350" dirty="0"/>
          </a:p>
        </p:txBody>
      </p:sp>
      <p:sp>
        <p:nvSpPr>
          <p:cNvPr id="9" name="Text 7"/>
          <p:cNvSpPr txBox="1"/>
          <p:nvPr/>
        </p:nvSpPr>
        <p:spPr>
          <a:xfrm>
            <a:off x="4389120" y="1673352"/>
            <a:ext cx="667512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https://www.scrumstudy.com/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2606040"/>
            <a:ext cx="548640" cy="548640"/>
          </a:xfrm>
          <a:prstGeom prst="ellipse">
            <a:avLst/>
          </a:prstGeom>
          <a:solidFill>
            <a:srgbClr val="0E3B6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57200" y="26060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31520" y="3154680"/>
            <a:ext cx="0" cy="365760"/>
          </a:xfrm>
          <a:prstGeom prst="line">
            <a:avLst/>
          </a:prstGeom>
          <a:noFill/>
          <a:ln w="19050">
            <a:solidFill>
              <a:srgbClr val="8FA9BE"/>
            </a:solidFill>
            <a:prstDash val="dash"/>
          </a:ln>
        </p:spPr>
      </p:sp>
      <p:sp>
        <p:nvSpPr>
          <p:cNvPr id="13" name="Shape 11"/>
          <p:cNvSpPr/>
          <p:nvPr/>
        </p:nvSpPr>
        <p:spPr>
          <a:xfrm>
            <a:off x="1234440" y="2587752"/>
            <a:ext cx="9966960" cy="768096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CFE3E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463040" y="2587752"/>
            <a:ext cx="29260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B2E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Registration</a:t>
            </a:r>
            <a:endParaRPr lang="en-US" sz="1350" dirty="0"/>
          </a:p>
        </p:txBody>
      </p:sp>
      <p:sp>
        <p:nvSpPr>
          <p:cNvPr id="15" name="Text 13"/>
          <p:cNvSpPr txBox="1"/>
          <p:nvPr/>
        </p:nvSpPr>
        <p:spPr>
          <a:xfrm>
            <a:off x="4389120" y="2587752"/>
            <a:ext cx="667512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your account on the platform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3520440"/>
            <a:ext cx="548640" cy="548640"/>
          </a:xfrm>
          <a:prstGeom prst="ellipse">
            <a:avLst/>
          </a:prstGeom>
          <a:solidFill>
            <a:srgbClr val="0E3B63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457200" y="35204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731520" y="4069080"/>
            <a:ext cx="0" cy="365760"/>
          </a:xfrm>
          <a:prstGeom prst="line">
            <a:avLst/>
          </a:prstGeom>
          <a:noFill/>
          <a:ln w="19050">
            <a:solidFill>
              <a:srgbClr val="8FA9BE"/>
            </a:solidFill>
            <a:prstDash val="dash"/>
          </a:ln>
        </p:spPr>
      </p:sp>
      <p:sp>
        <p:nvSpPr>
          <p:cNvPr id="19" name="Shape 17"/>
          <p:cNvSpPr/>
          <p:nvPr/>
        </p:nvSpPr>
        <p:spPr>
          <a:xfrm>
            <a:off x="1234440" y="3502152"/>
            <a:ext cx="9966960" cy="768096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CFE3EF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1463040" y="3502152"/>
            <a:ext cx="29260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B2E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Login</a:t>
            </a:r>
            <a:endParaRPr lang="en-US" sz="1350" dirty="0"/>
          </a:p>
        </p:txBody>
      </p:sp>
      <p:sp>
        <p:nvSpPr>
          <p:cNvPr id="21" name="Text 19"/>
          <p:cNvSpPr txBox="1"/>
          <p:nvPr/>
        </p:nvSpPr>
        <p:spPr>
          <a:xfrm>
            <a:off x="4389120" y="3502152"/>
            <a:ext cx="667512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 in with your registered credentials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57200" y="4434840"/>
            <a:ext cx="548640" cy="548640"/>
          </a:xfrm>
          <a:prstGeom prst="ellipse">
            <a:avLst/>
          </a:prstGeom>
          <a:solidFill>
            <a:srgbClr val="0E3B63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457200" y="44348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731520" y="4983480"/>
            <a:ext cx="0" cy="365760"/>
          </a:xfrm>
          <a:prstGeom prst="line">
            <a:avLst/>
          </a:prstGeom>
          <a:noFill/>
          <a:ln w="19050">
            <a:solidFill>
              <a:srgbClr val="8FA9BE"/>
            </a:solidFill>
            <a:prstDash val="dash"/>
          </a:ln>
        </p:spPr>
      </p:sp>
      <p:sp>
        <p:nvSpPr>
          <p:cNvPr id="25" name="Shape 23"/>
          <p:cNvSpPr/>
          <p:nvPr/>
        </p:nvSpPr>
        <p:spPr>
          <a:xfrm>
            <a:off x="1234440" y="4416552"/>
            <a:ext cx="9966960" cy="768096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CFE3EF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1463040" y="4416552"/>
            <a:ext cx="29260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B2E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Select language</a:t>
            </a:r>
            <a:endParaRPr lang="en-US" sz="1350" dirty="0"/>
          </a:p>
        </p:txBody>
      </p:sp>
      <p:sp>
        <p:nvSpPr>
          <p:cNvPr id="27" name="Text 25"/>
          <p:cNvSpPr txBox="1"/>
          <p:nvPr/>
        </p:nvSpPr>
        <p:spPr>
          <a:xfrm>
            <a:off x="4389120" y="4416552"/>
            <a:ext cx="667512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your preferred exam language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57200" y="5349240"/>
            <a:ext cx="548640" cy="548640"/>
          </a:xfrm>
          <a:prstGeom prst="ellipse">
            <a:avLst/>
          </a:prstGeom>
          <a:solidFill>
            <a:srgbClr val="F2A007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457200" y="53492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2E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1234440" y="5330952"/>
            <a:ext cx="9966960" cy="768096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CFE3EF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1463040" y="5330952"/>
            <a:ext cx="29260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B2E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ScrumStudy Fundamentals exam</a:t>
            </a:r>
            <a:endParaRPr lang="en-US" sz="1350" dirty="0"/>
          </a:p>
        </p:txBody>
      </p:sp>
      <p:sp>
        <p:nvSpPr>
          <p:cNvPr id="32" name="Text 30"/>
          <p:cNvSpPr txBox="1"/>
          <p:nvPr/>
        </p:nvSpPr>
        <p:spPr>
          <a:xfrm>
            <a:off x="4389120" y="5330952"/>
            <a:ext cx="667512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Attempt the fundamentals certification exam</a:t>
            </a:r>
            <a:endParaRPr lang="en-US" sz="1200" dirty="0"/>
          </a:p>
        </p:txBody>
      </p:sp>
      <p:sp>
        <p:nvSpPr>
          <p:cNvPr id="33" name="Text 31"/>
          <p:cNvSpPr txBox="1"/>
          <p:nvPr/>
        </p:nvSpPr>
        <p:spPr>
          <a:xfrm>
            <a:off x="457200" y="6547104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FA9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Testing  ·  Unit 2</a:t>
            </a:r>
            <a:endParaRPr lang="en-US" sz="900" dirty="0"/>
          </a:p>
        </p:txBody>
      </p:sp>
      <p:sp>
        <p:nvSpPr>
          <p:cNvPr id="34" name="Text 32"/>
          <p:cNvSpPr txBox="1"/>
          <p:nvPr/>
        </p:nvSpPr>
        <p:spPr>
          <a:xfrm>
            <a:off x="11277295" y="6547104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FA9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0B2E4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828800"/>
            <a:ext cx="5029200" cy="5029200"/>
          </a:xfrm>
          <a:prstGeom prst="ellipse">
            <a:avLst/>
          </a:prstGeom>
          <a:solidFill>
            <a:srgbClr val="0E3B63"/>
          </a:solidFill>
          <a:ln/>
        </p:spPr>
      </p:sp>
      <p:sp>
        <p:nvSpPr>
          <p:cNvPr id="3" name="Shape 1"/>
          <p:cNvSpPr/>
          <p:nvPr/>
        </p:nvSpPr>
        <p:spPr>
          <a:xfrm>
            <a:off x="8778240" y="3291840"/>
            <a:ext cx="5943600" cy="5943600"/>
          </a:xfrm>
          <a:prstGeom prst="ellipse">
            <a:avLst/>
          </a:prstGeom>
          <a:solidFill>
            <a:srgbClr val="0E3B63"/>
          </a:solidFill>
          <a:ln/>
        </p:spPr>
      </p:sp>
      <p:sp>
        <p:nvSpPr>
          <p:cNvPr id="4" name="Shape 2"/>
          <p:cNvSpPr/>
          <p:nvPr/>
        </p:nvSpPr>
        <p:spPr>
          <a:xfrm>
            <a:off x="9692640" y="4206240"/>
            <a:ext cx="4572000" cy="45720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2651760"/>
            <a:ext cx="9144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Good Luck With Your Tests!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658368" y="3429000"/>
            <a:ext cx="1005840" cy="54864"/>
          </a:xfrm>
          <a:prstGeom prst="rect">
            <a:avLst/>
          </a:prstGeom>
          <a:solidFill>
            <a:srgbClr val="F2A007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40080" y="3611880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CFE3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Remember: Roles = who is involved · Ceremonies = the meetings · Artifacts = the documents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FA9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Agile Scrum Notes  ·  Unit 2  ·  Software Testing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3179</Words>
  <Application>Microsoft Office PowerPoint</Application>
  <PresentationFormat>Widescreen</PresentationFormat>
  <Paragraphs>551</Paragraphs>
  <Slides>27</Slides>
  <Notes>27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1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 APARNA</cp:lastModifiedBy>
  <cp:revision>2</cp:revision>
  <dcterms:created xsi:type="dcterms:W3CDTF">2026-09-04T08:08:09Z</dcterms:created>
  <dcterms:modified xsi:type="dcterms:W3CDTF">2026-09-04T09:07:36Z</dcterms:modified>
</cp:coreProperties>
</file>